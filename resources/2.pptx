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56" r:id="rId2"/>
    <p:sldId id="313" r:id="rId3"/>
    <p:sldId id="276" r:id="rId4"/>
    <p:sldId id="293" r:id="rId5"/>
    <p:sldId id="277" r:id="rId6"/>
    <p:sldId id="312" r:id="rId7"/>
    <p:sldId id="300" r:id="rId8"/>
    <p:sldId id="268" r:id="rId9"/>
    <p:sldId id="301" r:id="rId10"/>
    <p:sldId id="270" r:id="rId11"/>
    <p:sldId id="302" r:id="rId12"/>
    <p:sldId id="267" r:id="rId13"/>
    <p:sldId id="298" r:id="rId14"/>
    <p:sldId id="311" r:id="rId15"/>
    <p:sldId id="314" r:id="rId16"/>
    <p:sldId id="303" r:id="rId17"/>
    <p:sldId id="304" r:id="rId18"/>
    <p:sldId id="280" r:id="rId19"/>
    <p:sldId id="265" r:id="rId20"/>
    <p:sldId id="278" r:id="rId21"/>
    <p:sldId id="305" r:id="rId22"/>
    <p:sldId id="279" r:id="rId23"/>
    <p:sldId id="308" r:id="rId24"/>
    <p:sldId id="281" r:id="rId25"/>
    <p:sldId id="306" r:id="rId26"/>
    <p:sldId id="272" r:id="rId27"/>
    <p:sldId id="307" r:id="rId28"/>
    <p:sldId id="262" r:id="rId29"/>
    <p:sldId id="264" r:id="rId30"/>
    <p:sldId id="283" r:id="rId31"/>
    <p:sldId id="274" r:id="rId32"/>
    <p:sldId id="309" r:id="rId33"/>
    <p:sldId id="294" r:id="rId34"/>
    <p:sldId id="295" r:id="rId35"/>
    <p:sldId id="287" r:id="rId36"/>
    <p:sldId id="288" r:id="rId37"/>
    <p:sldId id="289" r:id="rId38"/>
    <p:sldId id="292" r:id="rId39"/>
    <p:sldId id="29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B67B"/>
    <a:srgbClr val="FFD53C"/>
    <a:srgbClr val="18967D"/>
    <a:srgbClr val="AAD8CF"/>
    <a:srgbClr val="8FE9F5"/>
    <a:srgbClr val="56F156"/>
    <a:srgbClr val="FFFFFF"/>
    <a:srgbClr val="7D82B8"/>
    <a:srgbClr val="E0C5DE"/>
    <a:srgbClr val="6B05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59"/>
    <p:restoredTop sz="69964" autoAdjust="0"/>
  </p:normalViewPr>
  <p:slideViewPr>
    <p:cSldViewPr snapToGrid="0" snapToObjects="1">
      <p:cViewPr varScale="1">
        <p:scale>
          <a:sx n="79" d="100"/>
          <a:sy n="79" d="100"/>
        </p:scale>
        <p:origin x="2160" y="5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8F43A4-FDC7-5048-9C55-B37BF188C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951E4B-6168-4F44-A996-155693893D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75306E-17AE-FE4F-A068-D358FBAB85E5}" type="datetimeFigureOut">
              <a:rPr lang="en-US" smtClean="0"/>
              <a:t>6/3/2025</a:t>
            </a:fld>
            <a:endParaRPr lang="en-US"/>
          </a:p>
        </p:txBody>
      </p:sp>
      <p:sp>
        <p:nvSpPr>
          <p:cNvPr id="4" name="Footer Placeholder 3">
            <a:extLst>
              <a:ext uri="{FF2B5EF4-FFF2-40B4-BE49-F238E27FC236}">
                <a16:creationId xmlns:a16="http://schemas.microsoft.com/office/drawing/2014/main" id="{B57A9D0F-028A-334F-9C4C-3404476711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43DBB5-5C5E-F34D-A707-4CC7FB0889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92CC26-50D2-4C45-80DF-B9D66A1C40C3}" type="slidenum">
              <a:rPr lang="en-US" smtClean="0"/>
              <a:t>‹#›</a:t>
            </a:fld>
            <a:endParaRPr lang="en-US"/>
          </a:p>
        </p:txBody>
      </p:sp>
    </p:spTree>
    <p:extLst>
      <p:ext uri="{BB962C8B-B14F-4D97-AF65-F5344CB8AC3E}">
        <p14:creationId xmlns:p14="http://schemas.microsoft.com/office/powerpoint/2010/main" val="1883356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78B8-FC04-7344-BEE2-7F64D4B08259}" type="datetimeFigureOut">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6F332B-523F-114C-9A8D-1E7C723DC188}" type="slidenum">
              <a:rPr lang="en-US" smtClean="0"/>
              <a:t>‹#›</a:t>
            </a:fld>
            <a:endParaRPr lang="en-US"/>
          </a:p>
        </p:txBody>
      </p:sp>
    </p:spTree>
    <p:extLst>
      <p:ext uri="{BB962C8B-B14F-4D97-AF65-F5344CB8AC3E}">
        <p14:creationId xmlns:p14="http://schemas.microsoft.com/office/powerpoint/2010/main" val="22827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1</a:t>
            </a:fld>
            <a:endParaRPr lang="en-US"/>
          </a:p>
        </p:txBody>
      </p:sp>
    </p:spTree>
    <p:extLst>
      <p:ext uri="{BB962C8B-B14F-4D97-AF65-F5344CB8AC3E}">
        <p14:creationId xmlns:p14="http://schemas.microsoft.com/office/powerpoint/2010/main" val="1947935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3B07-145C-042A-37ED-9F5A87A12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42916-3B0B-548C-5DD1-72F8CE92D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5008F-9CA9-4673-6208-6F75C82EC32A}"/>
              </a:ext>
            </a:extLst>
          </p:cNvPr>
          <p:cNvSpPr>
            <a:spLocks noGrp="1"/>
          </p:cNvSpPr>
          <p:nvPr>
            <p:ph type="body" idx="1"/>
          </p:nvPr>
        </p:nvSpPr>
        <p:spPr/>
        <p:txBody>
          <a:bodyPr/>
          <a:lstStyle/>
          <a:p>
            <a:r>
              <a:rPr lang="en-US" dirty="0"/>
              <a:t>The Splunk documentation is a great resource for Splunk approved, validated architectures. It can get pretty technical when you get into distributed environments. In this class, I want to show you how three of the validated architectures work, then point you in the right direction to read about more advanced architectures.</a:t>
            </a:r>
          </a:p>
        </p:txBody>
      </p:sp>
      <p:sp>
        <p:nvSpPr>
          <p:cNvPr id="4" name="Slide Number Placeholder 3">
            <a:extLst>
              <a:ext uri="{FF2B5EF4-FFF2-40B4-BE49-F238E27FC236}">
                <a16:creationId xmlns:a16="http://schemas.microsoft.com/office/drawing/2014/main" id="{7D6B4A2C-45BA-01BC-74C5-BE6159D318E3}"/>
              </a:ext>
            </a:extLst>
          </p:cNvPr>
          <p:cNvSpPr>
            <a:spLocks noGrp="1"/>
          </p:cNvSpPr>
          <p:nvPr>
            <p:ph type="sldNum" sz="quarter" idx="5"/>
          </p:nvPr>
        </p:nvSpPr>
        <p:spPr/>
        <p:txBody>
          <a:bodyPr/>
          <a:lstStyle/>
          <a:p>
            <a:fld id="{406F332B-523F-114C-9A8D-1E7C723DC188}" type="slidenum">
              <a:rPr lang="en-US" smtClean="0"/>
              <a:t>2</a:t>
            </a:fld>
            <a:endParaRPr lang="en-US"/>
          </a:p>
        </p:txBody>
      </p:sp>
    </p:spTree>
    <p:extLst>
      <p:ext uri="{BB962C8B-B14F-4D97-AF65-F5344CB8AC3E}">
        <p14:creationId xmlns:p14="http://schemas.microsoft.com/office/powerpoint/2010/main" val="487552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 matter the type of deployment, the Splunk data pipeline is the same: Input, Parsing, Indexing, and Searching (IPIS)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scale your system, you can split this functionality across multiple specialized instances of Splunk Enterprise. That’s right, no matter how large you scale, you are installing one of two types of Splunk instances: a forwarder, or a Splunk enterprise installation.</a:t>
            </a:r>
          </a:p>
          <a:p>
            <a:endParaRPr lang="en-US" sz="1200" b="0" i="0" kern="1200" dirty="0">
              <a:solidFill>
                <a:schemeClr val="tx1"/>
              </a:solidFill>
              <a:effectLst/>
              <a:latin typeface="+mn-lt"/>
              <a:ea typeface="+mn-ea"/>
              <a:cs typeface="+mn-cs"/>
            </a:endParaRPr>
          </a:p>
          <a:p>
            <a:endParaRPr lang="en-US" dirty="0"/>
          </a:p>
          <a:p>
            <a:pPr marL="171450" indent="-171450">
              <a:buFont typeface="Arial" charset="0"/>
              <a:buChar char="•"/>
            </a:pPr>
            <a:r>
              <a:rPr lang="en-US" dirty="0"/>
              <a:t>Input</a:t>
            </a:r>
          </a:p>
          <a:p>
            <a:pPr marL="628650" lvl="1" indent="-171450">
              <a:buFont typeface="Arial" charset="0"/>
              <a:buChar char="•"/>
            </a:pPr>
            <a:r>
              <a:rPr lang="en-US" dirty="0"/>
              <a:t>Consumption of</a:t>
            </a:r>
            <a:r>
              <a:rPr lang="en-US" baseline="0" dirty="0"/>
              <a:t> data from</a:t>
            </a:r>
            <a:r>
              <a:rPr lang="en-US" dirty="0"/>
              <a:t> sources</a:t>
            </a:r>
          </a:p>
          <a:p>
            <a:pPr marL="628650" lvl="1" indent="-171450">
              <a:buFont typeface="Arial" charset="0"/>
              <a:buChar char="•"/>
            </a:pPr>
            <a:r>
              <a:rPr lang="en-US" dirty="0"/>
              <a:t>Splunk does</a:t>
            </a:r>
            <a:r>
              <a:rPr lang="en-US" baseline="0" dirty="0"/>
              <a:t> </a:t>
            </a:r>
            <a:r>
              <a:rPr lang="en-US" b="1" baseline="0" dirty="0"/>
              <a:t>not</a:t>
            </a:r>
            <a:r>
              <a:rPr lang="en-US" baseline="0" dirty="0"/>
              <a:t> look at the data contents here</a:t>
            </a:r>
          </a:p>
          <a:p>
            <a:pPr marL="0" lvl="0" indent="0">
              <a:buFont typeface="Arial" charset="0"/>
              <a:buNone/>
            </a:pPr>
            <a:endParaRPr lang="en-US" dirty="0"/>
          </a:p>
          <a:p>
            <a:pPr marL="171450" indent="-171450">
              <a:buFont typeface="Arial" charset="0"/>
              <a:buChar char="•"/>
            </a:pPr>
            <a:r>
              <a:rPr lang="en-US" dirty="0"/>
              <a:t>Parsing </a:t>
            </a:r>
            <a:r>
              <a:rPr lang="mr-IN" dirty="0"/>
              <a:t>–</a:t>
            </a:r>
            <a:r>
              <a:rPr lang="en-US" dirty="0"/>
              <a:t> happens on the indexer or heavy forwarder</a:t>
            </a:r>
          </a:p>
          <a:p>
            <a:pPr marL="628650" lvl="1" indent="-171450">
              <a:buFont typeface="Arial" charset="0"/>
              <a:buChar char="•"/>
            </a:pPr>
            <a:r>
              <a:rPr lang="en-US" dirty="0"/>
              <a:t>Examines, analyzes, and transforms the data</a:t>
            </a:r>
          </a:p>
          <a:p>
            <a:pPr marL="628650" lvl="1" indent="-171450">
              <a:buFont typeface="Arial" charset="0"/>
              <a:buChar char="•"/>
            </a:pPr>
            <a:r>
              <a:rPr lang="en-US" baseline="0" dirty="0"/>
              <a:t>Identifying timestamps</a:t>
            </a:r>
          </a:p>
          <a:p>
            <a:pPr marL="628650" lvl="1" indent="-171450">
              <a:buFont typeface="Arial" charset="0"/>
              <a:buChar char="•"/>
            </a:pPr>
            <a:r>
              <a:rPr lang="en-US" baseline="0" dirty="0"/>
              <a:t>Annotating data with metadata</a:t>
            </a:r>
          </a:p>
          <a:p>
            <a:pPr marL="171450" indent="-171450">
              <a:buFont typeface="Arial" charset="0"/>
              <a:buChar char="•"/>
            </a:pPr>
            <a:r>
              <a:rPr lang="en-US" baseline="0" dirty="0"/>
              <a:t>Indexing</a:t>
            </a:r>
          </a:p>
          <a:p>
            <a:pPr marL="628650" lvl="1" indent="-171450">
              <a:buFont typeface="Arial" charset="0"/>
              <a:buChar char="•"/>
            </a:pPr>
            <a:r>
              <a:rPr lang="en-US" baseline="0" dirty="0"/>
              <a:t>Takes the parsed data and writes it to indexes on disk, in the form of flat files stored on the indexer</a:t>
            </a:r>
          </a:p>
          <a:p>
            <a:pPr marL="0" lvl="0" indent="0">
              <a:buFont typeface="Arial" charset="0"/>
              <a:buNone/>
            </a:pPr>
            <a:endParaRPr lang="en-US" baseline="0" dirty="0"/>
          </a:p>
          <a:p>
            <a:pPr marL="171450" lvl="0" indent="-171450">
              <a:buFont typeface="Arial" charset="0"/>
              <a:buChar char="•"/>
            </a:pPr>
            <a:r>
              <a:rPr lang="en-US" baseline="0" dirty="0"/>
              <a:t>Searching</a:t>
            </a:r>
          </a:p>
          <a:p>
            <a:pPr marL="628650" lvl="1" indent="-171450">
              <a:buFont typeface="Arial" charset="0"/>
              <a:buChar char="•"/>
            </a:pPr>
            <a:r>
              <a:rPr lang="en-US" baseline="0" dirty="0"/>
              <a:t>Manages all the aspects of how the user interacts with the data.</a:t>
            </a:r>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3</a:t>
            </a:fld>
            <a:endParaRPr lang="en-US"/>
          </a:p>
        </p:txBody>
      </p:sp>
    </p:spTree>
    <p:extLst>
      <p:ext uri="{BB962C8B-B14F-4D97-AF65-F5344CB8AC3E}">
        <p14:creationId xmlns:p14="http://schemas.microsoft.com/office/powerpoint/2010/main" val="155799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Splunk documentation is a great resource for Splunk approved, validated architectures. It can get pretty technical when you get into distributed environments. In this class, I want to show you how three of the validated architectures work, then point you in the right direction to read about more advanced architectures.</a:t>
            </a:r>
          </a:p>
        </p:txBody>
      </p:sp>
      <p:sp>
        <p:nvSpPr>
          <p:cNvPr id="4" name="Slide Number Placeholder 3"/>
          <p:cNvSpPr>
            <a:spLocks noGrp="1"/>
          </p:cNvSpPr>
          <p:nvPr>
            <p:ph type="sldNum" sz="quarter" idx="5"/>
          </p:nvPr>
        </p:nvSpPr>
        <p:spPr/>
        <p:txBody>
          <a:bodyPr/>
          <a:lstStyle/>
          <a:p>
            <a:fld id="{406F332B-523F-114C-9A8D-1E7C723DC188}" type="slidenum">
              <a:rPr lang="en-US" smtClean="0"/>
              <a:t>4</a:t>
            </a:fld>
            <a:endParaRPr lang="en-US"/>
          </a:p>
        </p:txBody>
      </p:sp>
    </p:spTree>
    <p:extLst>
      <p:ext uri="{BB962C8B-B14F-4D97-AF65-F5344CB8AC3E}">
        <p14:creationId xmlns:p14="http://schemas.microsoft.com/office/powerpoint/2010/main" val="1041919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Splunk has several products, In this course, we will focus on the core, which the Splunk Platform. The Splunk Platform includes the core products of Splunk Enterprise and Splunk Cloud Platform. The primary difference between these two products are that one is “Splunk as a Service” where Splunk handles the infrastructure. The other, Splunk Enterprise, is the traditional model of building our your own Splunk environment.</a:t>
            </a:r>
          </a:p>
          <a:p>
            <a:endParaRPr lang="en-US" dirty="0"/>
          </a:p>
          <a:p>
            <a:endParaRPr lang="en-US" dirty="0"/>
          </a:p>
          <a:p>
            <a:r>
              <a:rPr lang="en-US" dirty="0"/>
              <a:t>Let’s talk about Splunk Enterprise deployment models first.</a:t>
            </a:r>
          </a:p>
        </p:txBody>
      </p:sp>
      <p:sp>
        <p:nvSpPr>
          <p:cNvPr id="4" name="Slide Number Placeholder 3"/>
          <p:cNvSpPr>
            <a:spLocks noGrp="1"/>
          </p:cNvSpPr>
          <p:nvPr>
            <p:ph type="sldNum" sz="quarter" idx="5"/>
          </p:nvPr>
        </p:nvSpPr>
        <p:spPr/>
        <p:txBody>
          <a:bodyPr/>
          <a:lstStyle/>
          <a:p>
            <a:fld id="{406F332B-523F-114C-9A8D-1E7C723DC188}" type="slidenum">
              <a:rPr lang="en-US" smtClean="0"/>
              <a:t>5</a:t>
            </a:fld>
            <a:endParaRPr lang="en-US"/>
          </a:p>
        </p:txBody>
      </p:sp>
    </p:spTree>
    <p:extLst>
      <p:ext uri="{BB962C8B-B14F-4D97-AF65-F5344CB8AC3E}">
        <p14:creationId xmlns:p14="http://schemas.microsoft.com/office/powerpoint/2010/main" val="4138152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from our last discussion that The Architecture of Splunk Enterprise is built on Splunk Components. Components are simply instances of Splunk Enterprise (except Universal Forwarders) that are configured for a specific job. In this first discussion, I am going to talk about them at a high level, but we will dive more deeply into them throughout the course.</a:t>
            </a:r>
          </a:p>
          <a:p>
            <a:endParaRPr lang="en-US" dirty="0"/>
          </a:p>
          <a:p>
            <a:r>
              <a:rPr lang="en-US" dirty="0"/>
              <a:t>There are two broad categories of Splunk Enterprise components: Processing components handle the data, and Management components support the processing components and allow you and Splunk to manage the distributed system.</a:t>
            </a:r>
          </a:p>
          <a:p>
            <a:endParaRPr lang="en-US" dirty="0"/>
          </a:p>
          <a:p>
            <a:r>
              <a:rPr lang="en-US" dirty="0"/>
              <a:t>There are 3 processing components:</a:t>
            </a:r>
          </a:p>
          <a:p>
            <a:pPr marL="171450" indent="-171450">
              <a:buFont typeface="Arial" panose="020B0604020202020204" pitchFamily="34" charset="0"/>
              <a:buChar char="•"/>
            </a:pPr>
            <a:r>
              <a:rPr lang="en-US" dirty="0"/>
              <a:t>The Search Head handles all things search related, and in a small deployment, it will also host the web server that you log in to </a:t>
            </a:r>
            <a:r>
              <a:rPr lang="en-US" dirty="0" err="1"/>
              <a:t>to</a:t>
            </a:r>
            <a:r>
              <a:rPr lang="en-US" dirty="0"/>
              <a:t> use Splunk.</a:t>
            </a:r>
          </a:p>
          <a:p>
            <a:pPr marL="171450" indent="-171450">
              <a:buFont typeface="Arial" panose="020B0604020202020204" pitchFamily="34" charset="0"/>
              <a:buChar char="•"/>
            </a:pPr>
            <a:r>
              <a:rPr lang="en-US" dirty="0"/>
              <a:t>Forwarders simply move data from a source to an indexer or indexer cluster. There are universal forwards, which are lightweight agents that simply move the data, and heavy forwarders which are full installations of Splunk Enterprise, and they can do some data manipulations before forwarding the data to the indexers.</a:t>
            </a:r>
          </a:p>
          <a:p>
            <a:pPr marL="171450" indent="-171450">
              <a:buFont typeface="Arial" panose="020B0604020202020204" pitchFamily="34" charset="0"/>
              <a:buChar char="•"/>
            </a:pPr>
            <a:r>
              <a:rPr lang="en-US" dirty="0"/>
              <a:t>Indexers and indexer clusters receive the data from forwarders and transform it into Splunk events, then places those events in an index, which is a storage bucket in Splunk.</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There are 5 management components to a Splunk Enterprise deployment.</a:t>
            </a:r>
          </a:p>
          <a:p>
            <a:pPr marL="171450" indent="-171450">
              <a:buFont typeface="Arial" panose="020B0604020202020204" pitchFamily="34" charset="0"/>
              <a:buChar char="•"/>
            </a:pPr>
            <a:r>
              <a:rPr lang="en-US" dirty="0"/>
              <a:t>The indexer cluster manager and indexer cluster node are components of indexer clusters, the manager manages the cluster and the node is one of the indexers in the cluster.</a:t>
            </a:r>
          </a:p>
          <a:p>
            <a:pPr marL="171450" indent="-171450">
              <a:buFont typeface="Arial" panose="020B0604020202020204" pitchFamily="34" charset="0"/>
              <a:buChar char="•"/>
            </a:pPr>
            <a:r>
              <a:rPr lang="en-US" dirty="0"/>
              <a:t>The monitoring console is a set of dashboards and health checks that are included in Splunk Enterprise. It provides insights into your deployment.</a:t>
            </a:r>
          </a:p>
          <a:p>
            <a:pPr marL="171450" indent="-171450">
              <a:buFont typeface="Arial" panose="020B0604020202020204" pitchFamily="34" charset="0"/>
              <a:buChar char="•"/>
            </a:pPr>
            <a:r>
              <a:rPr lang="en-US" dirty="0"/>
              <a:t>I’m going to skip down to the license manager, which is pretty self-explanatory. In a distributed deployment, one of the components will be a license manager, which every other component registers with to consume its license.</a:t>
            </a:r>
          </a:p>
          <a:p>
            <a:pPr marL="171450" indent="-171450">
              <a:buFont typeface="Arial" panose="020B0604020202020204" pitchFamily="34" charset="0"/>
              <a:buChar char="•"/>
            </a:pPr>
            <a:r>
              <a:rPr lang="en-US" dirty="0"/>
              <a:t>Please do not get the deployment server and the deployer mixed up. The deployment server remotely configures and manages all of your distributed Splunk components, which are called deployment clients.</a:t>
            </a:r>
          </a:p>
          <a:p>
            <a:pPr marL="171450" indent="-171450">
              <a:buFont typeface="Arial" panose="020B0604020202020204" pitchFamily="34" charset="0"/>
              <a:buChar char="•"/>
            </a:pPr>
            <a:r>
              <a:rPr lang="en-US" dirty="0"/>
              <a:t>Finally, the deployer manages search head clusters.</a:t>
            </a:r>
          </a:p>
          <a:p>
            <a:pPr marL="171450" indent="-171450">
              <a:buFont typeface="Arial" panose="020B0604020202020204" pitchFamily="34" charset="0"/>
              <a:buChar char="•"/>
            </a:pPr>
            <a:endParaRPr lang="en-US" dirty="0"/>
          </a:p>
          <a:p>
            <a:pPr marL="0"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6</a:t>
            </a:fld>
            <a:endParaRPr lang="en-US"/>
          </a:p>
        </p:txBody>
      </p:sp>
    </p:spTree>
    <p:extLst>
      <p:ext uri="{BB962C8B-B14F-4D97-AF65-F5344CB8AC3E}">
        <p14:creationId xmlns:p14="http://schemas.microsoft.com/office/powerpoint/2010/main" val="2343077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Splunk documentation are validated architectures. Of course, it’s outside of the scope of this course to talk about all of the different architectures of Splunk, but I will go through the basic ones, and you can study others on the Splunk Docs. The first one is called “single server deployment” or S1.</a:t>
            </a:r>
          </a:p>
          <a:p>
            <a:endParaRPr lang="en-US" dirty="0"/>
          </a:p>
          <a:p>
            <a:r>
              <a:rPr lang="en-US" dirty="0"/>
              <a:t>In the previous slide, we saw the Splunk components that would go in each of these areas (except management). Do you know what they are?</a:t>
            </a:r>
          </a:p>
          <a:p>
            <a:endParaRPr lang="en-US" dirty="0"/>
          </a:p>
          <a:p>
            <a:r>
              <a:rPr lang="en-US" dirty="0"/>
              <a:t>Having the management tier allows you to manage more than one of these S1 deployments.</a:t>
            </a:r>
          </a:p>
          <a:p>
            <a:endParaRPr lang="en-US" dirty="0"/>
          </a:p>
          <a:p>
            <a:r>
              <a:rPr lang="en-US" dirty="0"/>
              <a:t>Which components do you think might go into each of these categories? Pause the video and think about it before moving on to the next slide…</a:t>
            </a:r>
          </a:p>
          <a:p>
            <a:endParaRPr lang="en-US" dirty="0"/>
          </a:p>
          <a:p>
            <a:r>
              <a:rPr lang="en-US" dirty="0"/>
              <a:t>https://docs.splunk.com/Documentation/SVA/current/Architectures/S1</a:t>
            </a:r>
          </a:p>
        </p:txBody>
      </p:sp>
      <p:sp>
        <p:nvSpPr>
          <p:cNvPr id="4" name="Slide Number Placeholder 3"/>
          <p:cNvSpPr>
            <a:spLocks noGrp="1"/>
          </p:cNvSpPr>
          <p:nvPr>
            <p:ph type="sldNum" sz="quarter" idx="5"/>
          </p:nvPr>
        </p:nvSpPr>
        <p:spPr/>
        <p:txBody>
          <a:bodyPr/>
          <a:lstStyle/>
          <a:p>
            <a:fld id="{406F332B-523F-114C-9A8D-1E7C723DC188}" type="slidenum">
              <a:rPr lang="en-US" smtClean="0"/>
              <a:t>7</a:t>
            </a:fld>
            <a:endParaRPr lang="en-US"/>
          </a:p>
        </p:txBody>
      </p:sp>
    </p:spTree>
    <p:extLst>
      <p:ext uri="{BB962C8B-B14F-4D97-AF65-F5344CB8AC3E}">
        <p14:creationId xmlns:p14="http://schemas.microsoft.com/office/powerpoint/2010/main" val="1008592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at a few representative deployment types</a:t>
            </a:r>
          </a:p>
          <a:p>
            <a:endParaRPr lang="en-US" dirty="0"/>
          </a:p>
          <a:p>
            <a:r>
              <a:rPr lang="en-US" dirty="0"/>
              <a:t>The first one is a small or departmental deployment. In this scenario, you install Splunk Enterprise on a Windows or Linux machine. </a:t>
            </a:r>
          </a:p>
          <a:p>
            <a:endParaRPr lang="en-US" dirty="0"/>
          </a:p>
          <a:p>
            <a:r>
              <a:rPr lang="en-US" dirty="0"/>
              <a:t>It serves as the combined search head and indexer.</a:t>
            </a:r>
          </a:p>
          <a:p>
            <a:endParaRPr lang="en-US" dirty="0"/>
          </a:p>
          <a:p>
            <a:r>
              <a:rPr lang="en-US" dirty="0"/>
              <a:t>Then we set up various types of collection. Usually these are forwarders, network inputs, or file inputs.</a:t>
            </a:r>
          </a:p>
          <a:p>
            <a:endParaRPr lang="en-US" dirty="0"/>
          </a:p>
          <a:p>
            <a:r>
              <a:rPr lang="en-US" dirty="0"/>
              <a:t>We often don’t need a management tier in this type of small deployment, but it’s always nice to have a Deployment Server handy.</a:t>
            </a:r>
          </a:p>
          <a:p>
            <a:endParaRPr lang="en-US" dirty="0"/>
          </a:p>
          <a:p>
            <a:r>
              <a:rPr lang="en-US" dirty="0"/>
              <a:t>https://docs.splunk.com/Documentation/SVA/current/Architectures/S1</a:t>
            </a:r>
          </a:p>
        </p:txBody>
      </p:sp>
      <p:sp>
        <p:nvSpPr>
          <p:cNvPr id="4" name="Slide Number Placeholder 3"/>
          <p:cNvSpPr>
            <a:spLocks noGrp="1"/>
          </p:cNvSpPr>
          <p:nvPr>
            <p:ph type="sldNum" sz="quarter" idx="10"/>
          </p:nvPr>
        </p:nvSpPr>
        <p:spPr/>
        <p:txBody>
          <a:bodyPr/>
          <a:lstStyle/>
          <a:p>
            <a:fld id="{406F332B-523F-114C-9A8D-1E7C723DC188}" type="slidenum">
              <a:rPr lang="en-US" smtClean="0"/>
              <a:t>8</a:t>
            </a:fld>
            <a:endParaRPr lang="en-US"/>
          </a:p>
        </p:txBody>
      </p:sp>
    </p:spTree>
    <p:extLst>
      <p:ext uri="{BB962C8B-B14F-4D97-AF65-F5344CB8AC3E}">
        <p14:creationId xmlns:p14="http://schemas.microsoft.com/office/powerpoint/2010/main" val="2629422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C1, or Distributed Clustered Environment for a Single Site, we separate the search and indexing tier, so that we can deploy indexer clusters to get more Splunk advantages like high availability. We’re building modular composable, and scalable architecture as we get into larger Splunk deployments. </a:t>
            </a:r>
          </a:p>
        </p:txBody>
      </p:sp>
      <p:sp>
        <p:nvSpPr>
          <p:cNvPr id="4" name="Slide Number Placeholder 3"/>
          <p:cNvSpPr>
            <a:spLocks noGrp="1"/>
          </p:cNvSpPr>
          <p:nvPr>
            <p:ph type="sldNum" sz="quarter" idx="5"/>
          </p:nvPr>
        </p:nvSpPr>
        <p:spPr/>
        <p:txBody>
          <a:bodyPr/>
          <a:lstStyle/>
          <a:p>
            <a:fld id="{406F332B-523F-114C-9A8D-1E7C723DC188}" type="slidenum">
              <a:rPr lang="en-US" smtClean="0"/>
              <a:t>9</a:t>
            </a:fld>
            <a:endParaRPr lang="en-US"/>
          </a:p>
        </p:txBody>
      </p:sp>
    </p:spTree>
    <p:extLst>
      <p:ext uri="{BB962C8B-B14F-4D97-AF65-F5344CB8AC3E}">
        <p14:creationId xmlns:p14="http://schemas.microsoft.com/office/powerpoint/2010/main" val="2257180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scenario Splunk calls a C1 or C11 Distributed Clustered Deployment for a Single Site</a:t>
            </a:r>
          </a:p>
          <a:p>
            <a:endParaRPr lang="en-US" dirty="0"/>
          </a:p>
          <a:p>
            <a:r>
              <a:rPr lang="en-US" dirty="0"/>
              <a:t>In this deployment we decouple the search head from the indexer</a:t>
            </a:r>
          </a:p>
          <a:p>
            <a:endParaRPr lang="en-US" dirty="0"/>
          </a:p>
          <a:p>
            <a:r>
              <a:rPr lang="en-US" dirty="0"/>
              <a:t>Two to three load balanced indexers forming an indexer cluster. The superpower of an indexer cluster is that the data is replaced among all peers in the cluster, so you never lose any data! It’s also, of course, good for disaster recovery and search speed. This is importantly where we absolutely need the management tier. To have a working indexer cluster you need a cluster manager that manages all the data and tells the search head(s) where to find the data.</a:t>
            </a:r>
          </a:p>
          <a:p>
            <a:endParaRPr lang="en-US" dirty="0"/>
          </a:p>
          <a:p>
            <a:r>
              <a:rPr lang="en-US" dirty="0"/>
              <a:t>We need a deployment server to manage our deployments and updates for all of the Splunk components we now have in our environment.</a:t>
            </a:r>
          </a:p>
          <a:p>
            <a:endParaRPr lang="en-US" dirty="0"/>
          </a:p>
          <a:p>
            <a:r>
              <a:rPr lang="en-US" dirty="0"/>
              <a:t>We need a license manager so that all of the licensed components can verify their licenses and receive new/updated ones.</a:t>
            </a:r>
          </a:p>
          <a:p>
            <a:endParaRPr lang="en-US" dirty="0"/>
          </a:p>
          <a:p>
            <a:r>
              <a:rPr lang="en-US" dirty="0"/>
              <a:t>And in this scenario it’s extremely helpful to have the monitoring console that can give us an overview of the health of our environment.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10</a:t>
            </a:fld>
            <a:endParaRPr lang="en-US"/>
          </a:p>
        </p:txBody>
      </p:sp>
    </p:spTree>
    <p:extLst>
      <p:ext uri="{BB962C8B-B14F-4D97-AF65-F5344CB8AC3E}">
        <p14:creationId xmlns:p14="http://schemas.microsoft.com/office/powerpoint/2010/main" val="768303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C3 / C13 architecture is called Distributed Clustered Environment with Search Head Clustering for a Single Site. It’s the same basic architecture as the C1 / C11, but this time, we are also creating Search Head clusters in addition to Indexer clusters!</a:t>
            </a:r>
          </a:p>
        </p:txBody>
      </p:sp>
      <p:sp>
        <p:nvSpPr>
          <p:cNvPr id="4" name="Slide Number Placeholder 3"/>
          <p:cNvSpPr>
            <a:spLocks noGrp="1"/>
          </p:cNvSpPr>
          <p:nvPr>
            <p:ph type="sldNum" sz="quarter" idx="5"/>
          </p:nvPr>
        </p:nvSpPr>
        <p:spPr/>
        <p:txBody>
          <a:bodyPr/>
          <a:lstStyle/>
          <a:p>
            <a:fld id="{406F332B-523F-114C-9A8D-1E7C723DC188}" type="slidenum">
              <a:rPr lang="en-US" smtClean="0"/>
              <a:t>11</a:t>
            </a:fld>
            <a:endParaRPr lang="en-US"/>
          </a:p>
        </p:txBody>
      </p:sp>
    </p:spTree>
    <p:extLst>
      <p:ext uri="{BB962C8B-B14F-4D97-AF65-F5344CB8AC3E}">
        <p14:creationId xmlns:p14="http://schemas.microsoft.com/office/powerpoint/2010/main" val="3146841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In this configuration we build a search head cluster, governed by a deployer (not to be confused with a deployment server!). The deployer governs the members of the search head cluster. It distributes apps, files, configuration updates to all of the members through what is called a </a:t>
            </a:r>
            <a:r>
              <a:rPr lang="en-US" b="1" baseline="0" dirty="0"/>
              <a:t>configuration bundle</a:t>
            </a:r>
            <a:r>
              <a:rPr lang="en-US" baseline="0" dirty="0"/>
              <a:t>. A search head cluster is a group of search heads that serves as a central resource for searching. You can run the same searches, view the same dashboards, and access the same search results from any search head in the cluster. One of the members is assigned to be the search head cluster captain, and schedules jobs and replication activities among the cluster.</a:t>
            </a:r>
          </a:p>
          <a:p>
            <a:endParaRPr lang="en-US" baseline="0" dirty="0"/>
          </a:p>
          <a:p>
            <a:endParaRPr lang="en-US" baseline="0" dirty="0"/>
          </a:p>
          <a:p>
            <a:endParaRPr lang="en-US" baseline="0" dirty="0"/>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12</a:t>
            </a:fld>
            <a:endParaRPr lang="en-US"/>
          </a:p>
        </p:txBody>
      </p:sp>
    </p:spTree>
    <p:extLst>
      <p:ext uri="{BB962C8B-B14F-4D97-AF65-F5344CB8AC3E}">
        <p14:creationId xmlns:p14="http://schemas.microsoft.com/office/powerpoint/2010/main" val="2478850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Cloud Platform is delivered and maintained by Splunk. It is delivered as a cloud based service where Splunk manages the infrastructure, and you get most of the same benefits of building our your own Splunk Enterprise deployment with a few key differences that I will discuss in a moment. Splunk Cloud Platform is available on both AWS and Microsoft Azure (GCP coming soon)</a:t>
            </a:r>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13</a:t>
            </a:fld>
            <a:endParaRPr lang="en-US"/>
          </a:p>
        </p:txBody>
      </p:sp>
    </p:spTree>
    <p:extLst>
      <p:ext uri="{BB962C8B-B14F-4D97-AF65-F5344CB8AC3E}">
        <p14:creationId xmlns:p14="http://schemas.microsoft.com/office/powerpoint/2010/main" val="914222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Cloud Platform can accept and process almost all of the same types of data as Splunk Enterprise, plus it has some unique input options.</a:t>
            </a:r>
          </a:p>
          <a:p>
            <a:r>
              <a:rPr lang="en-US" dirty="0"/>
              <a:t>You’ll get most data into Splunk Cloud by using Forwarders. </a:t>
            </a:r>
          </a:p>
        </p:txBody>
      </p:sp>
      <p:sp>
        <p:nvSpPr>
          <p:cNvPr id="4" name="Slide Number Placeholder 3"/>
          <p:cNvSpPr>
            <a:spLocks noGrp="1"/>
          </p:cNvSpPr>
          <p:nvPr>
            <p:ph type="sldNum" sz="quarter" idx="5"/>
          </p:nvPr>
        </p:nvSpPr>
        <p:spPr/>
        <p:txBody>
          <a:bodyPr/>
          <a:lstStyle/>
          <a:p>
            <a:fld id="{406F332B-523F-114C-9A8D-1E7C723DC188}" type="slidenum">
              <a:rPr lang="en-US" smtClean="0"/>
              <a:t>14</a:t>
            </a:fld>
            <a:endParaRPr lang="en-US"/>
          </a:p>
        </p:txBody>
      </p:sp>
    </p:spTree>
    <p:extLst>
      <p:ext uri="{BB962C8B-B14F-4D97-AF65-F5344CB8AC3E}">
        <p14:creationId xmlns:p14="http://schemas.microsoft.com/office/powerpoint/2010/main" val="440322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0CE65-EB0B-B8EC-E25C-6791738F4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6EEC5-07E6-E2F4-2683-F3BEC550E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A0DAD1-8AFF-1763-EDC3-FEB8B3386FC1}"/>
              </a:ext>
            </a:extLst>
          </p:cNvPr>
          <p:cNvSpPr>
            <a:spLocks noGrp="1"/>
          </p:cNvSpPr>
          <p:nvPr>
            <p:ph type="body" idx="1"/>
          </p:nvPr>
        </p:nvSpPr>
        <p:spPr/>
        <p:txBody>
          <a:bodyPr/>
          <a:lstStyle/>
          <a:p>
            <a:r>
              <a:rPr lang="en-US" dirty="0"/>
              <a:t>Other data can be ingested using AWS data firehose, which streams your AWS data directly into Splunk Cloud</a:t>
            </a:r>
          </a:p>
          <a:p>
            <a:r>
              <a:rPr lang="en-US" dirty="0"/>
              <a:t>The Splunk Edge Processor and Ingest processor solutions can be used for advanced data processing and routing.</a:t>
            </a:r>
          </a:p>
        </p:txBody>
      </p:sp>
      <p:sp>
        <p:nvSpPr>
          <p:cNvPr id="4" name="Slide Number Placeholder 3">
            <a:extLst>
              <a:ext uri="{FF2B5EF4-FFF2-40B4-BE49-F238E27FC236}">
                <a16:creationId xmlns:a16="http://schemas.microsoft.com/office/drawing/2014/main" id="{66E9F492-1093-F58B-2346-935A1891CD1D}"/>
              </a:ext>
            </a:extLst>
          </p:cNvPr>
          <p:cNvSpPr>
            <a:spLocks noGrp="1"/>
          </p:cNvSpPr>
          <p:nvPr>
            <p:ph type="sldNum" sz="quarter" idx="5"/>
          </p:nvPr>
        </p:nvSpPr>
        <p:spPr/>
        <p:txBody>
          <a:bodyPr/>
          <a:lstStyle/>
          <a:p>
            <a:fld id="{406F332B-523F-114C-9A8D-1E7C723DC188}" type="slidenum">
              <a:rPr lang="en-US" smtClean="0"/>
              <a:t>15</a:t>
            </a:fld>
            <a:endParaRPr lang="en-US"/>
          </a:p>
        </p:txBody>
      </p:sp>
    </p:spTree>
    <p:extLst>
      <p:ext uri="{BB962C8B-B14F-4D97-AF65-F5344CB8AC3E}">
        <p14:creationId xmlns:p14="http://schemas.microsoft.com/office/powerpoint/2010/main" val="584890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most cloud offerings, Splunk is subscription based, and the cost can either be based on workload (compute and storage usage), or data ingestion based (based on how many gigabytes of data Splunk consumes per day)</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16</a:t>
            </a:fld>
            <a:endParaRPr lang="en-US"/>
          </a:p>
        </p:txBody>
      </p:sp>
    </p:spTree>
    <p:extLst>
      <p:ext uri="{BB962C8B-B14F-4D97-AF65-F5344CB8AC3E}">
        <p14:creationId xmlns:p14="http://schemas.microsoft.com/office/powerpoint/2010/main" val="56520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few other noteworthy differences, and you should take a look at the Splunk Cloud docs to read about them all</a:t>
            </a:r>
          </a:p>
          <a:p>
            <a:endParaRPr lang="en-US" dirty="0"/>
          </a:p>
          <a:p>
            <a:r>
              <a:rPr lang="en-US" dirty="0"/>
              <a:t>No access to the CLI or underlying infrastructure. That means you won’t be able to edit .conf files or do any CLI functions without submitting a support ticket to Splunk.</a:t>
            </a:r>
          </a:p>
          <a:p>
            <a:endParaRPr lang="en-US" dirty="0"/>
          </a:p>
          <a:p>
            <a:r>
              <a:rPr lang="en-US" dirty="0"/>
              <a:t>No direct data ingestion (like TCP or syslog). This data can be ingested, you just have to use a forwarder.</a:t>
            </a:r>
          </a:p>
        </p:txBody>
      </p:sp>
      <p:sp>
        <p:nvSpPr>
          <p:cNvPr id="4" name="Slide Number Placeholder 3"/>
          <p:cNvSpPr>
            <a:spLocks noGrp="1"/>
          </p:cNvSpPr>
          <p:nvPr>
            <p:ph type="sldNum" sz="quarter" idx="5"/>
          </p:nvPr>
        </p:nvSpPr>
        <p:spPr/>
        <p:txBody>
          <a:bodyPr/>
          <a:lstStyle/>
          <a:p>
            <a:fld id="{406F332B-523F-114C-9A8D-1E7C723DC188}" type="slidenum">
              <a:rPr lang="en-US" smtClean="0"/>
              <a:t>17</a:t>
            </a:fld>
            <a:endParaRPr lang="en-US"/>
          </a:p>
        </p:txBody>
      </p:sp>
    </p:spTree>
    <p:extLst>
      <p:ext uri="{BB962C8B-B14F-4D97-AF65-F5344CB8AC3E}">
        <p14:creationId xmlns:p14="http://schemas.microsoft.com/office/powerpoint/2010/main" val="3770513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a:t>
            </a:r>
          </a:p>
          <a:p>
            <a:endParaRPr lang="en-US" dirty="0"/>
          </a:p>
          <a:p>
            <a:r>
              <a:rPr lang="en-US" dirty="0"/>
              <a:t>When Splunk processes raw data, it adds that data to indexes. Indexes map to places on the disk, which Splunk calls “buckets”</a:t>
            </a:r>
          </a:p>
          <a:p>
            <a:r>
              <a:rPr lang="en-US" dirty="0"/>
              <a:t>Splunk comes with several indexes, and you can create your own indexes as well.</a:t>
            </a:r>
          </a:p>
          <a:p>
            <a:r>
              <a:rPr lang="en-US" dirty="0"/>
              <a:t>The default index is called “main”, Splunk also has an “_internal” index that stores internal logs and a few other indexes come with Splunk.</a:t>
            </a:r>
          </a:p>
        </p:txBody>
      </p:sp>
      <p:sp>
        <p:nvSpPr>
          <p:cNvPr id="4" name="Slide Number Placeholder 3"/>
          <p:cNvSpPr>
            <a:spLocks noGrp="1"/>
          </p:cNvSpPr>
          <p:nvPr>
            <p:ph type="sldNum" sz="quarter" idx="5"/>
          </p:nvPr>
        </p:nvSpPr>
        <p:spPr/>
        <p:txBody>
          <a:bodyPr/>
          <a:lstStyle/>
          <a:p>
            <a:fld id="{406F332B-523F-114C-9A8D-1E7C723DC188}" type="slidenum">
              <a:rPr lang="en-US" smtClean="0"/>
              <a:t>19</a:t>
            </a:fld>
            <a:endParaRPr lang="en-US"/>
          </a:p>
        </p:txBody>
      </p:sp>
    </p:spTree>
    <p:extLst>
      <p:ext uri="{BB962C8B-B14F-4D97-AF65-F5344CB8AC3E}">
        <p14:creationId xmlns:p14="http://schemas.microsoft.com/office/powerpoint/2010/main" val="255185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a:t>
            </a:r>
          </a:p>
          <a:p>
            <a:endParaRPr lang="en-US" dirty="0"/>
          </a:p>
          <a:p>
            <a:r>
              <a:rPr lang="en-US" dirty="0"/>
              <a:t>An event is a single row of data</a:t>
            </a:r>
          </a:p>
          <a:p>
            <a:r>
              <a:rPr lang="en-US" dirty="0"/>
              <a:t>Events have fields, which are key=value pairs. Splunk automatically looks for clear “key=value” entries in the data and creates fields. Splunk also looks for common key/value pairings that don’t necessarily have an equal sign.</a:t>
            </a:r>
          </a:p>
          <a:p>
            <a:r>
              <a:rPr lang="en-US" dirty="0"/>
              <a:t>Splunk also adds default fields to all events. They are</a:t>
            </a:r>
          </a:p>
          <a:p>
            <a:pPr marL="171450" indent="-171450">
              <a:buFont typeface="Arial" panose="020B0604020202020204" pitchFamily="34" charset="0"/>
              <a:buChar char="•"/>
            </a:pPr>
            <a:r>
              <a:rPr lang="en-US" dirty="0"/>
              <a:t>Timestamp: Splunk assigns a timestamp value to events in UNIX time, regardless of how time is stored in your data it is converted to UNIX time and stored in the _time field. If the data does not have timestamps, the time at which the data is indexed is used as the timestamp for the events.</a:t>
            </a:r>
          </a:p>
          <a:p>
            <a:pPr marL="171450" indent="-171450">
              <a:buFont typeface="Arial" panose="020B0604020202020204" pitchFamily="34" charset="0"/>
              <a:buChar char="•"/>
            </a:pPr>
            <a:r>
              <a:rPr lang="en-US" dirty="0"/>
              <a:t>Host: the hostname or IP address of the source system</a:t>
            </a:r>
          </a:p>
          <a:p>
            <a:pPr marL="171450" indent="-171450">
              <a:buFont typeface="Arial" panose="020B0604020202020204" pitchFamily="34" charset="0"/>
              <a:buChar char="•"/>
            </a:pPr>
            <a:r>
              <a:rPr lang="en-US" dirty="0"/>
              <a:t>Source: name of the file, stream, or other input from which the event originates</a:t>
            </a:r>
          </a:p>
          <a:p>
            <a:pPr marL="171450" indent="-171450">
              <a:buFont typeface="Arial" panose="020B0604020202020204" pitchFamily="34" charset="0"/>
              <a:buChar char="•"/>
            </a:pPr>
            <a:r>
              <a:rPr lang="en-US" dirty="0" err="1"/>
              <a:t>Sourcetype</a:t>
            </a:r>
            <a:r>
              <a:rPr lang="en-US" dirty="0"/>
              <a:t>: the format of the data. For example, Apache log files have a specific format, shown here in green</a:t>
            </a:r>
          </a:p>
        </p:txBody>
      </p:sp>
      <p:sp>
        <p:nvSpPr>
          <p:cNvPr id="4" name="Slide Number Placeholder 3"/>
          <p:cNvSpPr>
            <a:spLocks noGrp="1"/>
          </p:cNvSpPr>
          <p:nvPr>
            <p:ph type="sldNum" sz="quarter" idx="5"/>
          </p:nvPr>
        </p:nvSpPr>
        <p:spPr/>
        <p:txBody>
          <a:bodyPr/>
          <a:lstStyle/>
          <a:p>
            <a:fld id="{406F332B-523F-114C-9A8D-1E7C723DC188}" type="slidenum">
              <a:rPr lang="en-US" smtClean="0"/>
              <a:t>20</a:t>
            </a:fld>
            <a:endParaRPr lang="en-US"/>
          </a:p>
        </p:txBody>
      </p:sp>
    </p:spTree>
    <p:extLst>
      <p:ext uri="{BB962C8B-B14F-4D97-AF65-F5344CB8AC3E}">
        <p14:creationId xmlns:p14="http://schemas.microsoft.com/office/powerpoint/2010/main" val="2281519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Splunk, an index contains compressed raw data and associated index files.</a:t>
            </a:r>
          </a:p>
          <a:p>
            <a:r>
              <a:rPr lang="en-US" dirty="0"/>
              <a:t>These index files are spread out into different directories depending on their age.</a:t>
            </a:r>
          </a:p>
          <a:p>
            <a:r>
              <a:rPr lang="en-US" dirty="0"/>
              <a:t>Splunk calls these directories buckets</a:t>
            </a:r>
          </a:p>
          <a:p>
            <a:r>
              <a:rPr lang="en-US" dirty="0"/>
              <a:t>There are five buckets, which again are simply directories that the indexer uses to store data based on age</a:t>
            </a:r>
          </a:p>
          <a:p>
            <a:r>
              <a:rPr lang="en-US" dirty="0"/>
              <a:t>Hot: Newly indexed data. Actively written to. An index has one or more hot buckets.</a:t>
            </a:r>
          </a:p>
          <a:p>
            <a:r>
              <a:rPr lang="en-US" dirty="0"/>
              <a:t>Warm: Data rolled from the hot bucket with no active writing. An index has many warm buckets.</a:t>
            </a:r>
          </a:p>
          <a:p>
            <a:r>
              <a:rPr lang="en-US" dirty="0"/>
              <a:t>Cold: Buckets rolled from warm and moved to </a:t>
            </a:r>
            <a:r>
              <a:rPr lang="en-US" b="1" dirty="0"/>
              <a:t>a different location</a:t>
            </a:r>
            <a:r>
              <a:rPr lang="en-US" b="0" dirty="0"/>
              <a:t>. An index has many cold buckets.</a:t>
            </a:r>
          </a:p>
          <a:p>
            <a:r>
              <a:rPr lang="en-US" b="0" dirty="0"/>
              <a:t>Frozen: Rolled from cold. The indexer deletes frozen buckets by default, but you can chose to archive them first.</a:t>
            </a:r>
          </a:p>
          <a:p>
            <a:r>
              <a:rPr lang="en-US" b="0" dirty="0"/>
              <a:t>Thawed: Buckets restored from an archive.</a:t>
            </a:r>
          </a:p>
          <a:p>
            <a:endParaRPr lang="en-US" b="0" dirty="0"/>
          </a:p>
          <a:p>
            <a:r>
              <a:rPr lang="en-US" b="0" dirty="0"/>
              <a:t>You can set the index bucket ages by modifying a configuration file </a:t>
            </a:r>
            <a:r>
              <a:rPr lang="en-US" b="0" dirty="0" err="1"/>
              <a:t>index.conf</a:t>
            </a:r>
            <a:endParaRPr lang="en-US" b="0" dirty="0"/>
          </a:p>
          <a:p>
            <a:endParaRPr lang="en-US" dirty="0"/>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21</a:t>
            </a:fld>
            <a:endParaRPr lang="en-US"/>
          </a:p>
        </p:txBody>
      </p:sp>
    </p:spTree>
    <p:extLst>
      <p:ext uri="{BB962C8B-B14F-4D97-AF65-F5344CB8AC3E}">
        <p14:creationId xmlns:p14="http://schemas.microsoft.com/office/powerpoint/2010/main" val="1810698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buckets are a subdirectory of the index directory. In this case “</a:t>
            </a:r>
            <a:r>
              <a:rPr lang="en-US" dirty="0" err="1"/>
              <a:t>defaultdb</a:t>
            </a:r>
            <a:r>
              <a:rPr lang="en-US" dirty="0"/>
              <a:t>” is the directory for the index called “main”. For example, in the </a:t>
            </a:r>
            <a:r>
              <a:rPr lang="en-US" dirty="0" err="1"/>
              <a:t>hotPath</a:t>
            </a:r>
            <a:r>
              <a:rPr lang="en-US" dirty="0"/>
              <a:t>, after the </a:t>
            </a:r>
            <a:r>
              <a:rPr lang="en-US" dirty="0" err="1"/>
              <a:t>db</a:t>
            </a:r>
            <a:r>
              <a:rPr lang="en-US" dirty="0"/>
              <a:t>/ we can have multiple hot buckets. Buckets have specific naming conventions (subdirectories) that we won’t go into here.</a:t>
            </a:r>
            <a:endParaRPr lang="en-US" b="0" dirty="0"/>
          </a:p>
          <a:p>
            <a:endParaRPr lang="en-US" dirty="0"/>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22</a:t>
            </a:fld>
            <a:endParaRPr lang="en-US"/>
          </a:p>
        </p:txBody>
      </p:sp>
    </p:spTree>
    <p:extLst>
      <p:ext uri="{BB962C8B-B14F-4D97-AF65-F5344CB8AC3E}">
        <p14:creationId xmlns:p14="http://schemas.microsoft.com/office/powerpoint/2010/main" val="1669659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highlight>
                  <a:srgbClr val="FFFFFF"/>
                </a:highlight>
                <a:latin typeface="proxima_nova"/>
              </a:rPr>
              <a:t>As a deployment's data volume increases, demand for storage typically outpaces demand for compute resources. </a:t>
            </a:r>
            <a:r>
              <a:rPr lang="en-US" b="0" i="0" dirty="0" err="1">
                <a:solidFill>
                  <a:srgbClr val="000000"/>
                </a:solidFill>
                <a:effectLst/>
                <a:highlight>
                  <a:srgbClr val="FFFFFF"/>
                </a:highlight>
                <a:latin typeface="proxima_nova"/>
              </a:rPr>
              <a:t>SmartStore</a:t>
            </a:r>
            <a:r>
              <a:rPr lang="en-US" b="0" i="0" dirty="0">
                <a:solidFill>
                  <a:srgbClr val="000000"/>
                </a:solidFill>
                <a:effectLst/>
                <a:highlight>
                  <a:srgbClr val="FFFFFF"/>
                </a:highlight>
                <a:latin typeface="proxima_nova"/>
              </a:rPr>
              <a:t> allows you to manage your indexer storage and compute resources in a cost-effective manner by scaling those resources separately.</a:t>
            </a:r>
          </a:p>
          <a:p>
            <a:endParaRPr lang="en-US" b="0" i="0" dirty="0">
              <a:solidFill>
                <a:srgbClr val="000000"/>
              </a:solidFill>
              <a:effectLst/>
              <a:highlight>
                <a:srgbClr val="FFFFFF"/>
              </a:highlight>
              <a:latin typeface="proxima_nova"/>
            </a:endParaRPr>
          </a:p>
          <a:p>
            <a:r>
              <a:rPr lang="en-US" dirty="0" err="1"/>
              <a:t>SmartStore</a:t>
            </a:r>
            <a:r>
              <a:rPr lang="en-US" dirty="0"/>
              <a:t> is an indexer capability that provides a way to use remote object stores, such as Amazon S3, Google GCS, or Microsoft Azure Blob storage, to store indexed data.</a:t>
            </a:r>
          </a:p>
        </p:txBody>
      </p:sp>
      <p:sp>
        <p:nvSpPr>
          <p:cNvPr id="4" name="Slide Number Placeholder 3"/>
          <p:cNvSpPr>
            <a:spLocks noGrp="1"/>
          </p:cNvSpPr>
          <p:nvPr>
            <p:ph type="sldNum" sz="quarter" idx="5"/>
          </p:nvPr>
        </p:nvSpPr>
        <p:spPr/>
        <p:txBody>
          <a:bodyPr/>
          <a:lstStyle/>
          <a:p>
            <a:fld id="{406F332B-523F-114C-9A8D-1E7C723DC188}" type="slidenum">
              <a:rPr lang="en-US" smtClean="0"/>
              <a:t>23</a:t>
            </a:fld>
            <a:endParaRPr lang="en-US"/>
          </a:p>
        </p:txBody>
      </p:sp>
    </p:spTree>
    <p:extLst>
      <p:ext uri="{BB962C8B-B14F-4D97-AF65-F5344CB8AC3E}">
        <p14:creationId xmlns:p14="http://schemas.microsoft.com/office/powerpoint/2010/main" val="1882703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Each Splunk software instance requires a license. Splunk software licenses specify the features you have access to and how much data can be indexed.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two license types for Splunk Enterprise</a:t>
            </a:r>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25</a:t>
            </a:fld>
            <a:endParaRPr lang="en-US"/>
          </a:p>
        </p:txBody>
      </p:sp>
    </p:spTree>
    <p:extLst>
      <p:ext uri="{BB962C8B-B14F-4D97-AF65-F5344CB8AC3E}">
        <p14:creationId xmlns:p14="http://schemas.microsoft.com/office/powerpoint/2010/main" val="3981799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volume based licensing, you get access to all Splunk features</a:t>
            </a:r>
          </a:p>
          <a:p>
            <a:r>
              <a:rPr lang="en-US" dirty="0"/>
              <a:t>Your license is measured by data indexed per day on a 24 hour clock</a:t>
            </a:r>
          </a:p>
          <a:p>
            <a:endParaRPr lang="en-US" dirty="0"/>
          </a:p>
          <a:p>
            <a:endParaRPr lang="en-US" dirty="0"/>
          </a:p>
          <a:p>
            <a:r>
              <a:rPr lang="en-US" dirty="0"/>
              <a:t>Other things that do not count against your license</a:t>
            </a:r>
          </a:p>
          <a:p>
            <a:r>
              <a:rPr lang="en-US" dirty="0"/>
              <a:t>Splunk internal log data</a:t>
            </a:r>
          </a:p>
          <a:p>
            <a:r>
              <a:rPr lang="en-US" dirty="0"/>
              <a:t>Duplicate data</a:t>
            </a:r>
          </a:p>
          <a:p>
            <a:r>
              <a:rPr lang="en-US" dirty="0"/>
              <a:t>Metadata</a:t>
            </a:r>
          </a:p>
          <a:p>
            <a:endParaRPr lang="en-US" dirty="0"/>
          </a:p>
          <a:p>
            <a:r>
              <a:rPr lang="en-US" dirty="0"/>
              <a:t>License manager can be your search head, or a separate license server</a:t>
            </a:r>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26</a:t>
            </a:fld>
            <a:endParaRPr lang="en-US"/>
          </a:p>
        </p:txBody>
      </p:sp>
    </p:spTree>
    <p:extLst>
      <p:ext uri="{BB962C8B-B14F-4D97-AF65-F5344CB8AC3E}">
        <p14:creationId xmlns:p14="http://schemas.microsoft.com/office/powerpoint/2010/main" val="2945115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newer type of license based on vCPUs (resources)</a:t>
            </a:r>
          </a:p>
          <a:p>
            <a:endParaRPr lang="en-US" dirty="0"/>
          </a:p>
          <a:p>
            <a:r>
              <a:rPr lang="en-US" dirty="0"/>
              <a:t>As organizations moved more data to Splunk and their usage patterns evolved (e.g., lots of data ingested but less frequently searched, or very high search activity on smaller data sets), the ingest-based model sometimes felt misaligned with the value customers derived. It also incentivized data filtering at the source, potentially losing valuable context.</a:t>
            </a:r>
          </a:p>
          <a:p>
            <a:endParaRPr lang="en-US" dirty="0"/>
          </a:p>
          <a:p>
            <a:endParaRPr lang="en-US" dirty="0"/>
          </a:p>
          <a:p>
            <a:r>
              <a:rPr lang="en-US" dirty="0"/>
              <a:t>Other things that do not count against your license</a:t>
            </a:r>
          </a:p>
          <a:p>
            <a:r>
              <a:rPr lang="en-US" dirty="0"/>
              <a:t>Splunk internal log data</a:t>
            </a:r>
          </a:p>
          <a:p>
            <a:r>
              <a:rPr lang="en-US" dirty="0"/>
              <a:t>Duplicate data</a:t>
            </a:r>
          </a:p>
          <a:p>
            <a:r>
              <a:rPr lang="en-US" dirty="0"/>
              <a:t>Metadata</a:t>
            </a:r>
          </a:p>
          <a:p>
            <a:endParaRPr lang="en-US" dirty="0"/>
          </a:p>
          <a:p>
            <a:r>
              <a:rPr lang="en-US" dirty="0"/>
              <a:t>License manager can be your search head, or a separate license server</a:t>
            </a:r>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27</a:t>
            </a:fld>
            <a:endParaRPr lang="en-US"/>
          </a:p>
        </p:txBody>
      </p:sp>
    </p:spTree>
    <p:extLst>
      <p:ext uri="{BB962C8B-B14F-4D97-AF65-F5344CB8AC3E}">
        <p14:creationId xmlns:p14="http://schemas.microsoft.com/office/powerpoint/2010/main" val="5027921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Licenses volume of 100GB per day or higher</a:t>
            </a:r>
          </a:p>
          <a:p>
            <a:endParaRPr lang="en-US" dirty="0"/>
          </a:p>
          <a:p>
            <a:r>
              <a:rPr lang="en-US" dirty="0"/>
              <a:t>If you exceed your licensed daily volume on any one calendar day, you get a warning, but search is not disabled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Licenses volume of less than 100GB per day </a:t>
            </a:r>
          </a:p>
          <a:p>
            <a:endParaRPr lang="en-US" dirty="0"/>
          </a:p>
          <a:p>
            <a:r>
              <a:rPr lang="en-US" dirty="0"/>
              <a:t>If you generate 45 license warnings in a 60 day period, you are in violation, and that license stack will not be searchable. You need to contact Splunk to reset that license.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28</a:t>
            </a:fld>
            <a:endParaRPr lang="en-US"/>
          </a:p>
        </p:txBody>
      </p:sp>
    </p:spTree>
    <p:extLst>
      <p:ext uri="{BB962C8B-B14F-4D97-AF65-F5344CB8AC3E}">
        <p14:creationId xmlns:p14="http://schemas.microsoft.com/office/powerpoint/2010/main" val="11935598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Splunk component that indexes data requires a license.</a:t>
            </a:r>
          </a:p>
          <a:p>
            <a:endParaRPr lang="en-US" dirty="0"/>
          </a:p>
          <a:p>
            <a:r>
              <a:rPr lang="en-US" dirty="0"/>
              <a:t>In a small (C1) deployment, you will probably have a Search Head/Indexer combination component, which would require a license.</a:t>
            </a:r>
          </a:p>
          <a:p>
            <a:r>
              <a:rPr lang="en-US" dirty="0"/>
              <a:t>In a distributed (S1 / S11) or higher environment, you might have multiple indexers using license pools managed by a license manager</a:t>
            </a:r>
          </a:p>
          <a:p>
            <a:endParaRPr lang="en-US" dirty="0"/>
          </a:p>
          <a:p>
            <a:endParaRPr lang="en-US" dirty="0"/>
          </a:p>
          <a:p>
            <a:endParaRPr lang="en-US" dirty="0"/>
          </a:p>
          <a:p>
            <a:r>
              <a:rPr lang="en-US" dirty="0"/>
              <a:t>In a distributed environment, most Splunk Enterprise instances need access to an enterprise license (</a:t>
            </a:r>
            <a:r>
              <a:rPr lang="en-US" u="sng" dirty="0"/>
              <a:t>anything that indexes data</a:t>
            </a:r>
            <a:r>
              <a:rPr lang="en-US" dirty="0"/>
              <a:t>)</a:t>
            </a:r>
          </a:p>
          <a:p>
            <a:endParaRPr lang="en-US" dirty="0"/>
          </a:p>
          <a:p>
            <a:r>
              <a:rPr lang="en-US" dirty="0"/>
              <a:t>Heavy forwarders only need a license if they are doing things other than forwarding, like parsing or indexing</a:t>
            </a:r>
          </a:p>
          <a:p>
            <a:endParaRPr lang="en-US" dirty="0"/>
          </a:p>
          <a:p>
            <a:r>
              <a:rPr lang="en-US" dirty="0"/>
              <a:t>A collection of licenses whose individual licensing volume amounts aggregate to serve as a single unified amount of indexing volume is called a </a:t>
            </a:r>
            <a:r>
              <a:rPr lang="en-US" i="1" dirty="0"/>
              <a:t>stack</a:t>
            </a:r>
          </a:p>
          <a:p>
            <a:endParaRPr lang="en-US"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29</a:t>
            </a:fld>
            <a:endParaRPr lang="en-US"/>
          </a:p>
        </p:txBody>
      </p:sp>
    </p:spTree>
    <p:extLst>
      <p:ext uri="{BB962C8B-B14F-4D97-AF65-F5344CB8AC3E}">
        <p14:creationId xmlns:p14="http://schemas.microsoft.com/office/powerpoint/2010/main" val="2420852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LICENSE POOLS are created from license stacks</a:t>
            </a:r>
          </a:p>
          <a:p>
            <a:r>
              <a:rPr lang="en-US" dirty="0"/>
              <a:t>Specific quantities of licensing volume can be allocated for specific purposes</a:t>
            </a:r>
          </a:p>
          <a:p>
            <a:r>
              <a:rPr lang="en-US" dirty="0"/>
              <a:t>The license manager manages license pools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Oxygen" panose="02000503000000000000" pitchFamily="2" charset="77"/>
              </a:rPr>
              <a:t>Indexers and other Splunk Enterprise components that need a license are assigned to a pool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Oxygen" panose="02000503000000000000" pitchFamily="2" charset="77"/>
              </a:rPr>
              <a:t>Splunk recommends </a:t>
            </a:r>
            <a:r>
              <a:rPr lang="en-US" sz="1200" b="1" dirty="0">
                <a:latin typeface="Oxygen" panose="02000503000000000000" pitchFamily="2" charset="77"/>
              </a:rPr>
              <a:t>not</a:t>
            </a:r>
            <a:r>
              <a:rPr lang="en-US" sz="1200" dirty="0">
                <a:latin typeface="Oxygen" panose="02000503000000000000" pitchFamily="2" charset="77"/>
              </a:rPr>
              <a:t> assigning forwarders to a license pool, since they have unique license types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30</a:t>
            </a:fld>
            <a:endParaRPr lang="en-US"/>
          </a:p>
        </p:txBody>
      </p:sp>
    </p:spTree>
    <p:extLst>
      <p:ext uri="{BB962C8B-B14F-4D97-AF65-F5344CB8AC3E}">
        <p14:creationId xmlns:p14="http://schemas.microsoft.com/office/powerpoint/2010/main" val="1745202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LICENSE GROUPS are sets of license stacks. A stack can only be a member of one group, and only one group can be “active” at any given time.</a:t>
            </a:r>
          </a:p>
          <a:p>
            <a:r>
              <a:rPr lang="en-US" dirty="0"/>
              <a:t>The groups are:</a:t>
            </a:r>
          </a:p>
          <a:p>
            <a:r>
              <a:rPr lang="en-US" dirty="0"/>
              <a:t>Enterprise/Sales Trial: Allows stacking of purchased enterprise licenses</a:t>
            </a:r>
          </a:p>
          <a:p>
            <a:r>
              <a:rPr lang="en-US" dirty="0"/>
              <a:t>Enterprise Trial: Default group. Cannot stack licenses</a:t>
            </a:r>
          </a:p>
          <a:p>
            <a:r>
              <a:rPr lang="en-US" dirty="0"/>
              <a:t>Free: No stacking</a:t>
            </a:r>
          </a:p>
          <a:p>
            <a:r>
              <a:rPr lang="en-US" dirty="0"/>
              <a:t>Forwarders: No stacking</a:t>
            </a:r>
          </a:p>
          <a:p>
            <a:endParaRPr lang="en-US" dirty="0"/>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31</a:t>
            </a:fld>
            <a:endParaRPr lang="en-US"/>
          </a:p>
        </p:txBody>
      </p:sp>
    </p:spTree>
    <p:extLst>
      <p:ext uri="{BB962C8B-B14F-4D97-AF65-F5344CB8AC3E}">
        <p14:creationId xmlns:p14="http://schemas.microsoft.com/office/powerpoint/2010/main" val="40504997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have more to say on configuration files later in the course, but it’s important to understand what they are and what they do at this point in the course</a:t>
            </a:r>
          </a:p>
        </p:txBody>
      </p:sp>
      <p:sp>
        <p:nvSpPr>
          <p:cNvPr id="4" name="Slide Number Placeholder 3"/>
          <p:cNvSpPr>
            <a:spLocks noGrp="1"/>
          </p:cNvSpPr>
          <p:nvPr>
            <p:ph type="sldNum" sz="quarter" idx="5"/>
          </p:nvPr>
        </p:nvSpPr>
        <p:spPr/>
        <p:txBody>
          <a:bodyPr/>
          <a:lstStyle/>
          <a:p>
            <a:fld id="{406F332B-523F-114C-9A8D-1E7C723DC188}" type="slidenum">
              <a:rPr lang="en-US" smtClean="0"/>
              <a:t>33</a:t>
            </a:fld>
            <a:endParaRPr lang="en-US"/>
          </a:p>
        </p:txBody>
      </p:sp>
    </p:spTree>
    <p:extLst>
      <p:ext uri="{BB962C8B-B14F-4D97-AF65-F5344CB8AC3E}">
        <p14:creationId xmlns:p14="http://schemas.microsoft.com/office/powerpoint/2010/main" val="32718835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34</a:t>
            </a:fld>
            <a:endParaRPr lang="en-US"/>
          </a:p>
        </p:txBody>
      </p:sp>
    </p:spTree>
    <p:extLst>
      <p:ext uri="{BB962C8B-B14F-4D97-AF65-F5344CB8AC3E}">
        <p14:creationId xmlns:p14="http://schemas.microsoft.com/office/powerpoint/2010/main" val="3075667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Oxygen" charset="0"/>
                <a:ea typeface="Oxygen" charset="0"/>
                <a:cs typeface="Oxygen" charset="0"/>
              </a:rPr>
              <a:t>Apps extend Splunk’s functionality</a:t>
            </a:r>
          </a:p>
          <a:p>
            <a:r>
              <a:rPr lang="en-US" sz="1200" dirty="0">
                <a:latin typeface="Oxygen" charset="0"/>
                <a:ea typeface="Oxygen" charset="0"/>
                <a:cs typeface="Oxygen" charset="0"/>
              </a:rPr>
              <a:t>They enhance the user experience with built in dashboards, reports, alerts, saved searches, etc.</a:t>
            </a:r>
          </a:p>
          <a:p>
            <a:endParaRPr lang="en-US" sz="1200" dirty="0">
              <a:latin typeface="Oxygen" charset="0"/>
              <a:ea typeface="Oxygen" charset="0"/>
              <a:cs typeface="Oxygen" charset="0"/>
            </a:endParaRPr>
          </a:p>
          <a:p>
            <a:r>
              <a:rPr lang="en-US" sz="1200" dirty="0">
                <a:latin typeface="Oxygen" charset="0"/>
                <a:ea typeface="Oxygen" charset="0"/>
                <a:cs typeface="Oxygen" charset="0"/>
              </a:rPr>
              <a:t>Add-ons primarily support apps</a:t>
            </a:r>
          </a:p>
          <a:p>
            <a:r>
              <a:rPr lang="en-US" sz="1200" dirty="0">
                <a:latin typeface="Oxygen" charset="0"/>
                <a:ea typeface="Oxygen" charset="0"/>
                <a:cs typeface="Oxygen" charset="0"/>
              </a:rPr>
              <a:t>They enrich the incoming data with tags, data models, datasets, etc.</a:t>
            </a:r>
          </a:p>
          <a:p>
            <a:endParaRPr lang="en-US" sz="1200" dirty="0">
              <a:latin typeface="Oxygen" charset="0"/>
              <a:ea typeface="Oxygen" charset="0"/>
              <a:cs typeface="Oxygen" charset="0"/>
            </a:endParaRPr>
          </a:p>
          <a:p>
            <a:r>
              <a:rPr lang="en-US" sz="1200" dirty="0">
                <a:latin typeface="Oxygen" charset="0"/>
                <a:ea typeface="Oxygen" charset="0"/>
                <a:cs typeface="Oxygen" charset="0"/>
              </a:rPr>
              <a:t>Apps and add-ons can be created by individuals, third party companies, or Splunk</a:t>
            </a:r>
          </a:p>
          <a:p>
            <a:endParaRPr lang="en-US" sz="1200" dirty="0">
              <a:latin typeface="Oxygen" charset="0"/>
              <a:ea typeface="Oxygen" charset="0"/>
              <a:cs typeface="Oxygen" charset="0"/>
            </a:endParaRPr>
          </a:p>
          <a:p>
            <a:r>
              <a:rPr lang="en-US" sz="1200" dirty="0">
                <a:latin typeface="Oxygen" charset="0"/>
                <a:ea typeface="Oxygen" charset="0"/>
                <a:cs typeface="Oxygen" charset="0"/>
              </a:rPr>
              <a:t>Apps and add-ons that are built by Splunk carry the ”Splunk Built” logo</a:t>
            </a:r>
          </a:p>
          <a:p>
            <a:r>
              <a:rPr lang="en-US" sz="1200" dirty="0">
                <a:latin typeface="Oxygen" charset="0"/>
                <a:ea typeface="Oxygen" charset="0"/>
                <a:cs typeface="Oxygen" charset="0"/>
              </a:rPr>
              <a:t>Apps and add-ons that are certified by Splunk carry the “Splunk Certified” logo</a:t>
            </a:r>
          </a:p>
        </p:txBody>
      </p:sp>
      <p:sp>
        <p:nvSpPr>
          <p:cNvPr id="4" name="Slide Number Placeholder 3"/>
          <p:cNvSpPr>
            <a:spLocks noGrp="1"/>
          </p:cNvSpPr>
          <p:nvPr>
            <p:ph type="sldNum" sz="quarter" idx="10"/>
          </p:nvPr>
        </p:nvSpPr>
        <p:spPr/>
        <p:txBody>
          <a:bodyPr/>
          <a:lstStyle/>
          <a:p>
            <a:fld id="{406F332B-523F-114C-9A8D-1E7C723DC188}" type="slidenum">
              <a:rPr lang="en-US" smtClean="0"/>
              <a:t>35</a:t>
            </a:fld>
            <a:endParaRPr lang="en-US"/>
          </a:p>
        </p:txBody>
      </p:sp>
    </p:spTree>
    <p:extLst>
      <p:ext uri="{BB962C8B-B14F-4D97-AF65-F5344CB8AC3E}">
        <p14:creationId xmlns:p14="http://schemas.microsoft.com/office/powerpoint/2010/main" val="36121573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Oxygen" charset="0"/>
                <a:ea typeface="Oxygen" charset="0"/>
                <a:cs typeface="Oxygen" charset="0"/>
              </a:rPr>
              <a:t>An app is a collection of Splunk configuration files, views, knowledge objects, and sometimes add-ons</a:t>
            </a:r>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36</a:t>
            </a:fld>
            <a:endParaRPr lang="en-US"/>
          </a:p>
        </p:txBody>
      </p:sp>
    </p:spTree>
    <p:extLst>
      <p:ext uri="{BB962C8B-B14F-4D97-AF65-F5344CB8AC3E}">
        <p14:creationId xmlns:p14="http://schemas.microsoft.com/office/powerpoint/2010/main" val="3526908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Oxygen" charset="0"/>
                <a:ea typeface="Oxygen" charset="0"/>
                <a:cs typeface="Oxygen" charset="0"/>
              </a:rPr>
              <a:t>An add-on is a subset of an app</a:t>
            </a:r>
          </a:p>
          <a:p>
            <a:r>
              <a:rPr lang="en-US" dirty="0">
                <a:latin typeface="Oxygen" charset="0"/>
                <a:ea typeface="Oxygen" charset="0"/>
                <a:cs typeface="Oxygen" charset="0"/>
              </a:rPr>
              <a:t>Add-ons specify data collection, but do not have GUIs because they are part of the larger app</a:t>
            </a:r>
          </a:p>
          <a:p>
            <a:endParaRPr lang="en-US" dirty="0"/>
          </a:p>
        </p:txBody>
      </p:sp>
      <p:sp>
        <p:nvSpPr>
          <p:cNvPr id="4" name="Slide Number Placeholder 3"/>
          <p:cNvSpPr>
            <a:spLocks noGrp="1"/>
          </p:cNvSpPr>
          <p:nvPr>
            <p:ph type="sldNum" sz="quarter" idx="10"/>
          </p:nvPr>
        </p:nvSpPr>
        <p:spPr/>
        <p:txBody>
          <a:bodyPr/>
          <a:lstStyle/>
          <a:p>
            <a:fld id="{406F332B-523F-114C-9A8D-1E7C723DC188}" type="slidenum">
              <a:rPr lang="en-US" smtClean="0"/>
              <a:t>37</a:t>
            </a:fld>
            <a:endParaRPr lang="en-US"/>
          </a:p>
        </p:txBody>
      </p:sp>
    </p:spTree>
    <p:extLst>
      <p:ext uri="{BB962C8B-B14F-4D97-AF65-F5344CB8AC3E}">
        <p14:creationId xmlns:p14="http://schemas.microsoft.com/office/powerpoint/2010/main" val="20846133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Overview">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45185DFC-FD8D-2644-BCD7-7AF03C438FAA}"/>
              </a:ext>
            </a:extLst>
          </p:cNvPr>
          <p:cNvSpPr/>
          <p:nvPr userDrawn="1"/>
        </p:nvSpPr>
        <p:spPr>
          <a:xfrm>
            <a:off x="12236193" y="0"/>
            <a:ext cx="9337837" cy="6857999"/>
          </a:xfrm>
          <a:prstGeom prst="hexagon">
            <a:avLst/>
          </a:prstGeom>
          <a:blipFill dpi="0" rotWithShape="1">
            <a:blip r:embed="rId2">
              <a:extLst>
                <a:ext uri="{28A0092B-C50C-407E-A947-70E740481C1C}">
                  <a14:useLocalDpi xmlns:a14="http://schemas.microsoft.com/office/drawing/2010/main" val="0"/>
                </a:ext>
              </a:extLst>
            </a:blip>
            <a:srcRect/>
            <a:stretch>
              <a:fillRect l="-15586" t="-18948" r="-15162" b="1"/>
            </a:stretch>
          </a:blipFill>
          <a:ln>
            <a:noFill/>
            <a:prstDash val="sysDot"/>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49B2FF-0BA9-1D49-BBE6-716088BF8A89}"/>
              </a:ext>
            </a:extLst>
          </p:cNvPr>
          <p:cNvSpPr/>
          <p:nvPr userDrawn="1"/>
        </p:nvSpPr>
        <p:spPr>
          <a:xfrm>
            <a:off x="6389512" y="365125"/>
            <a:ext cx="4964288" cy="1325562"/>
          </a:xfrm>
          <a:prstGeom prst="rect">
            <a:avLst/>
          </a:prstGeom>
          <a:solidFill>
            <a:srgbClr val="FFFFFF">
              <a:alpha val="50196"/>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838200" y="2134689"/>
            <a:ext cx="5257800" cy="4358186"/>
          </a:xfrm>
        </p:spPr>
        <p:txBody>
          <a:bodyPr>
            <a:normAutofit/>
          </a:bodyPr>
          <a:lstStyle>
            <a:lvl1pPr marL="457200" indent="-457200">
              <a:buClr>
                <a:schemeClr val="accent2"/>
              </a:buClr>
              <a:buFont typeface=".Lucida Grande UI Regular"/>
              <a:buChar char="⇢"/>
              <a:defRPr sz="2800" baseline="0"/>
            </a:lvl1pPr>
            <a:lvl2pPr marL="457200" indent="0">
              <a:buClr>
                <a:schemeClr val="accent5"/>
              </a:buClr>
              <a:buFont typeface=".Lucida Grande UI Regular"/>
              <a:buNone/>
              <a:defRPr sz="2400"/>
            </a:lvl2pPr>
            <a:lvl3pPr marL="914400" indent="0">
              <a:buClr>
                <a:schemeClr val="accent5"/>
              </a:buClr>
              <a:buFont typeface=".Lucida Grande UI Regular"/>
              <a:buNone/>
              <a:defRPr sz="2000"/>
            </a:lvl3pPr>
            <a:lvl4pPr marL="1371600" indent="0">
              <a:buClr>
                <a:schemeClr val="accent5"/>
              </a:buClr>
              <a:buFont typeface=".Lucida Grande UI Regular"/>
              <a:buNone/>
              <a:defRPr sz="18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dirty="0"/>
              <a:t>We are going to cover this</a:t>
            </a:r>
          </a:p>
          <a:p>
            <a:pPr lvl="0"/>
            <a:r>
              <a:rPr lang="en-US" dirty="0"/>
              <a:t>Then this</a:t>
            </a:r>
          </a:p>
          <a:p>
            <a:pPr lvl="0"/>
            <a:r>
              <a:rPr lang="en-US" dirty="0"/>
              <a:t>Then this</a:t>
            </a:r>
          </a:p>
          <a:p>
            <a:pPr lvl="0"/>
            <a:r>
              <a:rPr lang="en-US" dirty="0"/>
              <a:t>Then this</a:t>
            </a:r>
          </a:p>
        </p:txBody>
      </p:sp>
      <p:sp>
        <p:nvSpPr>
          <p:cNvPr id="5" name="Title 4">
            <a:extLst>
              <a:ext uri="{FF2B5EF4-FFF2-40B4-BE49-F238E27FC236}">
                <a16:creationId xmlns:a16="http://schemas.microsoft.com/office/drawing/2014/main" id="{BEE5D464-C157-3D43-8895-C0F6CE99D381}"/>
              </a:ext>
            </a:extLst>
          </p:cNvPr>
          <p:cNvSpPr>
            <a:spLocks noGrp="1"/>
          </p:cNvSpPr>
          <p:nvPr>
            <p:ph type="title" hasCustomPrompt="1"/>
          </p:nvPr>
        </p:nvSpPr>
        <p:spPr/>
        <p:txBody>
          <a:bodyPr/>
          <a:lstStyle/>
          <a:p>
            <a:r>
              <a:rPr lang="en-US" dirty="0"/>
              <a:t>Section Overview</a:t>
            </a:r>
          </a:p>
        </p:txBody>
      </p:sp>
    </p:spTree>
    <p:extLst>
      <p:ext uri="{BB962C8B-B14F-4D97-AF65-F5344CB8AC3E}">
        <p14:creationId xmlns:p14="http://schemas.microsoft.com/office/powerpoint/2010/main" val="36928936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14:presetBounceEnd="50000">
                                      <p:stCondLst>
                                        <p:cond delay="500"/>
                                      </p:stCondLst>
                                      <p:childTnLst>
                                        <p:animMotion origin="layout" path="M 1.45833E-6 0 L -0.46953 0 " pathEditMode="relative" rAng="0" ptsTypes="AA" p14:bounceEnd="50000">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stCondLst>
                                        <p:cond delay="500"/>
                                      </p:stCondLst>
                                      <p:childTnLst>
                                        <p:animMotion origin="layout" path="M 1.45833E-6 0 L -0.46953 0 " pathEditMode="relative" rAng="0" ptsTypes="AA">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477107"/>
            <a:ext cx="9144000" cy="872197"/>
          </a:xfrm>
          <a:prstGeom prst="rect">
            <a:avLst/>
          </a:prstGeom>
        </p:spPr>
        <p:txBody>
          <a:bodyPr anchor="b">
            <a:noAutofit/>
          </a:bodyPr>
          <a:lstStyle>
            <a:lvl1pPr algn="ctr">
              <a:defRPr sz="4800"/>
            </a:lvl1pPr>
          </a:lstStyle>
          <a:p>
            <a:r>
              <a:rPr lang="en-US" dirty="0"/>
              <a:t>Sub-Section Header</a:t>
            </a:r>
          </a:p>
        </p:txBody>
      </p:sp>
      <p:sp>
        <p:nvSpPr>
          <p:cNvPr id="4" name="Footer Placeholder 3">
            <a:extLst>
              <a:ext uri="{FF2B5EF4-FFF2-40B4-BE49-F238E27FC236}">
                <a16:creationId xmlns:a16="http://schemas.microsoft.com/office/drawing/2014/main" id="{5C3A140E-EBF5-7A4B-8F26-78545DCFFAC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cxnSp>
        <p:nvCxnSpPr>
          <p:cNvPr id="7" name="Straight Connector 6">
            <a:extLst>
              <a:ext uri="{FF2B5EF4-FFF2-40B4-BE49-F238E27FC236}">
                <a16:creationId xmlns:a16="http://schemas.microsoft.com/office/drawing/2014/main" id="{DB7F3FD1-DEDA-C94C-8CD8-6A2A4BB95ACB}"/>
              </a:ext>
            </a:extLst>
          </p:cNvPr>
          <p:cNvCxnSpPr/>
          <p:nvPr userDrawn="1"/>
        </p:nvCxnSpPr>
        <p:spPr>
          <a:xfrm>
            <a:off x="-9542417" y="3004923"/>
            <a:ext cx="9270609"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66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95833E-6 -4.44444E-6 L 0.90247 -4.44444E-6 " pathEditMode="relative" rAng="0" ptsTypes="AA">
                                      <p:cBhvr>
                                        <p:cTn id="6" dur="1000" fill="hold"/>
                                        <p:tgtEl>
                                          <p:spTgt spid="7"/>
                                        </p:tgtEl>
                                        <p:attrNameLst>
                                          <p:attrName>ppt_x</p:attrName>
                                          <p:attrName>ppt_y</p:attrName>
                                        </p:attrNameLst>
                                      </p:cBhvr>
                                      <p:rCtr x="451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ic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34725" y="2081655"/>
            <a:ext cx="0" cy="3776217"/>
          </a:xfrm>
          <a:prstGeom prst="line">
            <a:avLst/>
          </a:prstGeom>
          <a:ln w="76200" cmpd="sng">
            <a:gradFill>
              <a:gsLst>
                <a:gs pos="0">
                  <a:schemeClr val="accent1">
                    <a:lumMod val="5000"/>
                    <a:lumOff val="95000"/>
                  </a:schemeClr>
                </a:gs>
                <a:gs pos="21000">
                  <a:schemeClr val="accent1">
                    <a:lumMod val="45000"/>
                    <a:lumOff val="55000"/>
                  </a:schemeClr>
                </a:gs>
                <a:gs pos="100000">
                  <a:schemeClr val="accent2"/>
                </a:gs>
              </a:gsLst>
              <a:lin ang="5400000" scaled="1"/>
            </a:gradFill>
            <a:prstDash val="solid"/>
          </a:ln>
          <a:effectLst/>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Static picture left</a:t>
            </a:r>
          </a:p>
        </p:txBody>
      </p:sp>
      <p:sp>
        <p:nvSpPr>
          <p:cNvPr id="13" name="Picture Placeholder 12">
            <a:extLst>
              <a:ext uri="{FF2B5EF4-FFF2-40B4-BE49-F238E27FC236}">
                <a16:creationId xmlns:a16="http://schemas.microsoft.com/office/drawing/2014/main" id="{7D8DEB00-7129-344B-901E-145064506945}"/>
              </a:ext>
            </a:extLst>
          </p:cNvPr>
          <p:cNvSpPr>
            <a:spLocks noGrp="1"/>
          </p:cNvSpPr>
          <p:nvPr>
            <p:ph type="pic" sz="quarter" idx="12"/>
          </p:nvPr>
        </p:nvSpPr>
        <p:spPr>
          <a:xfrm>
            <a:off x="838199" y="2190750"/>
            <a:ext cx="3705629" cy="3667122"/>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12662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righ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nimated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85E7E6C-DA8B-1741-B77B-3ADC92A3B8D3}"/>
              </a:ext>
            </a:extLst>
          </p:cNvPr>
          <p:cNvSpPr>
            <a:spLocks noGrp="1"/>
          </p:cNvSpPr>
          <p:nvPr>
            <p:ph type="pic" sz="quarter" idx="10"/>
          </p:nvPr>
        </p:nvSpPr>
        <p:spPr>
          <a:xfrm>
            <a:off x="209405" y="2084832"/>
            <a:ext cx="3829184" cy="3776217"/>
          </a:xfrm>
        </p:spPr>
        <p:txBody>
          <a:bodyPr/>
          <a:lstStyle>
            <a:lvl1pPr marL="0" indent="0">
              <a:buNone/>
              <a:defRPr/>
            </a:lvl1pPr>
          </a:lstStyle>
          <a:p>
            <a:r>
              <a:rPr lang="en-US"/>
              <a:t>Click icon to add picture</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08943" y="2084832"/>
            <a:ext cx="0" cy="3776217"/>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Animated picture left</a:t>
            </a:r>
          </a:p>
        </p:txBody>
      </p:sp>
    </p:spTree>
    <p:extLst>
      <p:ext uri="{BB962C8B-B14F-4D97-AF65-F5344CB8AC3E}">
        <p14:creationId xmlns:p14="http://schemas.microsoft.com/office/powerpoint/2010/main" val="32879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nodePh="1">
                                  <p:stCondLst>
                                    <p:cond delay="0"/>
                                  </p:stCondLst>
                                  <p:endCondLst>
                                    <p:cond evt="begin" delay="0">
                                      <p:tn val="5"/>
                                    </p:cond>
                                  </p:endCondLst>
                                  <p:childTnLst>
                                    <p:animMotion origin="layout" path="M 1.25E-6 3.33333E-6 L 0.02995 -0.0007 " pathEditMode="relative" rAng="0" ptsTypes="AA">
                                      <p:cBhvr>
                                        <p:cTn id="6" dur="500" fill="hold"/>
                                        <p:tgtEl>
                                          <p:spTgt spid="10"/>
                                        </p:tgtEl>
                                        <p:attrNameLst>
                                          <p:attrName>ppt_x</p:attrName>
                                          <p:attrName>ppt_y</p:attrName>
                                        </p:attrNameLst>
                                      </p:cBhvr>
                                      <p:rCtr x="1497" y="-46"/>
                                    </p:animMotion>
                                  </p:childTnLst>
                                </p:cTn>
                              </p:par>
                              <p:par>
                                <p:cTn id="7" presetID="12" presetClass="entr" presetSubtype="8" fill="hold" nodeType="withEffect">
                                  <p:stCondLst>
                                    <p:cond delay="50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p:tgtEl>
                                          <p:spTgt spid="12"/>
                                        </p:tgtEl>
                                        <p:attrNameLst>
                                          <p:attrName>ppt_x</p:attrName>
                                        </p:attrNameLst>
                                      </p:cBhvr>
                                      <p:tavLst>
                                        <p:tav tm="0">
                                          <p:val>
                                            <p:strVal val="#ppt_x-#ppt_w*1.125000"/>
                                          </p:val>
                                        </p:tav>
                                        <p:tav tm="100000">
                                          <p:val>
                                            <p:strVal val="#ppt_x"/>
                                          </p:val>
                                        </p:tav>
                                      </p:tavLst>
                                    </p:anim>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1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10515600" cy="1325563"/>
          </a:xfrm>
          <a:prstGeom prst="rect">
            <a:avLst/>
          </a:prstGeom>
        </p:spPr>
        <p:txBody>
          <a:bodyPr/>
          <a:lstStyle/>
          <a:p>
            <a:r>
              <a:rPr lang="en-US" dirty="0"/>
              <a:t>Compare</a:t>
            </a:r>
          </a:p>
        </p:txBody>
      </p:sp>
      <p:sp>
        <p:nvSpPr>
          <p:cNvPr id="3" name="Content Placeholder 2"/>
          <p:cNvSpPr>
            <a:spLocks noGrp="1"/>
          </p:cNvSpPr>
          <p:nvPr>
            <p:ph sz="half" idx="1"/>
          </p:nvPr>
        </p:nvSpPr>
        <p:spPr>
          <a:xfrm>
            <a:off x="838200" y="1825625"/>
            <a:ext cx="4388556"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65242" y="1825625"/>
            <a:ext cx="4388557"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4D2C271-3C7A-CD46-9649-E18133BDF375}"/>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pic>
        <p:nvPicPr>
          <p:cNvPr id="7" name="Picture 6">
            <a:extLst>
              <a:ext uri="{FF2B5EF4-FFF2-40B4-BE49-F238E27FC236}">
                <a16:creationId xmlns:a16="http://schemas.microsoft.com/office/drawing/2014/main" id="{2270307A-3FDF-4C4B-BE9C-8873BC596BDD}"/>
              </a:ext>
            </a:extLst>
          </p:cNvPr>
          <p:cNvPicPr>
            <a:picLocks noChangeAspect="1"/>
          </p:cNvPicPr>
          <p:nvPr userDrawn="1"/>
        </p:nvPicPr>
        <p:blipFill>
          <a:blip r:embed="rId2">
            <a:duotone>
              <a:schemeClr val="accent2">
                <a:shade val="45000"/>
                <a:satMod val="135000"/>
              </a:schemeClr>
              <a:prstClr val="white"/>
            </a:duotone>
          </a:blip>
          <a:stretch>
            <a:fillRect/>
          </a:stretch>
        </p:blipFill>
        <p:spPr>
          <a:xfrm rot="19287151">
            <a:off x="5087055" y="2845241"/>
            <a:ext cx="2017889" cy="2017889"/>
          </a:xfrm>
          <a:prstGeom prst="rect">
            <a:avLst/>
          </a:prstGeom>
        </p:spPr>
      </p:pic>
    </p:spTree>
    <p:extLst>
      <p:ext uri="{BB962C8B-B14F-4D97-AF65-F5344CB8AC3E}">
        <p14:creationId xmlns:p14="http://schemas.microsoft.com/office/powerpoint/2010/main" val="82703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xagon">
    <p:spTree>
      <p:nvGrpSpPr>
        <p:cNvPr id="1" name=""/>
        <p:cNvGrpSpPr/>
        <p:nvPr/>
      </p:nvGrpSpPr>
      <p:grpSpPr>
        <a:xfrm>
          <a:off x="0" y="0"/>
          <a:ext cx="0" cy="0"/>
          <a:chOff x="0" y="0"/>
          <a:chExt cx="0" cy="0"/>
        </a:xfrm>
      </p:grpSpPr>
      <p:sp>
        <p:nvSpPr>
          <p:cNvPr id="11" name="Triangle 10">
            <a:extLst>
              <a:ext uri="{FF2B5EF4-FFF2-40B4-BE49-F238E27FC236}">
                <a16:creationId xmlns:a16="http://schemas.microsoft.com/office/drawing/2014/main" id="{E31902E0-7BD6-E64C-B861-0D19CC300851}"/>
              </a:ext>
            </a:extLst>
          </p:cNvPr>
          <p:cNvSpPr/>
          <p:nvPr userDrawn="1"/>
        </p:nvSpPr>
        <p:spPr>
          <a:xfrm rot="10800000">
            <a:off x="4648200" y="857955"/>
            <a:ext cx="2895600" cy="24892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2" name="Triangle 11">
            <a:extLst>
              <a:ext uri="{FF2B5EF4-FFF2-40B4-BE49-F238E27FC236}">
                <a16:creationId xmlns:a16="http://schemas.microsoft.com/office/drawing/2014/main" id="{EC3E15BB-D533-C447-A206-ED6D67B1552A}"/>
              </a:ext>
            </a:extLst>
          </p:cNvPr>
          <p:cNvSpPr/>
          <p:nvPr userDrawn="1"/>
        </p:nvSpPr>
        <p:spPr>
          <a:xfrm rot="14434340">
            <a:off x="5829670" y="1554324"/>
            <a:ext cx="2895600" cy="2489200"/>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3" name="Triangle 12">
            <a:extLst>
              <a:ext uri="{FF2B5EF4-FFF2-40B4-BE49-F238E27FC236}">
                <a16:creationId xmlns:a16="http://schemas.microsoft.com/office/drawing/2014/main" id="{4AB5DFD3-C62D-2B44-98B8-4D0E06BFDA6F}"/>
              </a:ext>
            </a:extLst>
          </p:cNvPr>
          <p:cNvSpPr/>
          <p:nvPr userDrawn="1"/>
        </p:nvSpPr>
        <p:spPr>
          <a:xfrm rot="18026298">
            <a:off x="5812233" y="2905467"/>
            <a:ext cx="2895600" cy="24892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4" name="Triangle 13">
            <a:extLst>
              <a:ext uri="{FF2B5EF4-FFF2-40B4-BE49-F238E27FC236}">
                <a16:creationId xmlns:a16="http://schemas.microsoft.com/office/drawing/2014/main" id="{1CD1EF5B-5CEE-A845-A4CC-BD24DAE72678}"/>
              </a:ext>
            </a:extLst>
          </p:cNvPr>
          <p:cNvSpPr/>
          <p:nvPr userDrawn="1"/>
        </p:nvSpPr>
        <p:spPr>
          <a:xfrm rot="7213277">
            <a:off x="3474516" y="1538403"/>
            <a:ext cx="2895600" cy="2489200"/>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5" name="Triangle 14">
            <a:extLst>
              <a:ext uri="{FF2B5EF4-FFF2-40B4-BE49-F238E27FC236}">
                <a16:creationId xmlns:a16="http://schemas.microsoft.com/office/drawing/2014/main" id="{ECA4BCC2-29D1-3741-9082-F7C1C6BA377A}"/>
              </a:ext>
            </a:extLst>
          </p:cNvPr>
          <p:cNvSpPr/>
          <p:nvPr userDrawn="1"/>
        </p:nvSpPr>
        <p:spPr>
          <a:xfrm rot="3611414">
            <a:off x="3455140" y="2903473"/>
            <a:ext cx="2895600" cy="248920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6" name="Triangle 15">
            <a:extLst>
              <a:ext uri="{FF2B5EF4-FFF2-40B4-BE49-F238E27FC236}">
                <a16:creationId xmlns:a16="http://schemas.microsoft.com/office/drawing/2014/main" id="{61B32392-5EAE-5C45-A548-AC25E1E18AF8}"/>
              </a:ext>
            </a:extLst>
          </p:cNvPr>
          <p:cNvSpPr/>
          <p:nvPr userDrawn="1"/>
        </p:nvSpPr>
        <p:spPr>
          <a:xfrm>
            <a:off x="4639998" y="3577545"/>
            <a:ext cx="2895600" cy="24892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0" name="Content Placeholder 9">
            <a:extLst>
              <a:ext uri="{FF2B5EF4-FFF2-40B4-BE49-F238E27FC236}">
                <a16:creationId xmlns:a16="http://schemas.microsoft.com/office/drawing/2014/main" id="{4B5D361C-2F7C-854F-8069-08C8387E9B96}"/>
              </a:ext>
            </a:extLst>
          </p:cNvPr>
          <p:cNvSpPr>
            <a:spLocks noGrp="1"/>
          </p:cNvSpPr>
          <p:nvPr>
            <p:ph sz="quarter" idx="12"/>
          </p:nvPr>
        </p:nvSpPr>
        <p:spPr>
          <a:xfrm>
            <a:off x="4122143" y="1901100"/>
            <a:ext cx="914400" cy="1369854"/>
          </a:xfrm>
        </p:spPr>
        <p:txBody>
          <a:bodyPr>
            <a:noAutofit/>
          </a:bodyPr>
          <a:lstStyle>
            <a:lvl1pPr marL="0" indent="0">
              <a:buNone/>
              <a:defRPr sz="1800"/>
            </a:lvl1pPr>
            <a:lvl5pPr>
              <a:defRPr sz="1000"/>
            </a:lvl5pPr>
          </a:lstStyle>
          <a:p>
            <a:pPr lvl="0"/>
            <a:r>
              <a:rPr lang="en-US"/>
              <a:t>Click to edit Master text styles</a:t>
            </a:r>
          </a:p>
        </p:txBody>
      </p:sp>
      <p:sp>
        <p:nvSpPr>
          <p:cNvPr id="18" name="Content Placeholder 17">
            <a:extLst>
              <a:ext uri="{FF2B5EF4-FFF2-40B4-BE49-F238E27FC236}">
                <a16:creationId xmlns:a16="http://schemas.microsoft.com/office/drawing/2014/main" id="{F78D4A3C-D5F6-1640-BF6A-CB80808526C3}"/>
              </a:ext>
            </a:extLst>
          </p:cNvPr>
          <p:cNvSpPr>
            <a:spLocks noGrp="1"/>
          </p:cNvSpPr>
          <p:nvPr>
            <p:ph sz="quarter" idx="13"/>
          </p:nvPr>
        </p:nvSpPr>
        <p:spPr>
          <a:xfrm>
            <a:off x="4122143" y="3700790"/>
            <a:ext cx="914400" cy="1369853"/>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0" name="Content Placeholder 19">
            <a:extLst>
              <a:ext uri="{FF2B5EF4-FFF2-40B4-BE49-F238E27FC236}">
                <a16:creationId xmlns:a16="http://schemas.microsoft.com/office/drawing/2014/main" id="{86A80EF7-4966-9E42-92FC-7A4D50808932}"/>
              </a:ext>
            </a:extLst>
          </p:cNvPr>
          <p:cNvSpPr>
            <a:spLocks noGrp="1"/>
          </p:cNvSpPr>
          <p:nvPr>
            <p:ph sz="quarter" idx="14"/>
          </p:nvPr>
        </p:nvSpPr>
        <p:spPr>
          <a:xfrm>
            <a:off x="5649862" y="4574498"/>
            <a:ext cx="947695" cy="1370571"/>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2" name="Content Placeholder 21">
            <a:extLst>
              <a:ext uri="{FF2B5EF4-FFF2-40B4-BE49-F238E27FC236}">
                <a16:creationId xmlns:a16="http://schemas.microsoft.com/office/drawing/2014/main" id="{A8181D33-8BDF-5D44-8704-773A99FE97AD}"/>
              </a:ext>
            </a:extLst>
          </p:cNvPr>
          <p:cNvSpPr>
            <a:spLocks noGrp="1"/>
          </p:cNvSpPr>
          <p:nvPr>
            <p:ph sz="quarter" idx="15" hasCustomPrompt="1"/>
          </p:nvPr>
        </p:nvSpPr>
        <p:spPr>
          <a:xfrm>
            <a:off x="7143453" y="3660764"/>
            <a:ext cx="967487" cy="1409879"/>
          </a:xfrm>
        </p:spPr>
        <p:txBody>
          <a:bodyPr>
            <a:noAutofit/>
          </a:bodyPr>
          <a:lstStyle>
            <a:lvl1pPr marL="0" indent="0">
              <a:buNone/>
              <a:defRPr sz="1600"/>
            </a:lvl1pPr>
            <a:lvl5pPr marL="1828800" indent="0">
              <a:buNone/>
              <a:defRPr/>
            </a:lvl5pPr>
          </a:lstStyle>
          <a:p>
            <a:pPr lvl="0"/>
            <a:r>
              <a:rPr lang="en-US" dirty="0"/>
              <a:t>Click to edit Master text </a:t>
            </a:r>
            <a:r>
              <a:rPr lang="en-US" dirty="0" err="1"/>
              <a:t>stylesdit</a:t>
            </a:r>
            <a:r>
              <a:rPr lang="en-US" dirty="0"/>
              <a:t> Master text styles</a:t>
            </a:r>
          </a:p>
        </p:txBody>
      </p:sp>
      <p:sp>
        <p:nvSpPr>
          <p:cNvPr id="24" name="Content Placeholder 23">
            <a:extLst>
              <a:ext uri="{FF2B5EF4-FFF2-40B4-BE49-F238E27FC236}">
                <a16:creationId xmlns:a16="http://schemas.microsoft.com/office/drawing/2014/main" id="{12FEC077-8CF0-6C45-8D19-B683AAEE5A58}"/>
              </a:ext>
            </a:extLst>
          </p:cNvPr>
          <p:cNvSpPr>
            <a:spLocks noGrp="1"/>
          </p:cNvSpPr>
          <p:nvPr>
            <p:ph sz="quarter" idx="16"/>
          </p:nvPr>
        </p:nvSpPr>
        <p:spPr>
          <a:xfrm>
            <a:off x="7212049" y="1901100"/>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
        <p:nvSpPr>
          <p:cNvPr id="17" name="Content Placeholder 23">
            <a:extLst>
              <a:ext uri="{FF2B5EF4-FFF2-40B4-BE49-F238E27FC236}">
                <a16:creationId xmlns:a16="http://schemas.microsoft.com/office/drawing/2014/main" id="{22B58768-355B-E545-88F7-DEE066DFDF15}"/>
              </a:ext>
            </a:extLst>
          </p:cNvPr>
          <p:cNvSpPr>
            <a:spLocks noGrp="1"/>
          </p:cNvSpPr>
          <p:nvPr>
            <p:ph sz="quarter" idx="17"/>
          </p:nvPr>
        </p:nvSpPr>
        <p:spPr>
          <a:xfrm>
            <a:off x="5646222" y="1061967"/>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60306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300" fill="hold"/>
                                        <p:tgtEl>
                                          <p:spTgt spid="11"/>
                                        </p:tgtEl>
                                        <p:attrNameLst>
                                          <p:attrName>ppt_x</p:attrName>
                                        </p:attrNameLst>
                                      </p:cBhvr>
                                      <p:tavLst>
                                        <p:tav tm="0">
                                          <p:val>
                                            <p:strVal val="#ppt_x"/>
                                          </p:val>
                                        </p:tav>
                                        <p:tav tm="100000">
                                          <p:val>
                                            <p:strVal val="#ppt_x"/>
                                          </p:val>
                                        </p:tav>
                                      </p:tavLst>
                                    </p:anim>
                                    <p:anim calcmode="lin" valueType="num">
                                      <p:cBhvr additive="base">
                                        <p:cTn id="8" dur="3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300" fill="hold"/>
                                        <p:tgtEl>
                                          <p:spTgt spid="16"/>
                                        </p:tgtEl>
                                        <p:attrNameLst>
                                          <p:attrName>ppt_x</p:attrName>
                                        </p:attrNameLst>
                                      </p:cBhvr>
                                      <p:tavLst>
                                        <p:tav tm="0">
                                          <p:val>
                                            <p:strVal val="#ppt_x"/>
                                          </p:val>
                                        </p:tav>
                                        <p:tav tm="100000">
                                          <p:val>
                                            <p:strVal val="#ppt_x"/>
                                          </p:val>
                                        </p:tav>
                                      </p:tavLst>
                                    </p:anim>
                                    <p:anim calcmode="lin" valueType="num">
                                      <p:cBhvr additive="base">
                                        <p:cTn id="12" dur="3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3" fill="hold" grpId="0" nodeType="withEffect">
                                  <p:stCondLst>
                                    <p:cond delay="5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300" fill="hold"/>
                                        <p:tgtEl>
                                          <p:spTgt spid="12"/>
                                        </p:tgtEl>
                                        <p:attrNameLst>
                                          <p:attrName>ppt_x</p:attrName>
                                        </p:attrNameLst>
                                      </p:cBhvr>
                                      <p:tavLst>
                                        <p:tav tm="0">
                                          <p:val>
                                            <p:strVal val="1+#ppt_w/2"/>
                                          </p:val>
                                        </p:tav>
                                        <p:tav tm="100000">
                                          <p:val>
                                            <p:strVal val="#ppt_x"/>
                                          </p:val>
                                        </p:tav>
                                      </p:tavLst>
                                    </p:anim>
                                    <p:anim calcmode="lin" valueType="num">
                                      <p:cBhvr additive="base">
                                        <p:cTn id="16" dur="3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300" fill="hold"/>
                                        <p:tgtEl>
                                          <p:spTgt spid="13"/>
                                        </p:tgtEl>
                                        <p:attrNameLst>
                                          <p:attrName>ppt_x</p:attrName>
                                        </p:attrNameLst>
                                      </p:cBhvr>
                                      <p:tavLst>
                                        <p:tav tm="0">
                                          <p:val>
                                            <p:strVal val="1+#ppt_w/2"/>
                                          </p:val>
                                        </p:tav>
                                        <p:tav tm="100000">
                                          <p:val>
                                            <p:strVal val="#ppt_x"/>
                                          </p:val>
                                        </p:tav>
                                      </p:tavLst>
                                    </p:anim>
                                    <p:anim calcmode="lin" valueType="num">
                                      <p:cBhvr additive="base">
                                        <p:cTn id="20" dur="3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12" fill="hold" grpId="0" nodeType="withEffect">
                                  <p:stCondLst>
                                    <p:cond delay="5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300" fill="hold"/>
                                        <p:tgtEl>
                                          <p:spTgt spid="15"/>
                                        </p:tgtEl>
                                        <p:attrNameLst>
                                          <p:attrName>ppt_x</p:attrName>
                                        </p:attrNameLst>
                                      </p:cBhvr>
                                      <p:tavLst>
                                        <p:tav tm="0">
                                          <p:val>
                                            <p:strVal val="0-#ppt_w/2"/>
                                          </p:val>
                                        </p:tav>
                                        <p:tav tm="100000">
                                          <p:val>
                                            <p:strVal val="#ppt_x"/>
                                          </p:val>
                                        </p:tav>
                                      </p:tavLst>
                                    </p:anim>
                                    <p:anim calcmode="lin" valueType="num">
                                      <p:cBhvr additive="base">
                                        <p:cTn id="24" dur="3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9" fill="hold" grpId="0" nodeType="withEffect">
                                  <p:stCondLst>
                                    <p:cond delay="10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300" fill="hold"/>
                                        <p:tgtEl>
                                          <p:spTgt spid="14"/>
                                        </p:tgtEl>
                                        <p:attrNameLst>
                                          <p:attrName>ppt_x</p:attrName>
                                        </p:attrNameLst>
                                      </p:cBhvr>
                                      <p:tavLst>
                                        <p:tav tm="0">
                                          <p:val>
                                            <p:strVal val="0-#ppt_w/2"/>
                                          </p:val>
                                        </p:tav>
                                        <p:tav tm="100000">
                                          <p:val>
                                            <p:strVal val="#ppt_x"/>
                                          </p:val>
                                        </p:tav>
                                      </p:tavLst>
                                    </p:anim>
                                    <p:anim calcmode="lin" valueType="num">
                                      <p:cBhvr additive="base">
                                        <p:cTn id="28" dur="300" fill="hold"/>
                                        <p:tgtEl>
                                          <p:spTgt spid="14"/>
                                        </p:tgtEl>
                                        <p:attrNameLst>
                                          <p:attrName>ppt_y</p:attrName>
                                        </p:attrNameLst>
                                      </p:cBhvr>
                                      <p:tavLst>
                                        <p:tav tm="0">
                                          <p:val>
                                            <p:strVal val="0-#ppt_h/2"/>
                                          </p:val>
                                        </p:tav>
                                        <p:tav tm="100000">
                                          <p:val>
                                            <p:strVal val="#ppt_y"/>
                                          </p:val>
                                        </p:tav>
                                      </p:tavLst>
                                    </p:anim>
                                  </p:childTnLst>
                                </p:cTn>
                              </p:par>
                              <p:par>
                                <p:cTn id="29" presetID="1" presetClass="entr" presetSubtype="0" fill="hold" grpId="0" nodeType="withEffect">
                                  <p:stCondLst>
                                    <p:cond delay="120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par>
                                <p:cTn id="31" presetID="1" presetClass="entr" presetSubtype="0" fill="hold" grpId="0" nodeType="withEffect">
                                  <p:stCondLst>
                                    <p:cond delay="120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par>
                                <p:cTn id="33" presetID="1" presetClass="entr" presetSubtype="0" fill="hold" grpId="0" nodeType="withEffect">
                                  <p:stCondLst>
                                    <p:cond delay="1200"/>
                                  </p:stCondLst>
                                  <p:childTnLst>
                                    <p:set>
                                      <p:cBhvr>
                                        <p:cTn id="34" dur="1" fill="hold">
                                          <p:stCondLst>
                                            <p:cond delay="0"/>
                                          </p:stCondLst>
                                        </p:cTn>
                                        <p:tgtEl>
                                          <p:spTgt spid="22">
                                            <p:txEl>
                                              <p:pRg st="0" end="0"/>
                                            </p:txEl>
                                          </p:spTgt>
                                        </p:tgtEl>
                                        <p:attrNameLst>
                                          <p:attrName>style.visibility</p:attrName>
                                        </p:attrNameLst>
                                      </p:cBhvr>
                                      <p:to>
                                        <p:strVal val="visible"/>
                                      </p:to>
                                    </p:set>
                                  </p:childTnLst>
                                </p:cTn>
                              </p:par>
                              <p:par>
                                <p:cTn id="35" presetID="1" presetClass="entr" presetSubtype="0" fill="hold" grpId="0" nodeType="withEffect">
                                  <p:stCondLst>
                                    <p:cond delay="120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par>
                                <p:cTn id="37" presetID="1" presetClass="entr" presetSubtype="0" fill="hold" grpId="0" nodeType="withEffect">
                                  <p:stCondLst>
                                    <p:cond delay="1200"/>
                                  </p:stCondLst>
                                  <p:childTnLst>
                                    <p:set>
                                      <p:cBhvr>
                                        <p:cTn id="38" dur="1" fill="hold">
                                          <p:stCondLst>
                                            <p:cond delay="0"/>
                                          </p:stCondLst>
                                        </p:cTn>
                                        <p:tgtEl>
                                          <p:spTgt spid="18">
                                            <p:txEl>
                                              <p:pRg st="0" end="0"/>
                                            </p:txEl>
                                          </p:spTgt>
                                        </p:tgtEl>
                                        <p:attrNameLst>
                                          <p:attrName>style.visibility</p:attrName>
                                        </p:attrNameLst>
                                      </p:cBhvr>
                                      <p:to>
                                        <p:strVal val="visible"/>
                                      </p:to>
                                    </p:set>
                                  </p:childTnLst>
                                </p:cTn>
                              </p:par>
                              <p:par>
                                <p:cTn id="39" presetID="1" presetClass="entr" presetSubtype="0" fill="hold" grpId="0" nodeType="withEffect">
                                  <p:stCondLst>
                                    <p:cond delay="1200"/>
                                  </p:stCondLst>
                                  <p:childTnLst>
                                    <p:set>
                                      <p:cBhvr>
                                        <p:cTn id="4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0" grpId="0" build="p">
        <p:tmplLst>
          <p:tmpl lvl="1">
            <p:tnLst>
              <p:par>
                <p:cTn presetID="1" presetClass="entr" presetSubtype="0" fill="hold" nodeType="withEffect">
                  <p:stCondLst>
                    <p:cond delay="1200"/>
                  </p:stCondLst>
                  <p:childTnLst>
                    <p:set>
                      <p:cBhvr>
                        <p:cTn dur="1" fill="hold">
                          <p:stCondLst>
                            <p:cond delay="0"/>
                          </p:stCondLst>
                        </p:cTn>
                        <p:tgtEl>
                          <p:spTgt spid="10"/>
                        </p:tgtEl>
                        <p:attrNameLst>
                          <p:attrName>style.visibility</p:attrName>
                        </p:attrNameLst>
                      </p:cBhvr>
                      <p:to>
                        <p:strVal val="visible"/>
                      </p:to>
                    </p:set>
                  </p:childTnLst>
                </p:cTn>
              </p:par>
            </p:tnLst>
          </p:tmpl>
        </p:tmplLst>
      </p:bldP>
      <p:bldP spid="18" grpId="0" build="p">
        <p:tmplLst>
          <p:tmpl lvl="1">
            <p:tnLst>
              <p:par>
                <p:cTn presetID="1" presetClass="entr" presetSubtype="0" fill="hold" nodeType="withEffect">
                  <p:stCondLst>
                    <p:cond delay="12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20" grpId="0" build="p">
        <p:tmplLst>
          <p:tmpl lvl="1">
            <p:tnLst>
              <p:par>
                <p:cTn presetID="1" presetClass="entr" presetSubtype="0" fill="hold" nodeType="withEffect">
                  <p:stCondLst>
                    <p:cond delay="1200"/>
                  </p:stCondLst>
                  <p:childTnLst>
                    <p:set>
                      <p:cBhvr>
                        <p:cTn dur="1" fill="hold">
                          <p:stCondLst>
                            <p:cond delay="0"/>
                          </p:stCondLst>
                        </p:cTn>
                        <p:tgtEl>
                          <p:spTgt spid="20"/>
                        </p:tgtEl>
                        <p:attrNameLst>
                          <p:attrName>style.visibility</p:attrName>
                        </p:attrNameLst>
                      </p:cBhvr>
                      <p:to>
                        <p:strVal val="visible"/>
                      </p:to>
                    </p:set>
                  </p:childTnLst>
                </p:cTn>
              </p:par>
            </p:tnLst>
          </p:tmpl>
        </p:tmplLst>
      </p:bldP>
      <p:bldP spid="22" grpId="0" build="p">
        <p:tmplLst>
          <p:tmpl lvl="1">
            <p:tnLst>
              <p:par>
                <p:cTn presetID="1" presetClass="entr" presetSubtype="0" fill="hold" nodeType="withEffect">
                  <p:stCondLst>
                    <p:cond delay="1200"/>
                  </p:stCondLst>
                  <p:childTnLst>
                    <p:set>
                      <p:cBhvr>
                        <p:cTn dur="1" fill="hold">
                          <p:stCondLst>
                            <p:cond delay="0"/>
                          </p:stCondLst>
                        </p:cTn>
                        <p:tgtEl>
                          <p:spTgt spid="22"/>
                        </p:tgtEl>
                        <p:attrNameLst>
                          <p:attrName>style.visibility</p:attrName>
                        </p:attrNameLst>
                      </p:cBhvr>
                      <p:to>
                        <p:strVal val="visible"/>
                      </p:to>
                    </p:set>
                  </p:childTnLst>
                </p:cTn>
              </p:par>
            </p:tnLst>
          </p:tmpl>
        </p:tmplLst>
      </p:bldP>
      <p:bldP spid="24" grpId="0" build="p">
        <p:tmplLst>
          <p:tmpl lvl="1">
            <p:tnLst>
              <p:par>
                <p:cTn presetID="1" presetClass="entr" presetSubtype="0" fill="hold" nodeType="withEffect">
                  <p:stCondLst>
                    <p:cond delay="1200"/>
                  </p:stCondLst>
                  <p:childTnLst>
                    <p:set>
                      <p:cBhvr>
                        <p:cTn dur="1" fill="hold">
                          <p:stCondLst>
                            <p:cond delay="0"/>
                          </p:stCondLst>
                        </p:cTn>
                        <p:tgtEl>
                          <p:spTgt spid="24"/>
                        </p:tgtEl>
                        <p:attrNameLst>
                          <p:attrName>style.visibility</p:attrName>
                        </p:attrNameLst>
                      </p:cBhvr>
                      <p:to>
                        <p:strVal val="visible"/>
                      </p:to>
                    </p:set>
                  </p:childTnLst>
                </p:cTn>
              </p:par>
            </p:tnLst>
          </p:tmpl>
        </p:tmplLst>
      </p:bldP>
      <p:bldP spid="17" grpId="0" build="p">
        <p:tmplLst>
          <p:tmpl lvl="1">
            <p:tnLst>
              <p:par>
                <p:cTn presetID="1" presetClass="entr" presetSubtype="0" fill="hold" nodeType="withEffect">
                  <p:stCondLst>
                    <p:cond delay="1200"/>
                  </p:stCondLst>
                  <p:childTnLst>
                    <p:set>
                      <p:cBhvr>
                        <p:cTn dur="1" fill="hold">
                          <p:stCondLst>
                            <p:cond delay="0"/>
                          </p:stCondLst>
                        </p:cTn>
                        <p:tgtEl>
                          <p:spTgt spid="17"/>
                        </p:tgtEl>
                        <p:attrNameLst>
                          <p:attrName>style.visibility</p:attrName>
                        </p:attrNameLst>
                      </p:cBhvr>
                      <p:to>
                        <p:strVal val="visible"/>
                      </p:to>
                    </p:se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or Important Statement">
    <p:bg>
      <p:bgPr>
        <a:gradFill flip="none" rotWithShape="1">
          <a:gsLst>
            <a:gs pos="0">
              <a:schemeClr val="accent1">
                <a:lumMod val="5000"/>
                <a:lumOff val="95000"/>
              </a:schemeClr>
            </a:gs>
            <a:gs pos="38000">
              <a:schemeClr val="accent2"/>
            </a:gs>
            <a:gs pos="76000">
              <a:schemeClr val="accent2">
                <a:lumMod val="20000"/>
                <a:lumOff val="80000"/>
              </a:schemeClr>
            </a:gs>
            <a:gs pos="62000">
              <a:schemeClr val="accent2">
                <a:lumMod val="40000"/>
                <a:lumOff val="60000"/>
              </a:schemeClr>
            </a:gs>
            <a:gs pos="90000">
              <a:schemeClr val="accent2">
                <a:lumMod val="5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8C181E-68C2-674D-B0F7-27F515BB252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6" name="Text Placeholder 5">
            <a:extLst>
              <a:ext uri="{FF2B5EF4-FFF2-40B4-BE49-F238E27FC236}">
                <a16:creationId xmlns:a16="http://schemas.microsoft.com/office/drawing/2014/main" id="{85365446-4B13-6043-A402-9D36961BC5B4}"/>
              </a:ext>
            </a:extLst>
          </p:cNvPr>
          <p:cNvSpPr>
            <a:spLocks noGrp="1"/>
          </p:cNvSpPr>
          <p:nvPr>
            <p:ph type="body" sz="quarter" idx="11" hasCustomPrompt="1"/>
          </p:nvPr>
        </p:nvSpPr>
        <p:spPr>
          <a:xfrm>
            <a:off x="841248" y="987552"/>
            <a:ext cx="10351008" cy="4700015"/>
          </a:xfrm>
        </p:spPr>
        <p:txBody>
          <a:bodyPr>
            <a:normAutofit/>
          </a:bodyPr>
          <a:lstStyle>
            <a:lvl1pPr marL="0" indent="0" algn="ctr">
              <a:buNone/>
              <a:defRPr sz="5400" b="1" i="1">
                <a:ln>
                  <a:solidFill>
                    <a:sysClr val="windowText" lastClr="000000"/>
                  </a:solidFill>
                </a:ln>
                <a:solidFill>
                  <a:schemeClr val="bg1"/>
                </a:solidFill>
                <a:latin typeface="Stone Sans" pitchFamily="2" charset="0"/>
              </a:defRPr>
            </a:lvl1pPr>
            <a:lvl2pPr marL="457200" indent="0">
              <a:buNone/>
              <a:defRPr sz="4800" b="1" i="0">
                <a:ln>
                  <a:solidFill>
                    <a:sysClr val="windowText" lastClr="000000"/>
                  </a:solidFill>
                </a:ln>
                <a:solidFill>
                  <a:schemeClr val="bg1"/>
                </a:solidFill>
                <a:latin typeface="Stone Sans Semi Bold" pitchFamily="2" charset="0"/>
              </a:defRPr>
            </a:lvl2pPr>
            <a:lvl3pPr marL="914400" indent="0">
              <a:buNone/>
              <a:defRPr sz="4400" b="1" i="0">
                <a:ln>
                  <a:solidFill>
                    <a:sysClr val="windowText" lastClr="000000"/>
                  </a:solidFill>
                </a:ln>
                <a:solidFill>
                  <a:schemeClr val="bg1"/>
                </a:solidFill>
                <a:latin typeface="Stone Sans Semi Bold" pitchFamily="2" charset="0"/>
              </a:defRPr>
            </a:lvl3pPr>
            <a:lvl4pPr marL="1371600" indent="0">
              <a:buNone/>
              <a:defRPr sz="4000" b="1" i="0">
                <a:ln>
                  <a:solidFill>
                    <a:sysClr val="windowText" lastClr="000000"/>
                  </a:solidFill>
                </a:ln>
                <a:solidFill>
                  <a:schemeClr val="bg1"/>
                </a:solidFill>
                <a:latin typeface="Stone Sans Semi Bold" pitchFamily="2" charset="0"/>
              </a:defRPr>
            </a:lvl4pPr>
            <a:lvl5pPr marL="1828800" indent="0">
              <a:buNone/>
              <a:defRPr sz="4000" b="1" i="0">
                <a:ln>
                  <a:solidFill>
                    <a:sysClr val="windowText" lastClr="000000"/>
                  </a:solidFill>
                </a:ln>
                <a:solidFill>
                  <a:schemeClr val="bg1"/>
                </a:solidFill>
                <a:latin typeface="Stone Sans Semi Bold" pitchFamily="2" charset="0"/>
              </a:defRPr>
            </a:lvl5pPr>
          </a:lstStyle>
          <a:p>
            <a:pPr lvl="0"/>
            <a:r>
              <a:rPr lang="en-US" dirty="0"/>
              <a:t>Quote or important statement</a:t>
            </a:r>
          </a:p>
        </p:txBody>
      </p:sp>
    </p:spTree>
    <p:extLst>
      <p:ext uri="{BB962C8B-B14F-4D97-AF65-F5344CB8AC3E}">
        <p14:creationId xmlns:p14="http://schemas.microsoft.com/office/powerpoint/2010/main" val="3982752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4666EEEB-C914-A74E-86A1-6D8990F4D36F}"/>
              </a:ext>
            </a:extLst>
          </p:cNvPr>
          <p:cNvSpPr/>
          <p:nvPr userDrawn="1"/>
        </p:nvSpPr>
        <p:spPr>
          <a:xfrm>
            <a:off x="2327562" y="850034"/>
            <a:ext cx="3373582" cy="2189018"/>
          </a:xfrm>
          <a:prstGeom prst="flowChartAlternate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F463DE26-BBA2-E949-B1DF-9FEAA575A61B}"/>
              </a:ext>
            </a:extLst>
          </p:cNvPr>
          <p:cNvSpPr/>
          <p:nvPr userDrawn="1"/>
        </p:nvSpPr>
        <p:spPr>
          <a:xfrm>
            <a:off x="6096000" y="850034"/>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AA7FC81F-033C-2F42-93DF-9E1DEC14944E}"/>
              </a:ext>
            </a:extLst>
          </p:cNvPr>
          <p:cNvSpPr/>
          <p:nvPr userDrawn="1"/>
        </p:nvSpPr>
        <p:spPr>
          <a:xfrm>
            <a:off x="2327562" y="3387436"/>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8" name="Alternate Process 7">
            <a:extLst>
              <a:ext uri="{FF2B5EF4-FFF2-40B4-BE49-F238E27FC236}">
                <a16:creationId xmlns:a16="http://schemas.microsoft.com/office/drawing/2014/main" id="{BA435837-85DE-2540-8C77-CD287F6E3F4B}"/>
              </a:ext>
            </a:extLst>
          </p:cNvPr>
          <p:cNvSpPr/>
          <p:nvPr userDrawn="1"/>
        </p:nvSpPr>
        <p:spPr>
          <a:xfrm>
            <a:off x="6096000" y="3429000"/>
            <a:ext cx="3373582" cy="2189018"/>
          </a:xfrm>
          <a:prstGeom prst="flowChartAlternate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4" name="Content Placeholder 3">
            <a:extLst>
              <a:ext uri="{FF2B5EF4-FFF2-40B4-BE49-F238E27FC236}">
                <a16:creationId xmlns:a16="http://schemas.microsoft.com/office/drawing/2014/main" id="{A2C91DAC-3F4A-494B-A6AB-8E9DFAB9D3A4}"/>
              </a:ext>
            </a:extLst>
          </p:cNvPr>
          <p:cNvSpPr>
            <a:spLocks noGrp="1"/>
          </p:cNvSpPr>
          <p:nvPr>
            <p:ph sz="quarter" idx="11"/>
          </p:nvPr>
        </p:nvSpPr>
        <p:spPr>
          <a:xfrm>
            <a:off x="2667125" y="986172"/>
            <a:ext cx="2742949" cy="1829217"/>
          </a:xfrm>
        </p:spPr>
        <p:txBody>
          <a:bodyPr anchor="ctr"/>
          <a:lstStyle>
            <a:lvl1pPr marL="0" indent="0" algn="ctr">
              <a:buNone/>
              <a:defRPr/>
            </a:lvl1pPr>
          </a:lstStyle>
          <a:p>
            <a:pPr lvl="0"/>
            <a:r>
              <a:rPr lang="en-US"/>
              <a:t>Click to edit Master text styles</a:t>
            </a:r>
          </a:p>
        </p:txBody>
      </p:sp>
      <p:sp>
        <p:nvSpPr>
          <p:cNvPr id="10" name="Content Placeholder 9">
            <a:extLst>
              <a:ext uri="{FF2B5EF4-FFF2-40B4-BE49-F238E27FC236}">
                <a16:creationId xmlns:a16="http://schemas.microsoft.com/office/drawing/2014/main" id="{9C76BA22-3F87-DD49-B688-5E68CE02A060}"/>
              </a:ext>
            </a:extLst>
          </p:cNvPr>
          <p:cNvSpPr>
            <a:spLocks noGrp="1"/>
          </p:cNvSpPr>
          <p:nvPr>
            <p:ph sz="quarter" idx="12"/>
          </p:nvPr>
        </p:nvSpPr>
        <p:spPr>
          <a:xfrm>
            <a:off x="6414826" y="1006836"/>
            <a:ext cx="2735930" cy="1875414"/>
          </a:xfrm>
        </p:spPr>
        <p:txBody>
          <a:bodyPr anchor="ctr"/>
          <a:lstStyle>
            <a:lvl1pPr marL="0" indent="0" algn="ctr">
              <a:buNone/>
              <a:defRPr/>
            </a:lvl1pPr>
          </a:lstStyle>
          <a:p>
            <a:pPr lvl="0"/>
            <a:r>
              <a:rPr lang="en-US"/>
              <a:t>Click to edit Master text styles</a:t>
            </a:r>
          </a:p>
        </p:txBody>
      </p:sp>
      <p:sp>
        <p:nvSpPr>
          <p:cNvPr id="12" name="Content Placeholder 11">
            <a:extLst>
              <a:ext uri="{FF2B5EF4-FFF2-40B4-BE49-F238E27FC236}">
                <a16:creationId xmlns:a16="http://schemas.microsoft.com/office/drawing/2014/main" id="{1BCAA612-59BE-5E45-98CB-F57F83E71DEB}"/>
              </a:ext>
            </a:extLst>
          </p:cNvPr>
          <p:cNvSpPr>
            <a:spLocks noGrp="1"/>
          </p:cNvSpPr>
          <p:nvPr>
            <p:ph sz="quarter" idx="13"/>
          </p:nvPr>
        </p:nvSpPr>
        <p:spPr>
          <a:xfrm>
            <a:off x="2642816" y="3604563"/>
            <a:ext cx="2743074" cy="1837891"/>
          </a:xfrm>
        </p:spPr>
        <p:txBody>
          <a:bodyPr anchor="ctr"/>
          <a:lstStyle>
            <a:lvl1pPr marL="0" indent="0" algn="ctr">
              <a:buNone/>
              <a:defRPr/>
            </a:lvl1pPr>
          </a:lstStyle>
          <a:p>
            <a:pPr lvl="0"/>
            <a:r>
              <a:rPr lang="en-US"/>
              <a:t>Click to edit Master text styles</a:t>
            </a:r>
          </a:p>
        </p:txBody>
      </p:sp>
      <p:sp>
        <p:nvSpPr>
          <p:cNvPr id="13" name="Content Placeholder 11">
            <a:extLst>
              <a:ext uri="{FF2B5EF4-FFF2-40B4-BE49-F238E27FC236}">
                <a16:creationId xmlns:a16="http://schemas.microsoft.com/office/drawing/2014/main" id="{B9939F36-7AC5-974D-953E-FEEC0B20B312}"/>
              </a:ext>
            </a:extLst>
          </p:cNvPr>
          <p:cNvSpPr>
            <a:spLocks noGrp="1"/>
          </p:cNvSpPr>
          <p:nvPr>
            <p:ph sz="quarter" idx="14"/>
          </p:nvPr>
        </p:nvSpPr>
        <p:spPr>
          <a:xfrm>
            <a:off x="6414826" y="3636092"/>
            <a:ext cx="2743074" cy="1837891"/>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152828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childTnLst>
                </p:cTn>
              </p:par>
            </p:tnLst>
          </p:tmpl>
        </p:tmplLst>
      </p:bldP>
      <p:bldP spid="10"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2303315" y="1040356"/>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6199787" y="1017938"/>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rgbClr val="7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2618631" y="1201471"/>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6515103" y="1202851"/>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82568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616524" y="1046019"/>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4384962" y="1046019"/>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1DC68079-980D-2D49-84FF-E58DD0653228}"/>
              </a:ext>
            </a:extLst>
          </p:cNvPr>
          <p:cNvSpPr/>
          <p:nvPr userDrawn="1"/>
        </p:nvSpPr>
        <p:spPr>
          <a:xfrm>
            <a:off x="8153400" y="1046019"/>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931840" y="1225919"/>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4700278" y="1225919"/>
            <a:ext cx="2742949" cy="1829217"/>
          </a:xfrm>
        </p:spPr>
        <p:txBody>
          <a:bodyPr anchor="ctr"/>
          <a:lstStyle>
            <a:lvl1pPr marL="0" indent="0" algn="ctr">
              <a:buNone/>
              <a:defRPr/>
            </a:lvl1pPr>
          </a:lstStyle>
          <a:p>
            <a:pPr lvl="0"/>
            <a:r>
              <a:rPr lang="en-US"/>
              <a:t>Click to edit Master text styles</a:t>
            </a:r>
          </a:p>
        </p:txBody>
      </p:sp>
      <p:sp>
        <p:nvSpPr>
          <p:cNvPr id="13" name="Content Placeholder 3">
            <a:extLst>
              <a:ext uri="{FF2B5EF4-FFF2-40B4-BE49-F238E27FC236}">
                <a16:creationId xmlns:a16="http://schemas.microsoft.com/office/drawing/2014/main" id="{63793AE6-AD07-F145-8E5E-7F61BE48EA88}"/>
              </a:ext>
            </a:extLst>
          </p:cNvPr>
          <p:cNvSpPr>
            <a:spLocks noGrp="1"/>
          </p:cNvSpPr>
          <p:nvPr>
            <p:ph sz="quarter" idx="13"/>
          </p:nvPr>
        </p:nvSpPr>
        <p:spPr>
          <a:xfrm>
            <a:off x="8468716" y="1225918"/>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305430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nodePh="1">
                                  <p:stCondLst>
                                    <p:cond delay="0"/>
                                  </p:stCondLst>
                                  <p:endCondLst>
                                    <p:cond evt="begin" delay="0">
                                      <p:tn val="37"/>
                                    </p:cond>
                                  </p:endCondLst>
                                  <p:childTnLst>
                                    <p:set>
                                      <p:cBhvr>
                                        <p:cTn id="3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4099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DAB57A-5E76-4046-B847-5471D0283A8C}"/>
              </a:ext>
            </a:extLst>
          </p:cNvPr>
          <p:cNvPicPr>
            <a:picLocks noChangeAspect="1"/>
          </p:cNvPicPr>
          <p:nvPr userDrawn="1"/>
        </p:nvPicPr>
        <p:blipFill>
          <a:blip r:embed="rId2"/>
          <a:stretch>
            <a:fillRect/>
          </a:stretch>
        </p:blipFill>
        <p:spPr>
          <a:xfrm>
            <a:off x="10585714" y="5084118"/>
            <a:ext cx="1050776" cy="1511643"/>
          </a:xfrm>
          <a:prstGeom prst="rect">
            <a:avLst/>
          </a:prstGeom>
        </p:spPr>
      </p:pic>
      <p:pic>
        <p:nvPicPr>
          <p:cNvPr id="8" name="Picture 7">
            <a:extLst>
              <a:ext uri="{FF2B5EF4-FFF2-40B4-BE49-F238E27FC236}">
                <a16:creationId xmlns:a16="http://schemas.microsoft.com/office/drawing/2014/main" id="{6266A70D-49CF-084A-801F-3D7D157C7AD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331982" y="588513"/>
            <a:ext cx="9329614" cy="5113788"/>
          </a:xfrm>
          <a:prstGeom prst="rect">
            <a:avLst/>
          </a:prstGeom>
        </p:spPr>
      </p:pic>
      <p:sp>
        <p:nvSpPr>
          <p:cNvPr id="12" name="Right Arrow 11">
            <a:extLst>
              <a:ext uri="{FF2B5EF4-FFF2-40B4-BE49-F238E27FC236}">
                <a16:creationId xmlns:a16="http://schemas.microsoft.com/office/drawing/2014/main" id="{AC669AC9-358B-6F43-95BF-4C1B76F4AD42}"/>
              </a:ext>
            </a:extLst>
          </p:cNvPr>
          <p:cNvSpPr/>
          <p:nvPr userDrawn="1"/>
        </p:nvSpPr>
        <p:spPr>
          <a:xfrm rot="14242546">
            <a:off x="6937534" y="4067166"/>
            <a:ext cx="641131" cy="484632"/>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3702EA07-87FF-8342-BF5D-2C4CA89A01E8}"/>
              </a:ext>
            </a:extLst>
          </p:cNvPr>
          <p:cNvSpPr>
            <a:spLocks noGrp="1"/>
          </p:cNvSpPr>
          <p:nvPr>
            <p:ph type="body" sz="quarter" idx="10" hasCustomPrompt="1"/>
          </p:nvPr>
        </p:nvSpPr>
        <p:spPr>
          <a:xfrm>
            <a:off x="1689099" y="1117600"/>
            <a:ext cx="6751516" cy="3708400"/>
          </a:xfrm>
        </p:spPr>
        <p:txBody>
          <a:bodyPr/>
          <a:lstStyle/>
          <a:p>
            <a:pPr lvl="0"/>
            <a:r>
              <a:rPr lang="en-US" dirty="0"/>
              <a:t>In this demo, we will</a:t>
            </a:r>
          </a:p>
          <a:p>
            <a:pPr lvl="1"/>
            <a:r>
              <a:rPr lang="en-US" dirty="0"/>
              <a:t>Do this</a:t>
            </a:r>
          </a:p>
          <a:p>
            <a:pPr lvl="1"/>
            <a:r>
              <a:rPr lang="en-US" dirty="0"/>
              <a:t>Then we will do this</a:t>
            </a:r>
          </a:p>
          <a:p>
            <a:pPr lvl="1"/>
            <a:r>
              <a:rPr lang="en-US" dirty="0"/>
              <a:t>Then we will do this</a:t>
            </a:r>
          </a:p>
        </p:txBody>
      </p:sp>
      <p:sp>
        <p:nvSpPr>
          <p:cNvPr id="16" name="TextBox 15">
            <a:extLst>
              <a:ext uri="{FF2B5EF4-FFF2-40B4-BE49-F238E27FC236}">
                <a16:creationId xmlns:a16="http://schemas.microsoft.com/office/drawing/2014/main" id="{CC263BEA-0CAD-9B41-9F53-790FCB1C0629}"/>
              </a:ext>
            </a:extLst>
          </p:cNvPr>
          <p:cNvSpPr txBox="1"/>
          <p:nvPr userDrawn="1"/>
        </p:nvSpPr>
        <p:spPr>
          <a:xfrm>
            <a:off x="9314289" y="-1107996"/>
            <a:ext cx="2877711" cy="1107996"/>
          </a:xfrm>
          <a:prstGeom prst="rect">
            <a:avLst/>
          </a:prstGeom>
          <a:noFill/>
          <a:effectLst>
            <a:outerShdw blurRad="50800" dist="114300" dir="7020000" algn="t" rotWithShape="0">
              <a:prstClr val="black">
                <a:alpha val="40000"/>
              </a:prstClr>
            </a:outerShdw>
          </a:effectLst>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w="38100">
                  <a:solidFill>
                    <a:sysClr val="windowText" lastClr="000000"/>
                  </a:solidFill>
                </a:ln>
                <a:solidFill>
                  <a:schemeClr val="bg1"/>
                </a:solidFill>
                <a:effectLst/>
                <a:uLnTx/>
                <a:uFillTx/>
                <a:latin typeface="Stone Sans" pitchFamily="2" charset="0"/>
                <a:ea typeface="+mn-ea"/>
                <a:cs typeface="+mn-cs"/>
              </a:rPr>
              <a:t>Demo</a:t>
            </a:r>
            <a:endParaRPr lang="en-US" b="1" dirty="0">
              <a:ln w="38100">
                <a:solidFill>
                  <a:sysClr val="windowText" lastClr="000000"/>
                </a:solidFill>
              </a:ln>
              <a:solidFill>
                <a:schemeClr val="bg1"/>
              </a:solidFill>
              <a:latin typeface="Stone Sans" pitchFamily="2" charset="0"/>
            </a:endParaRPr>
          </a:p>
        </p:txBody>
      </p:sp>
    </p:spTree>
    <p:extLst>
      <p:ext uri="{BB962C8B-B14F-4D97-AF65-F5344CB8AC3E}">
        <p14:creationId xmlns:p14="http://schemas.microsoft.com/office/powerpoint/2010/main" val="139249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0325 -0.01273 C -0.03086 -0.06296 -0.06485 -0.11319 -0.07604 -0.16643 C -0.08711 -0.21991 -0.06354 -0.3331 -0.06354 -0.3331 L -0.06354 -0.3331 " pathEditMode="relative" ptsTypes="AAAA">
                                      <p:cBhvr>
                                        <p:cTn id="14" dur="2000" fill="hold"/>
                                        <p:tgtEl>
                                          <p:spTgt spid="6"/>
                                        </p:tgtEl>
                                        <p:attrNameLst>
                                          <p:attrName>ppt_x</p:attrName>
                                          <p:attrName>ppt_y</p:attrName>
                                        </p:attrNameLst>
                                      </p:cBhvr>
                                    </p:animMotion>
                                  </p:childTnLst>
                                </p:cTn>
                              </p:par>
                              <p:par>
                                <p:cTn id="15" presetID="42" presetClass="path" presetSubtype="0" accel="50000" decel="50000" fill="hold" grpId="0" nodeType="withEffect">
                                  <p:stCondLst>
                                    <p:cond delay="0"/>
                                  </p:stCondLst>
                                  <p:childTnLst>
                                    <p:animMotion origin="layout" path="M -1.04167E-6 -2.96296E-6 L -0.0862 0.29607 " pathEditMode="relative" rAng="0" ptsTypes="AA">
                                      <p:cBhvr>
                                        <p:cTn id="16" dur="1000" fill="hold"/>
                                        <p:tgtEl>
                                          <p:spTgt spid="16"/>
                                        </p:tgtEl>
                                        <p:attrNameLst>
                                          <p:attrName>ppt_x</p:attrName>
                                          <p:attrName>ppt_y</p:attrName>
                                        </p:attrNameLst>
                                      </p:cBhvr>
                                      <p:rCtr x="-4310" y="14792"/>
                                    </p:animMotion>
                                  </p:childTnLst>
                                </p:cTn>
                              </p:par>
                              <p:par>
                                <p:cTn id="17" presetID="0" presetClass="path" presetSubtype="0" accel="50000" decel="50000" fill="hold" grpId="1" nodeType="withEffect">
                                  <p:stCondLst>
                                    <p:cond delay="0"/>
                                  </p:stCondLst>
                                  <p:childTnLst>
                                    <p:animMotion origin="layout" path="M -2.5E-6 -7.40741E-7 C -0.1108 -0.00208 -0.22148 -0.00417 -0.29218 -0.05995 C -0.36302 -0.11597 -0.42474 -0.33565 -0.42474 -0.33542 L -0.42474 -0.33565 L -0.43073 -0.34491 " pathEditMode="relative" rAng="0" ptsTypes="AAAAA">
                                      <p:cBhvr>
                                        <p:cTn id="18" dur="2000" fill="hold"/>
                                        <p:tgtEl>
                                          <p:spTgt spid="12"/>
                                        </p:tgtEl>
                                        <p:attrNameLst>
                                          <p:attrName>ppt_x</p:attrName>
                                          <p:attrName>ppt_y</p:attrName>
                                        </p:attrNameLst>
                                      </p:cBhvr>
                                      <p:rCtr x="-21536" y="-17245"/>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2"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9" presetClass="entr" presetSubtype="0" fill="hold" grpId="0" nodeType="with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dissolve">
                                      <p:cBhvr>
                                        <p:cTn id="25" dur="500"/>
                                        <p:tgtEl>
                                          <p:spTgt spid="15">
                                            <p:txEl>
                                              <p:pRg st="0" end="0"/>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5">
                                            <p:txEl>
                                              <p:pRg st="1" end="1"/>
                                            </p:txEl>
                                          </p:spTgt>
                                        </p:tgtEl>
                                        <p:attrNameLst>
                                          <p:attrName>style.visibility</p:attrName>
                                        </p:attrNameLst>
                                      </p:cBhvr>
                                      <p:to>
                                        <p:strVal val="visible"/>
                                      </p:to>
                                    </p:set>
                                    <p:animEffect transition="in" filter="dissolve">
                                      <p:cBhvr>
                                        <p:cTn id="28" dur="500"/>
                                        <p:tgtEl>
                                          <p:spTgt spid="15">
                                            <p:txEl>
                                              <p:pRg st="1" end="1"/>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xEl>
                                              <p:pRg st="2" end="2"/>
                                            </p:txEl>
                                          </p:spTgt>
                                        </p:tgtEl>
                                        <p:attrNameLst>
                                          <p:attrName>style.visibility</p:attrName>
                                        </p:attrNameLst>
                                      </p:cBhvr>
                                      <p:to>
                                        <p:strVal val="visible"/>
                                      </p:to>
                                    </p:set>
                                    <p:animEffect transition="in" filter="dissolve">
                                      <p:cBhvr>
                                        <p:cTn id="31" dur="500"/>
                                        <p:tgtEl>
                                          <p:spTgt spid="15">
                                            <p:txEl>
                                              <p:pRg st="2" end="2"/>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xEl>
                                              <p:pRg st="3" end="3"/>
                                            </p:txEl>
                                          </p:spTgt>
                                        </p:tgtEl>
                                        <p:attrNameLst>
                                          <p:attrName>style.visibility</p:attrName>
                                        </p:attrNameLst>
                                      </p:cBhvr>
                                      <p:to>
                                        <p:strVal val="visible"/>
                                      </p:to>
                                    </p:set>
                                    <p:animEffect transition="in" filter="dissolve">
                                      <p:cBhvr>
                                        <p:cTn id="34"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15" grpId="0" build="p">
        <p:tmplLst>
          <p:tmpl lvl="1">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2">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3">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4">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5">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Lst>
      </p:bldP>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DA3064-0BC5-6341-8693-FA38D47F55EF}"/>
              </a:ext>
            </a:extLst>
          </p:cNvPr>
          <p:cNvSpPr/>
          <p:nvPr userDrawn="1"/>
        </p:nvSpPr>
        <p:spPr>
          <a:xfrm>
            <a:off x="7260771" y="-6858000"/>
            <a:ext cx="493122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51AF0E62-349B-044C-9C39-448784C3EFC8}"/>
              </a:ext>
            </a:extLst>
          </p:cNvPr>
          <p:cNvSpPr>
            <a:spLocks noGrp="1"/>
          </p:cNvSpPr>
          <p:nvPr>
            <p:ph type="body" sz="quarter" idx="10" hasCustomPrompt="1"/>
          </p:nvPr>
        </p:nvSpPr>
        <p:spPr>
          <a:xfrm>
            <a:off x="570932" y="1429521"/>
            <a:ext cx="6352382" cy="3253661"/>
          </a:xfrm>
        </p:spPr>
        <p:txBody>
          <a:bodyPr/>
          <a:lstStyle>
            <a:lvl1pPr marL="457200" indent="-457200">
              <a:buClr>
                <a:schemeClr val="accent2"/>
              </a:buClr>
              <a:buFont typeface=".Lucida Grande UI Regular"/>
              <a:buChar char="⇢"/>
              <a:defRPr/>
            </a:lvl1pPr>
            <a:lvl6pPr marL="2286000" indent="0">
              <a:buNone/>
              <a:defRPr/>
            </a:lvl6pPr>
          </a:lstStyle>
          <a:p>
            <a:pPr lvl="0"/>
            <a:r>
              <a:rPr lang="en-US" dirty="0"/>
              <a:t>We did this</a:t>
            </a:r>
          </a:p>
          <a:p>
            <a:pPr lvl="1"/>
            <a:r>
              <a:rPr lang="en-US" dirty="0"/>
              <a:t>You learned this</a:t>
            </a:r>
          </a:p>
          <a:p>
            <a:pPr lvl="1"/>
            <a:r>
              <a:rPr lang="en-US" dirty="0"/>
              <a:t>And this</a:t>
            </a:r>
          </a:p>
          <a:p>
            <a:pPr lvl="1"/>
            <a:r>
              <a:rPr lang="en-US" dirty="0"/>
              <a:t>And this</a:t>
            </a:r>
          </a:p>
          <a:p>
            <a:pPr lvl="0"/>
            <a:r>
              <a:rPr lang="en-US" dirty="0"/>
              <a:t>Then we did this</a:t>
            </a:r>
          </a:p>
        </p:txBody>
      </p:sp>
      <p:sp>
        <p:nvSpPr>
          <p:cNvPr id="9" name="TextBox 8">
            <a:extLst>
              <a:ext uri="{FF2B5EF4-FFF2-40B4-BE49-F238E27FC236}">
                <a16:creationId xmlns:a16="http://schemas.microsoft.com/office/drawing/2014/main" id="{1F4DAB06-EA61-1C4D-A7BF-71FBA7E00114}"/>
              </a:ext>
            </a:extLst>
          </p:cNvPr>
          <p:cNvSpPr txBox="1"/>
          <p:nvPr userDrawn="1"/>
        </p:nvSpPr>
        <p:spPr>
          <a:xfrm>
            <a:off x="570932" y="529389"/>
            <a:ext cx="2420856" cy="707886"/>
          </a:xfrm>
          <a:prstGeom prst="rect">
            <a:avLst/>
          </a:prstGeom>
          <a:noFill/>
        </p:spPr>
        <p:txBody>
          <a:bodyPr wrap="none" rtlCol="0">
            <a:spAutoFit/>
          </a:bodyPr>
          <a:lstStyle/>
          <a:p>
            <a:r>
              <a:rPr lang="en-US" sz="4000" dirty="0">
                <a:latin typeface="Stone Sans" pitchFamily="2" charset="0"/>
              </a:rPr>
              <a:t>Summary</a:t>
            </a:r>
          </a:p>
        </p:txBody>
      </p:sp>
      <p:pic>
        <p:nvPicPr>
          <p:cNvPr id="11" name="Picture 10">
            <a:extLst>
              <a:ext uri="{FF2B5EF4-FFF2-40B4-BE49-F238E27FC236}">
                <a16:creationId xmlns:a16="http://schemas.microsoft.com/office/drawing/2014/main" id="{010A892F-3493-CB44-922C-0256F802AD66}"/>
              </a:ext>
            </a:extLst>
          </p:cNvPr>
          <p:cNvPicPr>
            <a:picLocks noChangeAspect="1"/>
          </p:cNvPicPr>
          <p:nvPr userDrawn="1"/>
        </p:nvPicPr>
        <p:blipFill rotWithShape="1">
          <a:blip r:embed="rId2">
            <a:biLevel thresh="25000"/>
          </a:blip>
          <a:srcRect l="16200" t="6888" r="19901" b="6517"/>
          <a:stretch/>
        </p:blipFill>
        <p:spPr>
          <a:xfrm>
            <a:off x="7928126" y="883332"/>
            <a:ext cx="3596517" cy="4874044"/>
          </a:xfrm>
          <a:prstGeom prst="rect">
            <a:avLst/>
          </a:prstGeom>
        </p:spPr>
      </p:pic>
    </p:spTree>
    <p:extLst>
      <p:ext uri="{BB962C8B-B14F-4D97-AF65-F5344CB8AC3E}">
        <p14:creationId xmlns:p14="http://schemas.microsoft.com/office/powerpoint/2010/main" val="5005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3.54167E-6 0 L 0.00221 1 " pathEditMode="relative" rAng="0" ptsTypes="AA">
                                      <p:cBhvr>
                                        <p:cTn id="6" dur="1000" fill="hold"/>
                                        <p:tgtEl>
                                          <p:spTgt spid="4"/>
                                        </p:tgtEl>
                                        <p:attrNameLst>
                                          <p:attrName>ppt_x</p:attrName>
                                          <p:attrName>ppt_y</p:attrName>
                                        </p:attrNameLst>
                                      </p:cBhvr>
                                      <p:rCtr x="104" y="5000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uiExpand="1" build="p">
        <p:tmplLst>
          <p:tmpl lvl="1">
            <p:tnLst>
              <p:par>
                <p:cTn presetID="1" presetClass="entr" presetSubtype="0" fill="hold" nodeType="click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2E19B4-3731-4743-9266-D142274C8872}"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2922E-BF49-9042-B549-76BC26252B26}" type="slidenum">
              <a:rPr lang="en-US" smtClean="0"/>
              <a:t>‹#›</a:t>
            </a:fld>
            <a:endParaRPr lang="en-US"/>
          </a:p>
        </p:txBody>
      </p:sp>
    </p:spTree>
    <p:extLst>
      <p:ext uri="{BB962C8B-B14F-4D97-AF65-F5344CB8AC3E}">
        <p14:creationId xmlns:p14="http://schemas.microsoft.com/office/powerpoint/2010/main" val="887390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6">
            <a:extLst>
              <a:ext uri="{FF2B5EF4-FFF2-40B4-BE49-F238E27FC236}">
                <a16:creationId xmlns:a16="http://schemas.microsoft.com/office/drawing/2014/main" id="{F9B55F9A-D3D4-D042-B158-D3D578A5A2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D9443153-ACD1-A540-900E-174F275D5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Adam Frisbee, </a:t>
            </a:r>
            <a:r>
              <a:rPr lang="en-US" dirty="0" err="1"/>
              <a:t>adamfrisbee.com</a:t>
            </a:r>
            <a:r>
              <a:rPr lang="en-US" dirty="0"/>
              <a:t>, @</a:t>
            </a:r>
            <a:r>
              <a:rPr lang="en-US" dirty="0" err="1"/>
              <a:t>adam_frisbee</a:t>
            </a:r>
            <a:endParaRPr lang="en-US" dirty="0"/>
          </a:p>
        </p:txBody>
      </p:sp>
    </p:spTree>
    <p:extLst>
      <p:ext uri="{BB962C8B-B14F-4D97-AF65-F5344CB8AC3E}">
        <p14:creationId xmlns:p14="http://schemas.microsoft.com/office/powerpoint/2010/main" val="1391239520"/>
      </p:ext>
    </p:extLst>
  </p:cSld>
  <p:clrMap bg1="lt1" tx1="dk1" bg2="lt2" tx2="dk2" accent1="accent1" accent2="accent2" accent3="accent3" accent4="accent4" accent5="accent5" accent6="accent6" hlink="hlink" folHlink="folHlink"/>
  <p:sldLayoutIdLst>
    <p:sldLayoutId id="2147483663" r:id="rId1"/>
    <p:sldLayoutId id="2147483649" r:id="rId2"/>
    <p:sldLayoutId id="2147483666" r:id="rId3"/>
    <p:sldLayoutId id="2147483659" r:id="rId4"/>
    <p:sldLayoutId id="2147483652" r:id="rId5"/>
    <p:sldLayoutId id="2147483655" r:id="rId6"/>
    <p:sldLayoutId id="2147483662" r:id="rId7"/>
    <p:sldLayoutId id="2147483658" r:id="rId8"/>
    <p:sldLayoutId id="2147483667" r:id="rId9"/>
    <p:sldLayoutId id="2147483657" r:id="rId10"/>
    <p:sldLayoutId id="2147483660" r:id="rId11"/>
    <p:sldLayoutId id="2147483664" r:id="rId12"/>
    <p:sldLayoutId id="2147483665" r:id="rId13"/>
    <p:sldLayoutId id="2147483668" r:id="rId14"/>
  </p:sldLayoutIdLst>
  <p:txStyles>
    <p:titleStyle>
      <a:lvl1pPr algn="l" defTabSz="914400" rtl="0" eaLnBrk="1" latinLnBrk="0" hangingPunct="1">
        <a:lnSpc>
          <a:spcPct val="90000"/>
        </a:lnSpc>
        <a:spcBef>
          <a:spcPct val="0"/>
        </a:spcBef>
        <a:buNone/>
        <a:defRPr sz="4400" kern="1200">
          <a:solidFill>
            <a:schemeClr val="tx1"/>
          </a:solidFill>
          <a:latin typeface="Stone Sans" pitchFamily="2" charset="0"/>
          <a:ea typeface="+mj-ea"/>
          <a:cs typeface="+mj-cs"/>
        </a:defRPr>
      </a:lvl1pPr>
    </p:titleStyle>
    <p:bodyStyle>
      <a:lvl1pPr marL="457200" indent="-457200" algn="l" defTabSz="914400" rtl="0" eaLnBrk="1" latinLnBrk="0" hangingPunct="1">
        <a:lnSpc>
          <a:spcPct val="90000"/>
        </a:lnSpc>
        <a:spcBef>
          <a:spcPts val="1000"/>
        </a:spcBef>
        <a:buClr>
          <a:schemeClr val="accent2"/>
        </a:buClr>
        <a:buFont typeface=".Lucida Grande UI Regular"/>
        <a:buChar char="⇢"/>
        <a:defRPr sz="2800" kern="1200">
          <a:solidFill>
            <a:schemeClr val="tx1"/>
          </a:solidFill>
          <a:latin typeface="Oxygen" panose="02000503000000000000" pitchFamily="2" charset="77"/>
          <a:ea typeface="+mn-ea"/>
          <a:cs typeface="+mn-cs"/>
        </a:defRPr>
      </a:lvl1pPr>
      <a:lvl2pPr marL="685800" indent="-228600" algn="l" defTabSz="914400" rtl="0" eaLnBrk="1" latinLnBrk="0" hangingPunct="1">
        <a:lnSpc>
          <a:spcPct val="90000"/>
        </a:lnSpc>
        <a:spcBef>
          <a:spcPts val="500"/>
        </a:spcBef>
        <a:buClr>
          <a:schemeClr val="accent5"/>
        </a:buClr>
        <a:buFont typeface=".Lucida Grande UI Regular"/>
        <a:buChar char="⇢"/>
        <a:defRPr sz="2400" kern="1200">
          <a:solidFill>
            <a:schemeClr val="tx1"/>
          </a:solidFill>
          <a:latin typeface="Oxygen" panose="02000503000000000000" pitchFamily="2" charset="77"/>
          <a:ea typeface="+mn-ea"/>
          <a:cs typeface="+mn-cs"/>
        </a:defRPr>
      </a:lvl2pPr>
      <a:lvl3pPr marL="1143000" indent="-228600" algn="l" defTabSz="914400" rtl="0" eaLnBrk="1" latinLnBrk="0" hangingPunct="1">
        <a:lnSpc>
          <a:spcPct val="90000"/>
        </a:lnSpc>
        <a:spcBef>
          <a:spcPts val="500"/>
        </a:spcBef>
        <a:buClr>
          <a:schemeClr val="accent5"/>
        </a:buClr>
        <a:buFont typeface=".Lucida Grande UI Regular"/>
        <a:buChar char="⇢"/>
        <a:defRPr sz="2000" kern="1200">
          <a:solidFill>
            <a:schemeClr val="tx1"/>
          </a:solidFill>
          <a:latin typeface="Oxygen" panose="02000503000000000000" pitchFamily="2" charset="77"/>
          <a:ea typeface="+mn-ea"/>
          <a:cs typeface="+mn-cs"/>
        </a:defRPr>
      </a:lvl3pPr>
      <a:lvl4pPr marL="16002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4pPr>
      <a:lvl5pPr marL="20574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17.png"/><Relationship Id="rId10" Type="http://schemas.openxmlformats.org/officeDocument/2006/relationships/image" Target="../media/image11.png"/><Relationship Id="rId4" Type="http://schemas.openxmlformats.org/officeDocument/2006/relationships/image" Target="../media/image16.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8.png"/><Relationship Id="rId12"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9.png"/><Relationship Id="rId11" Type="http://schemas.openxmlformats.org/officeDocument/2006/relationships/image" Target="../media/image12.png"/><Relationship Id="rId5" Type="http://schemas.openxmlformats.org/officeDocument/2006/relationships/image" Target="../media/image17.png"/><Relationship Id="rId10" Type="http://schemas.openxmlformats.org/officeDocument/2006/relationships/image" Target="../media/image13.png"/><Relationship Id="rId4" Type="http://schemas.openxmlformats.org/officeDocument/2006/relationships/image" Target="../media/image16.png"/><Relationship Id="rId9" Type="http://schemas.openxmlformats.org/officeDocument/2006/relationships/image" Target="../media/image10.png"/><Relationship Id="rId14" Type="http://schemas.openxmlformats.org/officeDocument/2006/relationships/image" Target="../media/image2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15.png"/><Relationship Id="rId11" Type="http://schemas.openxmlformats.org/officeDocument/2006/relationships/image" Target="../media/image27.sv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16.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sv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33.pn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7C5485-6A45-8D49-97A1-B99133C9CFEA}"/>
              </a:ext>
            </a:extLst>
          </p:cNvPr>
          <p:cNvSpPr>
            <a:spLocks noGrp="1"/>
          </p:cNvSpPr>
          <p:nvPr>
            <p:ph idx="1"/>
          </p:nvPr>
        </p:nvSpPr>
        <p:spPr/>
        <p:txBody>
          <a:bodyPr/>
          <a:lstStyle/>
          <a:p>
            <a:r>
              <a:rPr lang="en-US" dirty="0"/>
              <a:t>The Splunk data pipeline</a:t>
            </a:r>
          </a:p>
          <a:p>
            <a:r>
              <a:rPr lang="en-US" dirty="0"/>
              <a:t>Deployment models with Splunk’s Validated Architecture</a:t>
            </a:r>
          </a:p>
          <a:p>
            <a:r>
              <a:rPr lang="en-US" dirty="0"/>
              <a:t>Storing data on disk</a:t>
            </a:r>
          </a:p>
          <a:p>
            <a:r>
              <a:rPr lang="en-US" dirty="0"/>
              <a:t>Licensing</a:t>
            </a:r>
          </a:p>
          <a:p>
            <a:r>
              <a:rPr lang="en-US" dirty="0"/>
              <a:t>Configuration files</a:t>
            </a:r>
          </a:p>
          <a:p>
            <a:r>
              <a:rPr lang="en-US" dirty="0"/>
              <a:t>Apps and add-ons</a:t>
            </a:r>
          </a:p>
        </p:txBody>
      </p:sp>
      <p:sp>
        <p:nvSpPr>
          <p:cNvPr id="3" name="Title 2">
            <a:extLst>
              <a:ext uri="{FF2B5EF4-FFF2-40B4-BE49-F238E27FC236}">
                <a16:creationId xmlns:a16="http://schemas.microsoft.com/office/drawing/2014/main" id="{38C57CE4-C061-0543-AB12-F7C496D36E22}"/>
              </a:ext>
            </a:extLst>
          </p:cNvPr>
          <p:cNvSpPr>
            <a:spLocks noGrp="1"/>
          </p:cNvSpPr>
          <p:nvPr>
            <p:ph type="title"/>
          </p:nvPr>
        </p:nvSpPr>
        <p:spPr/>
        <p:txBody>
          <a:bodyPr/>
          <a:lstStyle/>
          <a:p>
            <a:r>
              <a:rPr lang="en-US" dirty="0"/>
              <a:t>Deploying Splunk</a:t>
            </a:r>
          </a:p>
        </p:txBody>
      </p:sp>
    </p:spTree>
    <p:extLst>
      <p:ext uri="{BB962C8B-B14F-4D97-AF65-F5344CB8AC3E}">
        <p14:creationId xmlns:p14="http://schemas.microsoft.com/office/powerpoint/2010/main" val="1046259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6EE12-8E7E-B1C7-1009-6E51F0B26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FF35E-00C3-8856-0FF8-F7759968F636}"/>
              </a:ext>
            </a:extLst>
          </p:cNvPr>
          <p:cNvSpPr>
            <a:spLocks noGrp="1"/>
          </p:cNvSpPr>
          <p:nvPr>
            <p:ph type="ctrTitle"/>
          </p:nvPr>
        </p:nvSpPr>
        <p:spPr/>
        <p:txBody>
          <a:bodyPr/>
          <a:lstStyle/>
          <a:p>
            <a:r>
              <a:rPr lang="en-US" dirty="0"/>
              <a:t>The Splunk Data Pipeline</a:t>
            </a:r>
          </a:p>
        </p:txBody>
      </p:sp>
    </p:spTree>
    <p:extLst>
      <p:ext uri="{BB962C8B-B14F-4D97-AF65-F5344CB8AC3E}">
        <p14:creationId xmlns:p14="http://schemas.microsoft.com/office/powerpoint/2010/main" val="171500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8181-B6D6-1841-BA43-4053B28857AC}"/>
              </a:ext>
            </a:extLst>
          </p:cNvPr>
          <p:cNvSpPr>
            <a:spLocks noGrp="1"/>
          </p:cNvSpPr>
          <p:nvPr>
            <p:ph type="title"/>
          </p:nvPr>
        </p:nvSpPr>
        <p:spPr/>
        <p:txBody>
          <a:bodyPr/>
          <a:lstStyle/>
          <a:p>
            <a:r>
              <a:rPr lang="en-US" dirty="0"/>
              <a:t>The Splunk Data Pipeline</a:t>
            </a:r>
          </a:p>
        </p:txBody>
      </p:sp>
      <p:grpSp>
        <p:nvGrpSpPr>
          <p:cNvPr id="13" name="Group 12">
            <a:extLst>
              <a:ext uri="{FF2B5EF4-FFF2-40B4-BE49-F238E27FC236}">
                <a16:creationId xmlns:a16="http://schemas.microsoft.com/office/drawing/2014/main" id="{1DB10FEC-29A6-EDB8-C293-6F1F9CCC9A23}"/>
              </a:ext>
            </a:extLst>
          </p:cNvPr>
          <p:cNvGrpSpPr/>
          <p:nvPr/>
        </p:nvGrpSpPr>
        <p:grpSpPr>
          <a:xfrm>
            <a:off x="838200" y="1725765"/>
            <a:ext cx="10515600" cy="1031130"/>
            <a:chOff x="838200" y="1725765"/>
            <a:chExt cx="10515600" cy="1031130"/>
          </a:xfrm>
        </p:grpSpPr>
        <p:sp>
          <p:nvSpPr>
            <p:cNvPr id="5" name="Freeform: Shape 4">
              <a:extLst>
                <a:ext uri="{FF2B5EF4-FFF2-40B4-BE49-F238E27FC236}">
                  <a16:creationId xmlns:a16="http://schemas.microsoft.com/office/drawing/2014/main" id="{F6221941-5F1E-CC53-299B-E95C83E0E778}"/>
                </a:ext>
              </a:extLst>
            </p:cNvPr>
            <p:cNvSpPr/>
            <p:nvPr/>
          </p:nvSpPr>
          <p:spPr>
            <a:xfrm>
              <a:off x="838200" y="1991445"/>
              <a:ext cx="10515600" cy="765450"/>
            </a:xfrm>
            <a:custGeom>
              <a:avLst/>
              <a:gdLst>
                <a:gd name="connsiteX0" fmla="*/ 0 w 10515600"/>
                <a:gd name="connsiteY0" fmla="*/ 0 h 765450"/>
                <a:gd name="connsiteX1" fmla="*/ 10515600 w 10515600"/>
                <a:gd name="connsiteY1" fmla="*/ 0 h 765450"/>
                <a:gd name="connsiteX2" fmla="*/ 10515600 w 10515600"/>
                <a:gd name="connsiteY2" fmla="*/ 765450 h 765450"/>
                <a:gd name="connsiteX3" fmla="*/ 0 w 10515600"/>
                <a:gd name="connsiteY3" fmla="*/ 765450 h 765450"/>
                <a:gd name="connsiteX4" fmla="*/ 0 w 10515600"/>
                <a:gd name="connsiteY4" fmla="*/ 0 h 765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65450">
                  <a:moveTo>
                    <a:pt x="0" y="0"/>
                  </a:moveTo>
                  <a:lnTo>
                    <a:pt x="10515600" y="0"/>
                  </a:lnTo>
                  <a:lnTo>
                    <a:pt x="10515600" y="765450"/>
                  </a:lnTo>
                  <a:lnTo>
                    <a:pt x="0" y="765450"/>
                  </a:lnTo>
                  <a:lnTo>
                    <a:pt x="0" y="0"/>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Forwarded data, uploaded data, network data, scripts</a:t>
              </a:r>
            </a:p>
          </p:txBody>
        </p:sp>
        <p:sp>
          <p:nvSpPr>
            <p:cNvPr id="6" name="Freeform: Shape 5">
              <a:extLst>
                <a:ext uri="{FF2B5EF4-FFF2-40B4-BE49-F238E27FC236}">
                  <a16:creationId xmlns:a16="http://schemas.microsoft.com/office/drawing/2014/main" id="{5BDFE2CA-31A4-6850-E4FF-2BEA731ACD77}"/>
                </a:ext>
              </a:extLst>
            </p:cNvPr>
            <p:cNvSpPr/>
            <p:nvPr/>
          </p:nvSpPr>
          <p:spPr>
            <a:xfrm>
              <a:off x="1363980" y="1725765"/>
              <a:ext cx="7360920" cy="531360"/>
            </a:xfrm>
            <a:custGeom>
              <a:avLst/>
              <a:gdLst>
                <a:gd name="connsiteX0" fmla="*/ 0 w 7360920"/>
                <a:gd name="connsiteY0" fmla="*/ 88562 h 531360"/>
                <a:gd name="connsiteX1" fmla="*/ 88562 w 7360920"/>
                <a:gd name="connsiteY1" fmla="*/ 0 h 531360"/>
                <a:gd name="connsiteX2" fmla="*/ 7272358 w 7360920"/>
                <a:gd name="connsiteY2" fmla="*/ 0 h 531360"/>
                <a:gd name="connsiteX3" fmla="*/ 7360920 w 7360920"/>
                <a:gd name="connsiteY3" fmla="*/ 88562 h 531360"/>
                <a:gd name="connsiteX4" fmla="*/ 7360920 w 7360920"/>
                <a:gd name="connsiteY4" fmla="*/ 442798 h 531360"/>
                <a:gd name="connsiteX5" fmla="*/ 7272358 w 7360920"/>
                <a:gd name="connsiteY5" fmla="*/ 531360 h 531360"/>
                <a:gd name="connsiteX6" fmla="*/ 88562 w 7360920"/>
                <a:gd name="connsiteY6" fmla="*/ 531360 h 531360"/>
                <a:gd name="connsiteX7" fmla="*/ 0 w 7360920"/>
                <a:gd name="connsiteY7" fmla="*/ 442798 h 531360"/>
                <a:gd name="connsiteX8" fmla="*/ 0 w 736092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60920" h="531360">
                  <a:moveTo>
                    <a:pt x="0" y="88562"/>
                  </a:moveTo>
                  <a:cubicBezTo>
                    <a:pt x="0" y="39651"/>
                    <a:pt x="39651" y="0"/>
                    <a:pt x="88562" y="0"/>
                  </a:cubicBezTo>
                  <a:lnTo>
                    <a:pt x="7272358" y="0"/>
                  </a:lnTo>
                  <a:cubicBezTo>
                    <a:pt x="7321269" y="0"/>
                    <a:pt x="7360920" y="39651"/>
                    <a:pt x="7360920" y="88562"/>
                  </a:cubicBezTo>
                  <a:lnTo>
                    <a:pt x="7360920" y="442798"/>
                  </a:lnTo>
                  <a:cubicBezTo>
                    <a:pt x="7360920" y="491709"/>
                    <a:pt x="7321269" y="531360"/>
                    <a:pt x="727235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04164" tIns="25939" rIns="304164" bIns="25939" numCol="1" spcCol="1270" anchor="ctr" anchorCtr="0">
              <a:noAutofit/>
            </a:bodyPr>
            <a:lstStyle/>
            <a:p>
              <a:pPr marL="0" lvl="0" indent="0" algn="l" defTabSz="800100">
                <a:lnSpc>
                  <a:spcPct val="90000"/>
                </a:lnSpc>
                <a:spcBef>
                  <a:spcPct val="0"/>
                </a:spcBef>
                <a:spcAft>
                  <a:spcPct val="35000"/>
                </a:spcAft>
                <a:buNone/>
              </a:pPr>
              <a:r>
                <a:rPr lang="en-US" sz="1800" kern="1200" dirty="0"/>
                <a:t>Input</a:t>
              </a:r>
            </a:p>
          </p:txBody>
        </p:sp>
      </p:grpSp>
      <p:grpSp>
        <p:nvGrpSpPr>
          <p:cNvPr id="14" name="Group 13">
            <a:extLst>
              <a:ext uri="{FF2B5EF4-FFF2-40B4-BE49-F238E27FC236}">
                <a16:creationId xmlns:a16="http://schemas.microsoft.com/office/drawing/2014/main" id="{D9D40252-35C3-64F6-46A7-B264B9080E51}"/>
              </a:ext>
            </a:extLst>
          </p:cNvPr>
          <p:cNvGrpSpPr/>
          <p:nvPr/>
        </p:nvGrpSpPr>
        <p:grpSpPr>
          <a:xfrm>
            <a:off x="838200" y="2854095"/>
            <a:ext cx="10515600" cy="1031130"/>
            <a:chOff x="838200" y="2854095"/>
            <a:chExt cx="10515600" cy="1031130"/>
          </a:xfrm>
        </p:grpSpPr>
        <p:sp>
          <p:nvSpPr>
            <p:cNvPr id="7" name="Freeform: Shape 6">
              <a:extLst>
                <a:ext uri="{FF2B5EF4-FFF2-40B4-BE49-F238E27FC236}">
                  <a16:creationId xmlns:a16="http://schemas.microsoft.com/office/drawing/2014/main" id="{307B5289-D31C-DE2F-67D4-04F5353F4BD3}"/>
                </a:ext>
              </a:extLst>
            </p:cNvPr>
            <p:cNvSpPr/>
            <p:nvPr/>
          </p:nvSpPr>
          <p:spPr>
            <a:xfrm>
              <a:off x="838200" y="3119775"/>
              <a:ext cx="10515600" cy="765450"/>
            </a:xfrm>
            <a:custGeom>
              <a:avLst/>
              <a:gdLst>
                <a:gd name="connsiteX0" fmla="*/ 0 w 10515600"/>
                <a:gd name="connsiteY0" fmla="*/ 0 h 765450"/>
                <a:gd name="connsiteX1" fmla="*/ 10515600 w 10515600"/>
                <a:gd name="connsiteY1" fmla="*/ 0 h 765450"/>
                <a:gd name="connsiteX2" fmla="*/ 10515600 w 10515600"/>
                <a:gd name="connsiteY2" fmla="*/ 765450 h 765450"/>
                <a:gd name="connsiteX3" fmla="*/ 0 w 10515600"/>
                <a:gd name="connsiteY3" fmla="*/ 765450 h 765450"/>
                <a:gd name="connsiteX4" fmla="*/ 0 w 10515600"/>
                <a:gd name="connsiteY4" fmla="*/ 0 h 765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65450">
                  <a:moveTo>
                    <a:pt x="0" y="0"/>
                  </a:moveTo>
                  <a:lnTo>
                    <a:pt x="10515600" y="0"/>
                  </a:lnTo>
                  <a:lnTo>
                    <a:pt x="10515600" y="765450"/>
                  </a:lnTo>
                  <a:lnTo>
                    <a:pt x="0" y="765450"/>
                  </a:lnTo>
                  <a:lnTo>
                    <a:pt x="0" y="0"/>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Examines the data, adds metadata</a:t>
              </a:r>
            </a:p>
          </p:txBody>
        </p:sp>
        <p:sp>
          <p:nvSpPr>
            <p:cNvPr id="8" name="Freeform: Shape 7">
              <a:extLst>
                <a:ext uri="{FF2B5EF4-FFF2-40B4-BE49-F238E27FC236}">
                  <a16:creationId xmlns:a16="http://schemas.microsoft.com/office/drawing/2014/main" id="{FA80CC11-EE52-DE02-BBF1-D0630D231628}"/>
                </a:ext>
              </a:extLst>
            </p:cNvPr>
            <p:cNvSpPr/>
            <p:nvPr/>
          </p:nvSpPr>
          <p:spPr>
            <a:xfrm>
              <a:off x="1363980" y="2854095"/>
              <a:ext cx="7360920" cy="531360"/>
            </a:xfrm>
            <a:custGeom>
              <a:avLst/>
              <a:gdLst>
                <a:gd name="connsiteX0" fmla="*/ 0 w 7360920"/>
                <a:gd name="connsiteY0" fmla="*/ 88562 h 531360"/>
                <a:gd name="connsiteX1" fmla="*/ 88562 w 7360920"/>
                <a:gd name="connsiteY1" fmla="*/ 0 h 531360"/>
                <a:gd name="connsiteX2" fmla="*/ 7272358 w 7360920"/>
                <a:gd name="connsiteY2" fmla="*/ 0 h 531360"/>
                <a:gd name="connsiteX3" fmla="*/ 7360920 w 7360920"/>
                <a:gd name="connsiteY3" fmla="*/ 88562 h 531360"/>
                <a:gd name="connsiteX4" fmla="*/ 7360920 w 7360920"/>
                <a:gd name="connsiteY4" fmla="*/ 442798 h 531360"/>
                <a:gd name="connsiteX5" fmla="*/ 7272358 w 7360920"/>
                <a:gd name="connsiteY5" fmla="*/ 531360 h 531360"/>
                <a:gd name="connsiteX6" fmla="*/ 88562 w 7360920"/>
                <a:gd name="connsiteY6" fmla="*/ 531360 h 531360"/>
                <a:gd name="connsiteX7" fmla="*/ 0 w 7360920"/>
                <a:gd name="connsiteY7" fmla="*/ 442798 h 531360"/>
                <a:gd name="connsiteX8" fmla="*/ 0 w 736092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60920" h="531360">
                  <a:moveTo>
                    <a:pt x="0" y="88562"/>
                  </a:moveTo>
                  <a:cubicBezTo>
                    <a:pt x="0" y="39651"/>
                    <a:pt x="39651" y="0"/>
                    <a:pt x="88562" y="0"/>
                  </a:cubicBezTo>
                  <a:lnTo>
                    <a:pt x="7272358" y="0"/>
                  </a:lnTo>
                  <a:cubicBezTo>
                    <a:pt x="7321269" y="0"/>
                    <a:pt x="7360920" y="39651"/>
                    <a:pt x="7360920" y="88562"/>
                  </a:cubicBezTo>
                  <a:lnTo>
                    <a:pt x="7360920" y="442798"/>
                  </a:lnTo>
                  <a:cubicBezTo>
                    <a:pt x="7360920" y="491709"/>
                    <a:pt x="7321269" y="531360"/>
                    <a:pt x="727235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04164" tIns="25939" rIns="304164" bIns="25939" numCol="1" spcCol="1270" anchor="ctr" anchorCtr="0">
              <a:noAutofit/>
            </a:bodyPr>
            <a:lstStyle/>
            <a:p>
              <a:pPr marL="0" lvl="0" indent="0" algn="l" defTabSz="800100">
                <a:lnSpc>
                  <a:spcPct val="90000"/>
                </a:lnSpc>
                <a:spcBef>
                  <a:spcPct val="0"/>
                </a:spcBef>
                <a:spcAft>
                  <a:spcPct val="35000"/>
                </a:spcAft>
                <a:buNone/>
              </a:pPr>
              <a:r>
                <a:rPr lang="en-US" sz="1800" kern="1200" dirty="0"/>
                <a:t>Parsing</a:t>
              </a:r>
            </a:p>
          </p:txBody>
        </p:sp>
      </p:grpSp>
      <p:grpSp>
        <p:nvGrpSpPr>
          <p:cNvPr id="15" name="Group 14">
            <a:extLst>
              <a:ext uri="{FF2B5EF4-FFF2-40B4-BE49-F238E27FC236}">
                <a16:creationId xmlns:a16="http://schemas.microsoft.com/office/drawing/2014/main" id="{272AC72F-5F3E-F67E-C6B6-76C4244BB406}"/>
              </a:ext>
            </a:extLst>
          </p:cNvPr>
          <p:cNvGrpSpPr/>
          <p:nvPr/>
        </p:nvGrpSpPr>
        <p:grpSpPr>
          <a:xfrm>
            <a:off x="838200" y="3982425"/>
            <a:ext cx="10515600" cy="1031130"/>
            <a:chOff x="838200" y="3982425"/>
            <a:chExt cx="10515600" cy="1031130"/>
          </a:xfrm>
        </p:grpSpPr>
        <p:sp>
          <p:nvSpPr>
            <p:cNvPr id="9" name="Freeform: Shape 8">
              <a:extLst>
                <a:ext uri="{FF2B5EF4-FFF2-40B4-BE49-F238E27FC236}">
                  <a16:creationId xmlns:a16="http://schemas.microsoft.com/office/drawing/2014/main" id="{029E0C96-30B5-7413-76B9-236459762190}"/>
                </a:ext>
              </a:extLst>
            </p:cNvPr>
            <p:cNvSpPr/>
            <p:nvPr/>
          </p:nvSpPr>
          <p:spPr>
            <a:xfrm>
              <a:off x="838200" y="4248105"/>
              <a:ext cx="10515600" cy="765450"/>
            </a:xfrm>
            <a:custGeom>
              <a:avLst/>
              <a:gdLst>
                <a:gd name="connsiteX0" fmla="*/ 0 w 10515600"/>
                <a:gd name="connsiteY0" fmla="*/ 0 h 765450"/>
                <a:gd name="connsiteX1" fmla="*/ 10515600 w 10515600"/>
                <a:gd name="connsiteY1" fmla="*/ 0 h 765450"/>
                <a:gd name="connsiteX2" fmla="*/ 10515600 w 10515600"/>
                <a:gd name="connsiteY2" fmla="*/ 765450 h 765450"/>
                <a:gd name="connsiteX3" fmla="*/ 0 w 10515600"/>
                <a:gd name="connsiteY3" fmla="*/ 765450 h 765450"/>
                <a:gd name="connsiteX4" fmla="*/ 0 w 10515600"/>
                <a:gd name="connsiteY4" fmla="*/ 0 h 765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65450">
                  <a:moveTo>
                    <a:pt x="0" y="0"/>
                  </a:moveTo>
                  <a:lnTo>
                    <a:pt x="10515600" y="0"/>
                  </a:lnTo>
                  <a:lnTo>
                    <a:pt x="10515600" y="765450"/>
                  </a:lnTo>
                  <a:lnTo>
                    <a:pt x="0" y="765450"/>
                  </a:lnTo>
                  <a:lnTo>
                    <a:pt x="0" y="0"/>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Data divided into events. Writes the data to the disk in "buckets"</a:t>
              </a:r>
            </a:p>
          </p:txBody>
        </p:sp>
        <p:sp>
          <p:nvSpPr>
            <p:cNvPr id="10" name="Freeform: Shape 9">
              <a:extLst>
                <a:ext uri="{FF2B5EF4-FFF2-40B4-BE49-F238E27FC236}">
                  <a16:creationId xmlns:a16="http://schemas.microsoft.com/office/drawing/2014/main" id="{472A3133-322B-A472-7BE5-869660559C9C}"/>
                </a:ext>
              </a:extLst>
            </p:cNvPr>
            <p:cNvSpPr/>
            <p:nvPr/>
          </p:nvSpPr>
          <p:spPr>
            <a:xfrm>
              <a:off x="1363980" y="3982425"/>
              <a:ext cx="7360920" cy="531360"/>
            </a:xfrm>
            <a:custGeom>
              <a:avLst/>
              <a:gdLst>
                <a:gd name="connsiteX0" fmla="*/ 0 w 7360920"/>
                <a:gd name="connsiteY0" fmla="*/ 88562 h 531360"/>
                <a:gd name="connsiteX1" fmla="*/ 88562 w 7360920"/>
                <a:gd name="connsiteY1" fmla="*/ 0 h 531360"/>
                <a:gd name="connsiteX2" fmla="*/ 7272358 w 7360920"/>
                <a:gd name="connsiteY2" fmla="*/ 0 h 531360"/>
                <a:gd name="connsiteX3" fmla="*/ 7360920 w 7360920"/>
                <a:gd name="connsiteY3" fmla="*/ 88562 h 531360"/>
                <a:gd name="connsiteX4" fmla="*/ 7360920 w 7360920"/>
                <a:gd name="connsiteY4" fmla="*/ 442798 h 531360"/>
                <a:gd name="connsiteX5" fmla="*/ 7272358 w 7360920"/>
                <a:gd name="connsiteY5" fmla="*/ 531360 h 531360"/>
                <a:gd name="connsiteX6" fmla="*/ 88562 w 7360920"/>
                <a:gd name="connsiteY6" fmla="*/ 531360 h 531360"/>
                <a:gd name="connsiteX7" fmla="*/ 0 w 7360920"/>
                <a:gd name="connsiteY7" fmla="*/ 442798 h 531360"/>
                <a:gd name="connsiteX8" fmla="*/ 0 w 736092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60920" h="531360">
                  <a:moveTo>
                    <a:pt x="0" y="88562"/>
                  </a:moveTo>
                  <a:cubicBezTo>
                    <a:pt x="0" y="39651"/>
                    <a:pt x="39651" y="0"/>
                    <a:pt x="88562" y="0"/>
                  </a:cubicBezTo>
                  <a:lnTo>
                    <a:pt x="7272358" y="0"/>
                  </a:lnTo>
                  <a:cubicBezTo>
                    <a:pt x="7321269" y="0"/>
                    <a:pt x="7360920" y="39651"/>
                    <a:pt x="7360920" y="88562"/>
                  </a:cubicBezTo>
                  <a:lnTo>
                    <a:pt x="7360920" y="442798"/>
                  </a:lnTo>
                  <a:cubicBezTo>
                    <a:pt x="7360920" y="491709"/>
                    <a:pt x="7321269" y="531360"/>
                    <a:pt x="727235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04164" tIns="25939" rIns="304164" bIns="25939" numCol="1" spcCol="1270" anchor="ctr" anchorCtr="0">
              <a:noAutofit/>
            </a:bodyPr>
            <a:lstStyle/>
            <a:p>
              <a:pPr marL="0" lvl="0" indent="0" algn="l" defTabSz="800100">
                <a:lnSpc>
                  <a:spcPct val="90000"/>
                </a:lnSpc>
                <a:spcBef>
                  <a:spcPct val="0"/>
                </a:spcBef>
                <a:spcAft>
                  <a:spcPct val="35000"/>
                </a:spcAft>
                <a:buNone/>
              </a:pPr>
              <a:r>
                <a:rPr lang="en-US" sz="1800" kern="1200" dirty="0"/>
                <a:t>Indexing</a:t>
              </a:r>
            </a:p>
          </p:txBody>
        </p:sp>
      </p:grpSp>
      <p:grpSp>
        <p:nvGrpSpPr>
          <p:cNvPr id="16" name="Group 15">
            <a:extLst>
              <a:ext uri="{FF2B5EF4-FFF2-40B4-BE49-F238E27FC236}">
                <a16:creationId xmlns:a16="http://schemas.microsoft.com/office/drawing/2014/main" id="{AF9E1BBD-37EA-B8E9-84D1-F7D0DF022445}"/>
              </a:ext>
            </a:extLst>
          </p:cNvPr>
          <p:cNvGrpSpPr/>
          <p:nvPr/>
        </p:nvGrpSpPr>
        <p:grpSpPr>
          <a:xfrm>
            <a:off x="838200" y="5110755"/>
            <a:ext cx="10515600" cy="1031130"/>
            <a:chOff x="838200" y="5110755"/>
            <a:chExt cx="10515600" cy="1031130"/>
          </a:xfrm>
        </p:grpSpPr>
        <p:sp>
          <p:nvSpPr>
            <p:cNvPr id="11" name="Freeform: Shape 10">
              <a:extLst>
                <a:ext uri="{FF2B5EF4-FFF2-40B4-BE49-F238E27FC236}">
                  <a16:creationId xmlns:a16="http://schemas.microsoft.com/office/drawing/2014/main" id="{A8116D73-7982-4E33-57C3-DED5FDB451C6}"/>
                </a:ext>
              </a:extLst>
            </p:cNvPr>
            <p:cNvSpPr/>
            <p:nvPr/>
          </p:nvSpPr>
          <p:spPr>
            <a:xfrm>
              <a:off x="838200" y="5376435"/>
              <a:ext cx="10515600" cy="765450"/>
            </a:xfrm>
            <a:custGeom>
              <a:avLst/>
              <a:gdLst>
                <a:gd name="connsiteX0" fmla="*/ 0 w 10515600"/>
                <a:gd name="connsiteY0" fmla="*/ 0 h 765450"/>
                <a:gd name="connsiteX1" fmla="*/ 10515600 w 10515600"/>
                <a:gd name="connsiteY1" fmla="*/ 0 h 765450"/>
                <a:gd name="connsiteX2" fmla="*/ 10515600 w 10515600"/>
                <a:gd name="connsiteY2" fmla="*/ 765450 h 765450"/>
                <a:gd name="connsiteX3" fmla="*/ 0 w 10515600"/>
                <a:gd name="connsiteY3" fmla="*/ 765450 h 765450"/>
                <a:gd name="connsiteX4" fmla="*/ 0 w 10515600"/>
                <a:gd name="connsiteY4" fmla="*/ 0 h 765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65450">
                  <a:moveTo>
                    <a:pt x="0" y="0"/>
                  </a:moveTo>
                  <a:lnTo>
                    <a:pt x="10515600" y="0"/>
                  </a:lnTo>
                  <a:lnTo>
                    <a:pt x="10515600" y="765450"/>
                  </a:lnTo>
                  <a:lnTo>
                    <a:pt x="0" y="765450"/>
                  </a:lnTo>
                  <a:lnTo>
                    <a:pt x="0" y="0"/>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User interaction with the data</a:t>
              </a:r>
            </a:p>
          </p:txBody>
        </p:sp>
        <p:sp>
          <p:nvSpPr>
            <p:cNvPr id="12" name="Freeform: Shape 11">
              <a:extLst>
                <a:ext uri="{FF2B5EF4-FFF2-40B4-BE49-F238E27FC236}">
                  <a16:creationId xmlns:a16="http://schemas.microsoft.com/office/drawing/2014/main" id="{27C2AED8-D113-2B0E-67B7-97CBCA9CEA52}"/>
                </a:ext>
              </a:extLst>
            </p:cNvPr>
            <p:cNvSpPr/>
            <p:nvPr/>
          </p:nvSpPr>
          <p:spPr>
            <a:xfrm>
              <a:off x="1363980" y="5110755"/>
              <a:ext cx="7360920" cy="531360"/>
            </a:xfrm>
            <a:custGeom>
              <a:avLst/>
              <a:gdLst>
                <a:gd name="connsiteX0" fmla="*/ 0 w 7360920"/>
                <a:gd name="connsiteY0" fmla="*/ 88562 h 531360"/>
                <a:gd name="connsiteX1" fmla="*/ 88562 w 7360920"/>
                <a:gd name="connsiteY1" fmla="*/ 0 h 531360"/>
                <a:gd name="connsiteX2" fmla="*/ 7272358 w 7360920"/>
                <a:gd name="connsiteY2" fmla="*/ 0 h 531360"/>
                <a:gd name="connsiteX3" fmla="*/ 7360920 w 7360920"/>
                <a:gd name="connsiteY3" fmla="*/ 88562 h 531360"/>
                <a:gd name="connsiteX4" fmla="*/ 7360920 w 7360920"/>
                <a:gd name="connsiteY4" fmla="*/ 442798 h 531360"/>
                <a:gd name="connsiteX5" fmla="*/ 7272358 w 7360920"/>
                <a:gd name="connsiteY5" fmla="*/ 531360 h 531360"/>
                <a:gd name="connsiteX6" fmla="*/ 88562 w 7360920"/>
                <a:gd name="connsiteY6" fmla="*/ 531360 h 531360"/>
                <a:gd name="connsiteX7" fmla="*/ 0 w 7360920"/>
                <a:gd name="connsiteY7" fmla="*/ 442798 h 531360"/>
                <a:gd name="connsiteX8" fmla="*/ 0 w 7360920"/>
                <a:gd name="connsiteY8" fmla="*/ 88562 h 53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60920" h="531360">
                  <a:moveTo>
                    <a:pt x="0" y="88562"/>
                  </a:moveTo>
                  <a:cubicBezTo>
                    <a:pt x="0" y="39651"/>
                    <a:pt x="39651" y="0"/>
                    <a:pt x="88562" y="0"/>
                  </a:cubicBezTo>
                  <a:lnTo>
                    <a:pt x="7272358" y="0"/>
                  </a:lnTo>
                  <a:cubicBezTo>
                    <a:pt x="7321269" y="0"/>
                    <a:pt x="7360920" y="39651"/>
                    <a:pt x="7360920" y="88562"/>
                  </a:cubicBezTo>
                  <a:lnTo>
                    <a:pt x="7360920" y="442798"/>
                  </a:lnTo>
                  <a:cubicBezTo>
                    <a:pt x="7360920" y="491709"/>
                    <a:pt x="7321269" y="531360"/>
                    <a:pt x="7272358" y="531360"/>
                  </a:cubicBezTo>
                  <a:lnTo>
                    <a:pt x="88562" y="531360"/>
                  </a:lnTo>
                  <a:cubicBezTo>
                    <a:pt x="39651" y="531360"/>
                    <a:pt x="0" y="491709"/>
                    <a:pt x="0" y="442798"/>
                  </a:cubicBezTo>
                  <a:lnTo>
                    <a:pt x="0" y="8856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04164" tIns="25939" rIns="304164" bIns="25939" numCol="1" spcCol="1270" anchor="ctr" anchorCtr="0">
              <a:noAutofit/>
            </a:bodyPr>
            <a:lstStyle/>
            <a:p>
              <a:pPr marL="0" lvl="0" indent="0" algn="l" defTabSz="800100">
                <a:lnSpc>
                  <a:spcPct val="90000"/>
                </a:lnSpc>
                <a:spcBef>
                  <a:spcPct val="0"/>
                </a:spcBef>
                <a:spcAft>
                  <a:spcPct val="35000"/>
                </a:spcAft>
                <a:buNone/>
              </a:pPr>
              <a:r>
                <a:rPr lang="en-US" sz="1800" kern="1200" dirty="0"/>
                <a:t>Searching</a:t>
              </a:r>
            </a:p>
          </p:txBody>
        </p:sp>
      </p:grpSp>
    </p:spTree>
    <p:extLst>
      <p:ext uri="{BB962C8B-B14F-4D97-AF65-F5344CB8AC3E}">
        <p14:creationId xmlns:p14="http://schemas.microsoft.com/office/powerpoint/2010/main" val="341776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90512-BD5C-0A44-A296-6EF8C7FBE71E}"/>
              </a:ext>
            </a:extLst>
          </p:cNvPr>
          <p:cNvSpPr>
            <a:spLocks noGrp="1"/>
          </p:cNvSpPr>
          <p:nvPr>
            <p:ph type="ctrTitle"/>
          </p:nvPr>
        </p:nvSpPr>
        <p:spPr/>
        <p:txBody>
          <a:bodyPr/>
          <a:lstStyle/>
          <a:p>
            <a:r>
              <a:rPr lang="en-US" dirty="0"/>
              <a:t>Deployment Models</a:t>
            </a:r>
          </a:p>
        </p:txBody>
      </p:sp>
    </p:spTree>
    <p:extLst>
      <p:ext uri="{BB962C8B-B14F-4D97-AF65-F5344CB8AC3E}">
        <p14:creationId xmlns:p14="http://schemas.microsoft.com/office/powerpoint/2010/main" val="1991378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7ED7-2F49-5342-8F76-934C89D38AF8}"/>
              </a:ext>
            </a:extLst>
          </p:cNvPr>
          <p:cNvSpPr>
            <a:spLocks noGrp="1"/>
          </p:cNvSpPr>
          <p:nvPr>
            <p:ph type="title"/>
          </p:nvPr>
        </p:nvSpPr>
        <p:spPr/>
        <p:txBody>
          <a:bodyPr/>
          <a:lstStyle/>
          <a:p>
            <a:r>
              <a:rPr lang="en-US" dirty="0"/>
              <a:t>The Splunk Platform</a:t>
            </a:r>
          </a:p>
        </p:txBody>
      </p:sp>
      <p:sp>
        <p:nvSpPr>
          <p:cNvPr id="6" name="Freeform 5">
            <a:extLst>
              <a:ext uri="{FF2B5EF4-FFF2-40B4-BE49-F238E27FC236}">
                <a16:creationId xmlns:a16="http://schemas.microsoft.com/office/drawing/2014/main" id="{42BC5C68-FB8E-284B-AEC9-FDE1B600D9D1}"/>
              </a:ext>
            </a:extLst>
          </p:cNvPr>
          <p:cNvSpPr/>
          <p:nvPr/>
        </p:nvSpPr>
        <p:spPr>
          <a:xfrm>
            <a:off x="839437" y="1981552"/>
            <a:ext cx="4824821" cy="2894893"/>
          </a:xfrm>
          <a:custGeom>
            <a:avLst/>
            <a:gdLst>
              <a:gd name="connsiteX0" fmla="*/ 0 w 4824821"/>
              <a:gd name="connsiteY0" fmla="*/ 0 h 2894893"/>
              <a:gd name="connsiteX1" fmla="*/ 4824821 w 4824821"/>
              <a:gd name="connsiteY1" fmla="*/ 0 h 2894893"/>
              <a:gd name="connsiteX2" fmla="*/ 4824821 w 4824821"/>
              <a:gd name="connsiteY2" fmla="*/ 2894893 h 2894893"/>
              <a:gd name="connsiteX3" fmla="*/ 0 w 4824821"/>
              <a:gd name="connsiteY3" fmla="*/ 2894893 h 2894893"/>
              <a:gd name="connsiteX4" fmla="*/ 0 w 4824821"/>
              <a:gd name="connsiteY4" fmla="*/ 0 h 2894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821" h="2894893">
                <a:moveTo>
                  <a:pt x="0" y="0"/>
                </a:moveTo>
                <a:lnTo>
                  <a:pt x="4824821" y="0"/>
                </a:lnTo>
                <a:lnTo>
                  <a:pt x="4824821" y="2894893"/>
                </a:lnTo>
                <a:lnTo>
                  <a:pt x="0" y="2894893"/>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5400" kern="1200" dirty="0">
                <a:latin typeface="Oxygen" panose="02000503000000000000" pitchFamily="2" charset="77"/>
              </a:rPr>
              <a:t>Splunk Cloud Platform</a:t>
            </a:r>
          </a:p>
        </p:txBody>
      </p:sp>
      <p:sp>
        <p:nvSpPr>
          <p:cNvPr id="7" name="Freeform 6">
            <a:extLst>
              <a:ext uri="{FF2B5EF4-FFF2-40B4-BE49-F238E27FC236}">
                <a16:creationId xmlns:a16="http://schemas.microsoft.com/office/drawing/2014/main" id="{2D3C5E43-A17F-7047-A48A-049AC60880AF}"/>
              </a:ext>
            </a:extLst>
          </p:cNvPr>
          <p:cNvSpPr/>
          <p:nvPr/>
        </p:nvSpPr>
        <p:spPr>
          <a:xfrm>
            <a:off x="6146741" y="1981552"/>
            <a:ext cx="4824821" cy="2894893"/>
          </a:xfrm>
          <a:custGeom>
            <a:avLst/>
            <a:gdLst>
              <a:gd name="connsiteX0" fmla="*/ 0 w 4824821"/>
              <a:gd name="connsiteY0" fmla="*/ 0 h 2894893"/>
              <a:gd name="connsiteX1" fmla="*/ 4824821 w 4824821"/>
              <a:gd name="connsiteY1" fmla="*/ 0 h 2894893"/>
              <a:gd name="connsiteX2" fmla="*/ 4824821 w 4824821"/>
              <a:gd name="connsiteY2" fmla="*/ 2894893 h 2894893"/>
              <a:gd name="connsiteX3" fmla="*/ 0 w 4824821"/>
              <a:gd name="connsiteY3" fmla="*/ 2894893 h 2894893"/>
              <a:gd name="connsiteX4" fmla="*/ 0 w 4824821"/>
              <a:gd name="connsiteY4" fmla="*/ 0 h 2894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821" h="2894893">
                <a:moveTo>
                  <a:pt x="0" y="0"/>
                </a:moveTo>
                <a:lnTo>
                  <a:pt x="4824821" y="0"/>
                </a:lnTo>
                <a:lnTo>
                  <a:pt x="4824821" y="2894893"/>
                </a:lnTo>
                <a:lnTo>
                  <a:pt x="0" y="2894893"/>
                </a:lnTo>
                <a:lnTo>
                  <a:pt x="0"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5400" kern="1200" dirty="0">
                <a:latin typeface="Oxygen" panose="02000503000000000000" pitchFamily="2" charset="77"/>
              </a:rPr>
              <a:t>Splunk Enterprise</a:t>
            </a:r>
          </a:p>
        </p:txBody>
      </p:sp>
    </p:spTree>
    <p:extLst>
      <p:ext uri="{BB962C8B-B14F-4D97-AF65-F5344CB8AC3E}">
        <p14:creationId xmlns:p14="http://schemas.microsoft.com/office/powerpoint/2010/main" val="110936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90"/>
                                          </p:val>
                                        </p:tav>
                                        <p:tav tm="100000">
                                          <p:val>
                                            <p:fltVal val="0"/>
                                          </p:val>
                                        </p:tav>
                                      </p:tavLst>
                                    </p:anim>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 calcmode="lin" valueType="num">
                                      <p:cBhvr>
                                        <p:cTn id="17" dur="500" fill="hold"/>
                                        <p:tgtEl>
                                          <p:spTgt spid="7"/>
                                        </p:tgtEl>
                                        <p:attrNameLst>
                                          <p:attrName>style.rotation</p:attrName>
                                        </p:attrNameLst>
                                      </p:cBhvr>
                                      <p:tavLst>
                                        <p:tav tm="0">
                                          <p:val>
                                            <p:fltVal val="90"/>
                                          </p:val>
                                        </p:tav>
                                        <p:tav tm="100000">
                                          <p:val>
                                            <p:fltVal val="0"/>
                                          </p:val>
                                        </p:tav>
                                      </p:tavLst>
                                    </p:anim>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2363-2A90-F5CF-EB5A-0A40545416FD}"/>
              </a:ext>
            </a:extLst>
          </p:cNvPr>
          <p:cNvSpPr>
            <a:spLocks noGrp="1"/>
          </p:cNvSpPr>
          <p:nvPr>
            <p:ph type="title"/>
          </p:nvPr>
        </p:nvSpPr>
        <p:spPr/>
        <p:txBody>
          <a:bodyPr/>
          <a:lstStyle/>
          <a:p>
            <a:r>
              <a:rPr lang="en-US"/>
              <a:t>Splunk Enterprise Components</a:t>
            </a:r>
            <a:endParaRPr lang="en-US" dirty="0"/>
          </a:p>
        </p:txBody>
      </p:sp>
      <p:grpSp>
        <p:nvGrpSpPr>
          <p:cNvPr id="18" name="Group 17">
            <a:extLst>
              <a:ext uri="{FF2B5EF4-FFF2-40B4-BE49-F238E27FC236}">
                <a16:creationId xmlns:a16="http://schemas.microsoft.com/office/drawing/2014/main" id="{62BC69EA-D552-7181-A627-8BC04FB9B42A}"/>
              </a:ext>
            </a:extLst>
          </p:cNvPr>
          <p:cNvGrpSpPr/>
          <p:nvPr/>
        </p:nvGrpSpPr>
        <p:grpSpPr>
          <a:xfrm>
            <a:off x="627055" y="1584751"/>
            <a:ext cx="3886464" cy="5047176"/>
            <a:chOff x="627055" y="1666523"/>
            <a:chExt cx="3886464" cy="5047176"/>
          </a:xfrm>
        </p:grpSpPr>
        <p:sp>
          <p:nvSpPr>
            <p:cNvPr id="10" name="TextBox 9">
              <a:extLst>
                <a:ext uri="{FF2B5EF4-FFF2-40B4-BE49-F238E27FC236}">
                  <a16:creationId xmlns:a16="http://schemas.microsoft.com/office/drawing/2014/main" id="{051C8880-94E9-BFC9-7D7C-42EFD069FC13}"/>
                </a:ext>
              </a:extLst>
            </p:cNvPr>
            <p:cNvSpPr txBox="1"/>
            <p:nvPr/>
          </p:nvSpPr>
          <p:spPr>
            <a:xfrm>
              <a:off x="1518831" y="1666523"/>
              <a:ext cx="1933543" cy="523220"/>
            </a:xfrm>
            <a:prstGeom prst="rect">
              <a:avLst/>
            </a:prstGeom>
            <a:noFill/>
          </p:spPr>
          <p:txBody>
            <a:bodyPr wrap="none" rtlCol="0">
              <a:spAutoFit/>
            </a:bodyPr>
            <a:lstStyle/>
            <a:p>
              <a:pPr algn="ctr"/>
              <a:r>
                <a:rPr lang="en-US" sz="2800" dirty="0">
                  <a:latin typeface="Oxygen" panose="02000503000000000000" pitchFamily="2" charset="0"/>
                </a:rPr>
                <a:t>Processing</a:t>
              </a:r>
              <a:endParaRPr lang="en-US" dirty="0">
                <a:latin typeface="Oxygen" panose="02000503000000000000" pitchFamily="2" charset="0"/>
              </a:endParaRPr>
            </a:p>
          </p:txBody>
        </p:sp>
        <p:pic>
          <p:nvPicPr>
            <p:cNvPr id="11" name="Picture 10">
              <a:extLst>
                <a:ext uri="{FF2B5EF4-FFF2-40B4-BE49-F238E27FC236}">
                  <a16:creationId xmlns:a16="http://schemas.microsoft.com/office/drawing/2014/main" id="{FDA5BB13-7B39-19B5-31D8-247B152D43C1}"/>
                </a:ext>
              </a:extLst>
            </p:cNvPr>
            <p:cNvPicPr>
              <a:picLocks noChangeAspect="1"/>
            </p:cNvPicPr>
            <p:nvPr/>
          </p:nvPicPr>
          <p:blipFill>
            <a:blip r:embed="rId3"/>
            <a:stretch>
              <a:fillRect/>
            </a:stretch>
          </p:blipFill>
          <p:spPr>
            <a:xfrm>
              <a:off x="2836974" y="2366486"/>
              <a:ext cx="1676545" cy="2213040"/>
            </a:xfrm>
            <a:prstGeom prst="rect">
              <a:avLst/>
            </a:prstGeom>
          </p:spPr>
        </p:pic>
        <p:pic>
          <p:nvPicPr>
            <p:cNvPr id="12" name="Picture 11">
              <a:extLst>
                <a:ext uri="{FF2B5EF4-FFF2-40B4-BE49-F238E27FC236}">
                  <a16:creationId xmlns:a16="http://schemas.microsoft.com/office/drawing/2014/main" id="{1EC1E1E0-EF26-9C9F-272D-67D794385272}"/>
                </a:ext>
              </a:extLst>
            </p:cNvPr>
            <p:cNvPicPr>
              <a:picLocks noChangeAspect="1"/>
            </p:cNvPicPr>
            <p:nvPr/>
          </p:nvPicPr>
          <p:blipFill>
            <a:blip r:embed="rId4"/>
            <a:stretch>
              <a:fillRect/>
            </a:stretch>
          </p:blipFill>
          <p:spPr>
            <a:xfrm>
              <a:off x="1861570" y="4491514"/>
              <a:ext cx="1521084" cy="2222185"/>
            </a:xfrm>
            <a:prstGeom prst="rect">
              <a:avLst/>
            </a:prstGeom>
          </p:spPr>
        </p:pic>
        <p:pic>
          <p:nvPicPr>
            <p:cNvPr id="13" name="Picture 12">
              <a:extLst>
                <a:ext uri="{FF2B5EF4-FFF2-40B4-BE49-F238E27FC236}">
                  <a16:creationId xmlns:a16="http://schemas.microsoft.com/office/drawing/2014/main" id="{FCCD8FD9-F6E2-70A3-888B-97AF526B0A40}"/>
                </a:ext>
              </a:extLst>
            </p:cNvPr>
            <p:cNvPicPr>
              <a:picLocks noChangeAspect="1"/>
            </p:cNvPicPr>
            <p:nvPr/>
          </p:nvPicPr>
          <p:blipFill>
            <a:blip r:embed="rId5"/>
            <a:stretch>
              <a:fillRect/>
            </a:stretch>
          </p:blipFill>
          <p:spPr>
            <a:xfrm>
              <a:off x="627055" y="2366486"/>
              <a:ext cx="1533277" cy="2045385"/>
            </a:xfrm>
            <a:prstGeom prst="rect">
              <a:avLst/>
            </a:prstGeom>
          </p:spPr>
        </p:pic>
      </p:grpSp>
      <p:sp>
        <p:nvSpPr>
          <p:cNvPr id="14" name="TextBox 13">
            <a:extLst>
              <a:ext uri="{FF2B5EF4-FFF2-40B4-BE49-F238E27FC236}">
                <a16:creationId xmlns:a16="http://schemas.microsoft.com/office/drawing/2014/main" id="{1815A578-9DDE-CF65-62C4-7E3C4015DC3A}"/>
              </a:ext>
            </a:extLst>
          </p:cNvPr>
          <p:cNvSpPr txBox="1"/>
          <p:nvPr/>
        </p:nvSpPr>
        <p:spPr>
          <a:xfrm>
            <a:off x="7071103" y="1584751"/>
            <a:ext cx="2337499" cy="523220"/>
          </a:xfrm>
          <a:prstGeom prst="rect">
            <a:avLst/>
          </a:prstGeom>
          <a:noFill/>
        </p:spPr>
        <p:txBody>
          <a:bodyPr wrap="none" rtlCol="0">
            <a:spAutoFit/>
          </a:bodyPr>
          <a:lstStyle/>
          <a:p>
            <a:pPr algn="ctr"/>
            <a:r>
              <a:rPr lang="en-US" sz="2800" dirty="0">
                <a:latin typeface="Oxygen" panose="02000503000000000000" pitchFamily="2" charset="0"/>
              </a:rPr>
              <a:t>Management</a:t>
            </a:r>
            <a:endParaRPr lang="en-US" dirty="0">
              <a:latin typeface="Oxygen" panose="02000503000000000000" pitchFamily="2" charset="0"/>
            </a:endParaRPr>
          </a:p>
        </p:txBody>
      </p:sp>
      <p:pic>
        <p:nvPicPr>
          <p:cNvPr id="15" name="Picture 14">
            <a:extLst>
              <a:ext uri="{FF2B5EF4-FFF2-40B4-BE49-F238E27FC236}">
                <a16:creationId xmlns:a16="http://schemas.microsoft.com/office/drawing/2014/main" id="{F9F1CE08-7674-A980-069F-104FE50E6D0C}"/>
              </a:ext>
            </a:extLst>
          </p:cNvPr>
          <p:cNvPicPr>
            <a:picLocks noChangeAspect="1"/>
          </p:cNvPicPr>
          <p:nvPr/>
        </p:nvPicPr>
        <p:blipFill>
          <a:blip r:embed="rId6"/>
          <a:stretch>
            <a:fillRect/>
          </a:stretch>
        </p:blipFill>
        <p:spPr>
          <a:xfrm>
            <a:off x="9409307" y="2189743"/>
            <a:ext cx="1658256" cy="2356308"/>
          </a:xfrm>
          <a:prstGeom prst="rect">
            <a:avLst/>
          </a:prstGeom>
        </p:spPr>
      </p:pic>
      <p:grpSp>
        <p:nvGrpSpPr>
          <p:cNvPr id="16" name="Group 15">
            <a:extLst>
              <a:ext uri="{FF2B5EF4-FFF2-40B4-BE49-F238E27FC236}">
                <a16:creationId xmlns:a16="http://schemas.microsoft.com/office/drawing/2014/main" id="{359CD14E-5458-3843-6991-9CA0133CC30E}"/>
              </a:ext>
            </a:extLst>
          </p:cNvPr>
          <p:cNvGrpSpPr/>
          <p:nvPr/>
        </p:nvGrpSpPr>
        <p:grpSpPr>
          <a:xfrm>
            <a:off x="5632122" y="4232039"/>
            <a:ext cx="1623195" cy="1793448"/>
            <a:chOff x="9860328" y="2481623"/>
            <a:chExt cx="1623195" cy="1793448"/>
          </a:xfrm>
        </p:grpSpPr>
        <p:pic>
          <p:nvPicPr>
            <p:cNvPr id="17" name="Picture 16">
              <a:extLst>
                <a:ext uri="{FF2B5EF4-FFF2-40B4-BE49-F238E27FC236}">
                  <a16:creationId xmlns:a16="http://schemas.microsoft.com/office/drawing/2014/main" id="{4E0507EC-8DFE-3A45-6897-A228F1C3E14B}"/>
                </a:ext>
              </a:extLst>
            </p:cNvPr>
            <p:cNvPicPr>
              <a:picLocks noChangeAspect="1"/>
            </p:cNvPicPr>
            <p:nvPr/>
          </p:nvPicPr>
          <p:blipFill>
            <a:blip r:embed="rId7"/>
            <a:srcRect b="24595"/>
            <a:stretch/>
          </p:blipFill>
          <p:spPr>
            <a:xfrm>
              <a:off x="9860328" y="2481623"/>
              <a:ext cx="1575953" cy="1654948"/>
            </a:xfrm>
            <a:prstGeom prst="rect">
              <a:avLst/>
            </a:prstGeom>
          </p:spPr>
        </p:pic>
        <p:sp>
          <p:nvSpPr>
            <p:cNvPr id="19" name="TextBox 18">
              <a:extLst>
                <a:ext uri="{FF2B5EF4-FFF2-40B4-BE49-F238E27FC236}">
                  <a16:creationId xmlns:a16="http://schemas.microsoft.com/office/drawing/2014/main" id="{A92BA89C-FDB2-EFA4-3E09-34172D0D09A7}"/>
                </a:ext>
              </a:extLst>
            </p:cNvPr>
            <p:cNvSpPr txBox="1"/>
            <p:nvPr/>
          </p:nvSpPr>
          <p:spPr>
            <a:xfrm>
              <a:off x="9907129" y="3967294"/>
              <a:ext cx="1576394" cy="307777"/>
            </a:xfrm>
            <a:prstGeom prst="rect">
              <a:avLst/>
            </a:prstGeom>
            <a:noFill/>
          </p:spPr>
          <p:txBody>
            <a:bodyPr wrap="none" rtlCol="0">
              <a:spAutoFit/>
            </a:bodyPr>
            <a:lstStyle/>
            <a:p>
              <a:pPr algn="ctr"/>
              <a:r>
                <a:rPr lang="en-US" sz="1400" dirty="0">
                  <a:latin typeface="Stone Sans"/>
                </a:rPr>
                <a:t>License Manager</a:t>
              </a:r>
            </a:p>
          </p:txBody>
        </p:sp>
      </p:grpSp>
      <p:pic>
        <p:nvPicPr>
          <p:cNvPr id="4" name="Picture 3" descr="A black and white image of a device&#10;&#10;AI-generated content may be incorrect.">
            <a:extLst>
              <a:ext uri="{FF2B5EF4-FFF2-40B4-BE49-F238E27FC236}">
                <a16:creationId xmlns:a16="http://schemas.microsoft.com/office/drawing/2014/main" id="{5E497773-6A97-A7C8-1C91-DC4E2F12AB92}"/>
              </a:ext>
            </a:extLst>
          </p:cNvPr>
          <p:cNvPicPr>
            <a:picLocks noChangeAspect="1"/>
          </p:cNvPicPr>
          <p:nvPr/>
        </p:nvPicPr>
        <p:blipFill>
          <a:blip r:embed="rId8"/>
          <a:stretch>
            <a:fillRect/>
          </a:stretch>
        </p:blipFill>
        <p:spPr>
          <a:xfrm>
            <a:off x="5632122" y="2342180"/>
            <a:ext cx="1831852" cy="1926340"/>
          </a:xfrm>
          <a:prstGeom prst="rect">
            <a:avLst/>
          </a:prstGeom>
        </p:spPr>
      </p:pic>
      <p:pic>
        <p:nvPicPr>
          <p:cNvPr id="6" name="Picture 5" descr="A black rectangular object with a black background&#10;&#10;AI-generated content may be incorrect.">
            <a:extLst>
              <a:ext uri="{FF2B5EF4-FFF2-40B4-BE49-F238E27FC236}">
                <a16:creationId xmlns:a16="http://schemas.microsoft.com/office/drawing/2014/main" id="{F24136DE-AF72-9106-9A04-95A09541C493}"/>
              </a:ext>
            </a:extLst>
          </p:cNvPr>
          <p:cNvPicPr>
            <a:picLocks noChangeAspect="1"/>
          </p:cNvPicPr>
          <p:nvPr/>
        </p:nvPicPr>
        <p:blipFill>
          <a:blip r:embed="rId9"/>
          <a:stretch>
            <a:fillRect/>
          </a:stretch>
        </p:blipFill>
        <p:spPr>
          <a:xfrm>
            <a:off x="7463974" y="2342180"/>
            <a:ext cx="1944628" cy="1746508"/>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2A74E535-9D2C-8C92-3FBA-97BC0214DD61}"/>
              </a:ext>
            </a:extLst>
          </p:cNvPr>
          <p:cNvPicPr>
            <a:picLocks noChangeAspect="1"/>
          </p:cNvPicPr>
          <p:nvPr/>
        </p:nvPicPr>
        <p:blipFill>
          <a:blip r:embed="rId10"/>
          <a:stretch>
            <a:fillRect/>
          </a:stretch>
        </p:blipFill>
        <p:spPr>
          <a:xfrm>
            <a:off x="7463974" y="4232039"/>
            <a:ext cx="1780512" cy="2260836"/>
          </a:xfrm>
          <a:prstGeom prst="rect">
            <a:avLst/>
          </a:prstGeom>
        </p:spPr>
      </p:pic>
      <p:sp>
        <p:nvSpPr>
          <p:cNvPr id="9" name="Rectangle 8">
            <a:extLst>
              <a:ext uri="{FF2B5EF4-FFF2-40B4-BE49-F238E27FC236}">
                <a16:creationId xmlns:a16="http://schemas.microsoft.com/office/drawing/2014/main" id="{6EDD1C91-7CEE-EC29-7116-3E4B7C062B74}"/>
              </a:ext>
            </a:extLst>
          </p:cNvPr>
          <p:cNvSpPr/>
          <p:nvPr/>
        </p:nvSpPr>
        <p:spPr>
          <a:xfrm>
            <a:off x="5238312" y="1982769"/>
            <a:ext cx="45719" cy="4120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540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animEffect transition="in" filter="fade">
                                      <p:cBhvr>
                                        <p:cTn id="9"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7ED7-2F49-5342-8F76-934C89D38AF8}"/>
              </a:ext>
            </a:extLst>
          </p:cNvPr>
          <p:cNvSpPr>
            <a:spLocks noGrp="1"/>
          </p:cNvSpPr>
          <p:nvPr>
            <p:ph type="title"/>
          </p:nvPr>
        </p:nvSpPr>
        <p:spPr/>
        <p:txBody>
          <a:bodyPr/>
          <a:lstStyle/>
          <a:p>
            <a:r>
              <a:rPr lang="en-US" dirty="0"/>
              <a:t>Splunk Enterprise S1 Architecture</a:t>
            </a:r>
          </a:p>
        </p:txBody>
      </p:sp>
      <p:sp>
        <p:nvSpPr>
          <p:cNvPr id="6" name="Rectangle 5">
            <a:extLst>
              <a:ext uri="{FF2B5EF4-FFF2-40B4-BE49-F238E27FC236}">
                <a16:creationId xmlns:a16="http://schemas.microsoft.com/office/drawing/2014/main" id="{BA5F9267-513B-1ED8-D964-65DA40372945}"/>
              </a:ext>
            </a:extLst>
          </p:cNvPr>
          <p:cNvSpPr/>
          <p:nvPr/>
        </p:nvSpPr>
        <p:spPr>
          <a:xfrm>
            <a:off x="3131127" y="2265219"/>
            <a:ext cx="4620491" cy="1218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Search and Indexing tier</a:t>
            </a:r>
          </a:p>
        </p:txBody>
      </p:sp>
      <p:sp>
        <p:nvSpPr>
          <p:cNvPr id="8" name="Rectangle 7">
            <a:extLst>
              <a:ext uri="{FF2B5EF4-FFF2-40B4-BE49-F238E27FC236}">
                <a16:creationId xmlns:a16="http://schemas.microsoft.com/office/drawing/2014/main" id="{5AD9C42F-BB5C-0D80-4B71-C75B84BF08A6}"/>
              </a:ext>
            </a:extLst>
          </p:cNvPr>
          <p:cNvSpPr/>
          <p:nvPr/>
        </p:nvSpPr>
        <p:spPr>
          <a:xfrm>
            <a:off x="3131127" y="4246950"/>
            <a:ext cx="4620491" cy="1218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Collection tier</a:t>
            </a:r>
          </a:p>
        </p:txBody>
      </p:sp>
      <p:sp>
        <p:nvSpPr>
          <p:cNvPr id="9" name="Rectangle 8">
            <a:extLst>
              <a:ext uri="{FF2B5EF4-FFF2-40B4-BE49-F238E27FC236}">
                <a16:creationId xmlns:a16="http://schemas.microsoft.com/office/drawing/2014/main" id="{FF04CC86-AF03-40D3-AA90-C86C619F6FDC}"/>
              </a:ext>
            </a:extLst>
          </p:cNvPr>
          <p:cNvSpPr/>
          <p:nvPr/>
        </p:nvSpPr>
        <p:spPr>
          <a:xfrm>
            <a:off x="8383648" y="2265219"/>
            <a:ext cx="1216951" cy="32005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latin typeface="Oxygen" panose="02000503000000000000" pitchFamily="2" charset="0"/>
              </a:rPr>
              <a:t>Management</a:t>
            </a:r>
          </a:p>
        </p:txBody>
      </p:sp>
      <p:cxnSp>
        <p:nvCxnSpPr>
          <p:cNvPr id="12" name="Straight Connector 11">
            <a:extLst>
              <a:ext uri="{FF2B5EF4-FFF2-40B4-BE49-F238E27FC236}">
                <a16:creationId xmlns:a16="http://schemas.microsoft.com/office/drawing/2014/main" id="{657EFF75-3820-19CD-FE13-6D7AC43D8B5B}"/>
              </a:ext>
            </a:extLst>
          </p:cNvPr>
          <p:cNvCxnSpPr>
            <a:cxnSpLocks/>
            <a:endCxn id="6" idx="2"/>
          </p:cNvCxnSpPr>
          <p:nvPr/>
        </p:nvCxnSpPr>
        <p:spPr>
          <a:xfrm flipV="1">
            <a:off x="5441372" y="3484065"/>
            <a:ext cx="1" cy="680587"/>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7D00FA-A979-3B82-3836-3BA59E0A7E0A}"/>
              </a:ext>
            </a:extLst>
          </p:cNvPr>
          <p:cNvCxnSpPr>
            <a:cxnSpLocks/>
            <a:endCxn id="6" idx="3"/>
          </p:cNvCxnSpPr>
          <p:nvPr/>
        </p:nvCxnSpPr>
        <p:spPr>
          <a:xfrm flipH="1">
            <a:off x="7751618" y="2874642"/>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1EA056-296D-3715-9561-36AC4B7C8ED6}"/>
              </a:ext>
            </a:extLst>
          </p:cNvPr>
          <p:cNvCxnSpPr>
            <a:cxnSpLocks/>
          </p:cNvCxnSpPr>
          <p:nvPr/>
        </p:nvCxnSpPr>
        <p:spPr>
          <a:xfrm flipH="1">
            <a:off x="7751617" y="4987460"/>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52377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6168501" cy="4351338"/>
          </a:xfrm>
        </p:spPr>
        <p:txBody>
          <a:bodyPr/>
          <a:lstStyle/>
          <a:p>
            <a:pPr marL="0" indent="0">
              <a:buNone/>
            </a:pPr>
            <a:r>
              <a:rPr lang="en-US" dirty="0">
                <a:latin typeface="Oxygen" charset="0"/>
                <a:ea typeface="Oxygen" charset="0"/>
                <a:cs typeface="Oxygen" charset="0"/>
              </a:rPr>
              <a:t>S1 (Single Server)</a:t>
            </a:r>
          </a:p>
          <a:p>
            <a:endParaRPr lang="en-US" dirty="0">
              <a:latin typeface="Oxygen" charset="0"/>
              <a:ea typeface="Oxygen" charset="0"/>
              <a:cs typeface="Oxygen" charset="0"/>
            </a:endParaRPr>
          </a:p>
          <a:p>
            <a:r>
              <a:rPr lang="en-US" dirty="0">
                <a:latin typeface="Oxygen" charset="0"/>
                <a:ea typeface="Oxygen" charset="0"/>
                <a:cs typeface="Oxygen" charset="0"/>
              </a:rPr>
              <a:t>Search Head and Indexer </a:t>
            </a:r>
            <a:r>
              <a:rPr lang="en-US" b="1" dirty="0">
                <a:latin typeface="Oxygen" charset="0"/>
                <a:ea typeface="Oxygen" charset="0"/>
                <a:cs typeface="Oxygen" charset="0"/>
              </a:rPr>
              <a:t>are the same</a:t>
            </a:r>
            <a:br>
              <a:rPr lang="en-US" b="1" dirty="0">
                <a:latin typeface="Oxygen" charset="0"/>
                <a:ea typeface="Oxygen" charset="0"/>
                <a:cs typeface="Oxygen" charset="0"/>
              </a:rPr>
            </a:br>
            <a:r>
              <a:rPr lang="en-US" b="1" dirty="0">
                <a:latin typeface="Oxygen" charset="0"/>
                <a:ea typeface="Oxygen" charset="0"/>
                <a:cs typeface="Oxygen" charset="0"/>
              </a:rPr>
              <a:t>Splunk component</a:t>
            </a:r>
          </a:p>
          <a:p>
            <a:r>
              <a:rPr lang="en-US" dirty="0">
                <a:latin typeface="Oxygen" charset="0"/>
                <a:ea typeface="Oxygen" charset="0"/>
                <a:cs typeface="Oxygen" charset="0"/>
              </a:rPr>
              <a:t>Daily data ingest 500GB</a:t>
            </a:r>
          </a:p>
          <a:p>
            <a:r>
              <a:rPr lang="en-US" dirty="0">
                <a:latin typeface="Oxygen" charset="0"/>
                <a:ea typeface="Oxygen" charset="0"/>
                <a:cs typeface="Oxygen" charset="0"/>
              </a:rPr>
              <a:t>Small number of users</a:t>
            </a:r>
          </a:p>
          <a:p>
            <a:r>
              <a:rPr lang="en-US" dirty="0">
                <a:latin typeface="Oxygen" charset="0"/>
                <a:ea typeface="Oxygen" charset="0"/>
                <a:cs typeface="Oxygen" charset="0"/>
              </a:rPr>
              <a:t>Splunk recommends S1 for non-</a:t>
            </a:r>
            <a:br>
              <a:rPr lang="en-US" dirty="0">
                <a:latin typeface="Oxygen" charset="0"/>
                <a:ea typeface="Oxygen" charset="0"/>
                <a:cs typeface="Oxygen" charset="0"/>
              </a:rPr>
            </a:br>
            <a:r>
              <a:rPr lang="en-US" dirty="0">
                <a:latin typeface="Oxygen" charset="0"/>
                <a:ea typeface="Oxygen" charset="0"/>
                <a:cs typeface="Oxygen" charset="0"/>
              </a:rPr>
              <a:t>critical data</a:t>
            </a:r>
          </a:p>
        </p:txBody>
      </p:sp>
      <p:sp>
        <p:nvSpPr>
          <p:cNvPr id="7" name="TextBox 6"/>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8" name="Title 1">
            <a:extLst>
              <a:ext uri="{FF2B5EF4-FFF2-40B4-BE49-F238E27FC236}">
                <a16:creationId xmlns:a16="http://schemas.microsoft.com/office/drawing/2014/main" id="{53B0A248-0F61-8B4C-D5D4-362A08164E5D}"/>
              </a:ext>
            </a:extLst>
          </p:cNvPr>
          <p:cNvSpPr>
            <a:spLocks noGrp="1"/>
          </p:cNvSpPr>
          <p:nvPr>
            <p:ph type="title"/>
          </p:nvPr>
        </p:nvSpPr>
        <p:spPr>
          <a:xfrm>
            <a:off x="838200" y="365125"/>
            <a:ext cx="10515600" cy="1325563"/>
          </a:xfrm>
        </p:spPr>
        <p:txBody>
          <a:bodyPr/>
          <a:lstStyle/>
          <a:p>
            <a:r>
              <a:rPr lang="en-US" dirty="0"/>
              <a:t>Splunk Enterprise</a:t>
            </a:r>
          </a:p>
        </p:txBody>
      </p:sp>
      <p:pic>
        <p:nvPicPr>
          <p:cNvPr id="4" name="Picture 3">
            <a:extLst>
              <a:ext uri="{FF2B5EF4-FFF2-40B4-BE49-F238E27FC236}">
                <a16:creationId xmlns:a16="http://schemas.microsoft.com/office/drawing/2014/main" id="{FF1592F0-7008-49A5-4CF4-E8B27042326D}"/>
              </a:ext>
            </a:extLst>
          </p:cNvPr>
          <p:cNvPicPr>
            <a:picLocks noChangeAspect="1"/>
          </p:cNvPicPr>
          <p:nvPr/>
        </p:nvPicPr>
        <p:blipFill>
          <a:blip r:embed="rId3"/>
          <a:stretch>
            <a:fillRect/>
          </a:stretch>
        </p:blipFill>
        <p:spPr>
          <a:xfrm>
            <a:off x="8384288" y="1529685"/>
            <a:ext cx="1533277" cy="2045385"/>
          </a:xfrm>
          <a:prstGeom prst="rect">
            <a:avLst/>
          </a:prstGeom>
        </p:spPr>
      </p:pic>
      <p:pic>
        <p:nvPicPr>
          <p:cNvPr id="6" name="Picture 5">
            <a:extLst>
              <a:ext uri="{FF2B5EF4-FFF2-40B4-BE49-F238E27FC236}">
                <a16:creationId xmlns:a16="http://schemas.microsoft.com/office/drawing/2014/main" id="{D118563B-CB02-EB12-36DA-619DA1CC938C}"/>
              </a:ext>
            </a:extLst>
          </p:cNvPr>
          <p:cNvPicPr>
            <a:picLocks noChangeAspect="1"/>
          </p:cNvPicPr>
          <p:nvPr/>
        </p:nvPicPr>
        <p:blipFill>
          <a:blip r:embed="rId4"/>
          <a:stretch>
            <a:fillRect/>
          </a:stretch>
        </p:blipFill>
        <p:spPr>
          <a:xfrm>
            <a:off x="7094993" y="3954778"/>
            <a:ext cx="1859441" cy="2222185"/>
          </a:xfrm>
          <a:prstGeom prst="rect">
            <a:avLst/>
          </a:prstGeom>
        </p:spPr>
      </p:pic>
      <p:pic>
        <p:nvPicPr>
          <p:cNvPr id="10" name="Picture 9">
            <a:extLst>
              <a:ext uri="{FF2B5EF4-FFF2-40B4-BE49-F238E27FC236}">
                <a16:creationId xmlns:a16="http://schemas.microsoft.com/office/drawing/2014/main" id="{56367445-0E6E-BCA3-BAF2-8BD372B8BB57}"/>
              </a:ext>
            </a:extLst>
          </p:cNvPr>
          <p:cNvPicPr>
            <a:picLocks noChangeAspect="1"/>
          </p:cNvPicPr>
          <p:nvPr/>
        </p:nvPicPr>
        <p:blipFill>
          <a:blip r:embed="rId5"/>
          <a:stretch>
            <a:fillRect/>
          </a:stretch>
        </p:blipFill>
        <p:spPr>
          <a:xfrm>
            <a:off x="9414091" y="3963923"/>
            <a:ext cx="1676545" cy="2213040"/>
          </a:xfrm>
          <a:prstGeom prst="rect">
            <a:avLst/>
          </a:prstGeom>
        </p:spPr>
      </p:pic>
      <p:cxnSp>
        <p:nvCxnSpPr>
          <p:cNvPr id="12" name="Straight Connector 11">
            <a:extLst>
              <a:ext uri="{FF2B5EF4-FFF2-40B4-BE49-F238E27FC236}">
                <a16:creationId xmlns:a16="http://schemas.microsoft.com/office/drawing/2014/main" id="{745B400D-8ADD-10F7-E16B-E40B6A10E0D6}"/>
              </a:ext>
            </a:extLst>
          </p:cNvPr>
          <p:cNvCxnSpPr>
            <a:cxnSpLocks/>
            <a:endCxn id="4" idx="2"/>
          </p:cNvCxnSpPr>
          <p:nvPr/>
        </p:nvCxnSpPr>
        <p:spPr>
          <a:xfrm flipV="1">
            <a:off x="7977856" y="3575070"/>
            <a:ext cx="1173071" cy="59829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1605D2-D4B4-3F41-0D0A-77CA11D15D3D}"/>
              </a:ext>
            </a:extLst>
          </p:cNvPr>
          <p:cNvCxnSpPr>
            <a:cxnSpLocks/>
            <a:endCxn id="4" idx="2"/>
          </p:cNvCxnSpPr>
          <p:nvPr/>
        </p:nvCxnSpPr>
        <p:spPr>
          <a:xfrm flipH="1" flipV="1">
            <a:off x="9150927" y="3575070"/>
            <a:ext cx="968554" cy="503304"/>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BFF6320-095A-4059-541C-7C026E5F8C87}"/>
              </a:ext>
            </a:extLst>
          </p:cNvPr>
          <p:cNvPicPr>
            <a:picLocks noChangeAspect="1"/>
          </p:cNvPicPr>
          <p:nvPr/>
        </p:nvPicPr>
        <p:blipFill>
          <a:blip r:embed="rId6"/>
          <a:stretch>
            <a:fillRect/>
          </a:stretch>
        </p:blipFill>
        <p:spPr>
          <a:xfrm>
            <a:off x="10332021" y="1529685"/>
            <a:ext cx="1658256" cy="2356308"/>
          </a:xfrm>
          <a:prstGeom prst="rect">
            <a:avLst/>
          </a:prstGeom>
        </p:spPr>
      </p:pic>
    </p:spTree>
    <p:extLst>
      <p:ext uri="{BB962C8B-B14F-4D97-AF65-F5344CB8AC3E}">
        <p14:creationId xmlns:p14="http://schemas.microsoft.com/office/powerpoint/2010/main" val="40760481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7ED7-2F49-5342-8F76-934C89D38AF8}"/>
              </a:ext>
            </a:extLst>
          </p:cNvPr>
          <p:cNvSpPr>
            <a:spLocks noGrp="1"/>
          </p:cNvSpPr>
          <p:nvPr>
            <p:ph type="title"/>
          </p:nvPr>
        </p:nvSpPr>
        <p:spPr/>
        <p:txBody>
          <a:bodyPr/>
          <a:lstStyle/>
          <a:p>
            <a:r>
              <a:rPr lang="en-US" dirty="0"/>
              <a:t>Splunk Enterprise C1 Architecture</a:t>
            </a:r>
          </a:p>
        </p:txBody>
      </p:sp>
      <p:sp>
        <p:nvSpPr>
          <p:cNvPr id="6" name="Rectangle 5">
            <a:extLst>
              <a:ext uri="{FF2B5EF4-FFF2-40B4-BE49-F238E27FC236}">
                <a16:creationId xmlns:a16="http://schemas.microsoft.com/office/drawing/2014/main" id="{BA5F9267-513B-1ED8-D964-65DA40372945}"/>
              </a:ext>
            </a:extLst>
          </p:cNvPr>
          <p:cNvSpPr/>
          <p:nvPr/>
        </p:nvSpPr>
        <p:spPr>
          <a:xfrm>
            <a:off x="3131127" y="2265219"/>
            <a:ext cx="4620491" cy="7481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Search tier</a:t>
            </a:r>
          </a:p>
        </p:txBody>
      </p:sp>
      <p:sp>
        <p:nvSpPr>
          <p:cNvPr id="8" name="Rectangle 7">
            <a:extLst>
              <a:ext uri="{FF2B5EF4-FFF2-40B4-BE49-F238E27FC236}">
                <a16:creationId xmlns:a16="http://schemas.microsoft.com/office/drawing/2014/main" id="{5AD9C42F-BB5C-0D80-4B71-C75B84BF08A6}"/>
              </a:ext>
            </a:extLst>
          </p:cNvPr>
          <p:cNvSpPr/>
          <p:nvPr/>
        </p:nvSpPr>
        <p:spPr>
          <a:xfrm>
            <a:off x="3131126" y="3713286"/>
            <a:ext cx="4620491" cy="80303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Indexing tier</a:t>
            </a:r>
          </a:p>
        </p:txBody>
      </p:sp>
      <p:sp>
        <p:nvSpPr>
          <p:cNvPr id="9" name="Rectangle 8">
            <a:extLst>
              <a:ext uri="{FF2B5EF4-FFF2-40B4-BE49-F238E27FC236}">
                <a16:creationId xmlns:a16="http://schemas.microsoft.com/office/drawing/2014/main" id="{FF04CC86-AF03-40D3-AA90-C86C619F6FDC}"/>
              </a:ext>
            </a:extLst>
          </p:cNvPr>
          <p:cNvSpPr/>
          <p:nvPr/>
        </p:nvSpPr>
        <p:spPr>
          <a:xfrm>
            <a:off x="8445945" y="2265220"/>
            <a:ext cx="883724" cy="36776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latin typeface="Oxygen" panose="02000503000000000000" pitchFamily="2" charset="0"/>
              </a:rPr>
              <a:t>Management</a:t>
            </a:r>
          </a:p>
        </p:txBody>
      </p:sp>
      <p:cxnSp>
        <p:nvCxnSpPr>
          <p:cNvPr id="12" name="Straight Connector 11">
            <a:extLst>
              <a:ext uri="{FF2B5EF4-FFF2-40B4-BE49-F238E27FC236}">
                <a16:creationId xmlns:a16="http://schemas.microsoft.com/office/drawing/2014/main" id="{657EFF75-3820-19CD-FE13-6D7AC43D8B5B}"/>
              </a:ext>
            </a:extLst>
          </p:cNvPr>
          <p:cNvCxnSpPr>
            <a:cxnSpLocks/>
          </p:cNvCxnSpPr>
          <p:nvPr/>
        </p:nvCxnSpPr>
        <p:spPr>
          <a:xfrm flipV="1">
            <a:off x="5441373" y="3020784"/>
            <a:ext cx="0" cy="57453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7D00FA-A979-3B82-3836-3BA59E0A7E0A}"/>
              </a:ext>
            </a:extLst>
          </p:cNvPr>
          <p:cNvCxnSpPr>
            <a:cxnSpLocks/>
            <a:endCxn id="6" idx="3"/>
          </p:cNvCxnSpPr>
          <p:nvPr/>
        </p:nvCxnSpPr>
        <p:spPr>
          <a:xfrm flipH="1">
            <a:off x="7751618" y="2639291"/>
            <a:ext cx="595744" cy="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1EA056-296D-3715-9561-36AC4B7C8ED6}"/>
              </a:ext>
            </a:extLst>
          </p:cNvPr>
          <p:cNvCxnSpPr>
            <a:cxnSpLocks/>
          </p:cNvCxnSpPr>
          <p:nvPr/>
        </p:nvCxnSpPr>
        <p:spPr>
          <a:xfrm flipH="1">
            <a:off x="7751617" y="4038423"/>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CBB69A1-87E6-40A5-965B-403E988D3529}"/>
              </a:ext>
            </a:extLst>
          </p:cNvPr>
          <p:cNvSpPr/>
          <p:nvPr/>
        </p:nvSpPr>
        <p:spPr>
          <a:xfrm>
            <a:off x="3131127" y="5139861"/>
            <a:ext cx="4620491" cy="803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Collection tier</a:t>
            </a:r>
          </a:p>
        </p:txBody>
      </p:sp>
      <p:cxnSp>
        <p:nvCxnSpPr>
          <p:cNvPr id="10" name="Straight Connector 9">
            <a:extLst>
              <a:ext uri="{FF2B5EF4-FFF2-40B4-BE49-F238E27FC236}">
                <a16:creationId xmlns:a16="http://schemas.microsoft.com/office/drawing/2014/main" id="{4F3B3521-D391-41EF-568D-4AAA7ACC45EC}"/>
              </a:ext>
            </a:extLst>
          </p:cNvPr>
          <p:cNvCxnSpPr>
            <a:cxnSpLocks/>
          </p:cNvCxnSpPr>
          <p:nvPr/>
        </p:nvCxnSpPr>
        <p:spPr>
          <a:xfrm flipV="1">
            <a:off x="5441373" y="4516318"/>
            <a:ext cx="0" cy="57453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9A18CE2-1739-484D-80B1-6DD657D00F6B}"/>
              </a:ext>
            </a:extLst>
          </p:cNvPr>
          <p:cNvCxnSpPr>
            <a:cxnSpLocks/>
          </p:cNvCxnSpPr>
          <p:nvPr/>
        </p:nvCxnSpPr>
        <p:spPr>
          <a:xfrm flipH="1">
            <a:off x="7749141" y="5516723"/>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50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8200" y="6399768"/>
            <a:ext cx="3456587" cy="369332"/>
          </a:xfrm>
          <a:prstGeom prst="rect">
            <a:avLst/>
          </a:prstGeom>
          <a:noFill/>
        </p:spPr>
        <p:txBody>
          <a:bodyPr wrap="none" rtlCol="0">
            <a:spAutoFit/>
          </a:bodyPr>
          <a:lstStyle/>
          <a:p>
            <a:r>
              <a:rPr lang="de-DE" dirty="0"/>
              <a:t>© Adam Frisbee, </a:t>
            </a:r>
            <a:r>
              <a:rPr lang="de-DE" dirty="0" err="1"/>
              <a:t>adamfrisbee.com</a:t>
            </a:r>
            <a:endParaRPr lang="en-US" dirty="0"/>
          </a:p>
        </p:txBody>
      </p:sp>
      <p:sp>
        <p:nvSpPr>
          <p:cNvPr id="12" name="Content Placeholder 11">
            <a:extLst>
              <a:ext uri="{FF2B5EF4-FFF2-40B4-BE49-F238E27FC236}">
                <a16:creationId xmlns:a16="http://schemas.microsoft.com/office/drawing/2014/main" id="{EE020ECD-8C31-48BF-9D26-6124245A148C}"/>
              </a:ext>
            </a:extLst>
          </p:cNvPr>
          <p:cNvSpPr>
            <a:spLocks noGrp="1"/>
          </p:cNvSpPr>
          <p:nvPr>
            <p:ph idx="1"/>
          </p:nvPr>
        </p:nvSpPr>
        <p:spPr>
          <a:xfrm>
            <a:off x="838200" y="1516743"/>
            <a:ext cx="4889492" cy="4660220"/>
          </a:xfrm>
        </p:spPr>
        <p:txBody>
          <a:bodyPr/>
          <a:lstStyle/>
          <a:p>
            <a:pPr marL="0" indent="0">
              <a:buNone/>
            </a:pPr>
            <a:r>
              <a:rPr lang="en-US" dirty="0"/>
              <a:t>C1/C11 (Distributed Clustered Deployment – Single Site)</a:t>
            </a:r>
          </a:p>
          <a:p>
            <a:pPr marL="0" indent="0">
              <a:buNone/>
            </a:pPr>
            <a:endParaRPr lang="en-US" dirty="0"/>
          </a:p>
          <a:p>
            <a:r>
              <a:rPr lang="en-US" dirty="0"/>
              <a:t>One or more stand-alone</a:t>
            </a:r>
            <a:br>
              <a:rPr lang="en-US" dirty="0"/>
            </a:br>
            <a:r>
              <a:rPr lang="en-US" dirty="0"/>
              <a:t>search heads</a:t>
            </a:r>
          </a:p>
          <a:p>
            <a:r>
              <a:rPr lang="en-US" dirty="0"/>
              <a:t>An indexer cluster with data replication</a:t>
            </a:r>
          </a:p>
          <a:p>
            <a:r>
              <a:rPr lang="en-US" dirty="0"/>
              <a:t>Multiple, load balanced</a:t>
            </a:r>
            <a:br>
              <a:rPr lang="en-US" dirty="0"/>
            </a:br>
            <a:r>
              <a:rPr lang="en-US" dirty="0"/>
              <a:t>collection inputs</a:t>
            </a:r>
          </a:p>
        </p:txBody>
      </p:sp>
      <p:sp>
        <p:nvSpPr>
          <p:cNvPr id="5" name="Title 1">
            <a:extLst>
              <a:ext uri="{FF2B5EF4-FFF2-40B4-BE49-F238E27FC236}">
                <a16:creationId xmlns:a16="http://schemas.microsoft.com/office/drawing/2014/main" id="{8CCC87D8-3153-F6CE-84F3-47188675CA38}"/>
              </a:ext>
            </a:extLst>
          </p:cNvPr>
          <p:cNvSpPr>
            <a:spLocks noGrp="1"/>
          </p:cNvSpPr>
          <p:nvPr>
            <p:ph type="title"/>
          </p:nvPr>
        </p:nvSpPr>
        <p:spPr>
          <a:xfrm>
            <a:off x="838200" y="365125"/>
            <a:ext cx="10515600" cy="1325563"/>
          </a:xfrm>
        </p:spPr>
        <p:txBody>
          <a:bodyPr/>
          <a:lstStyle/>
          <a:p>
            <a:r>
              <a:rPr lang="en-US" dirty="0"/>
              <a:t>Splunk Enterprise</a:t>
            </a:r>
          </a:p>
        </p:txBody>
      </p:sp>
      <p:pic>
        <p:nvPicPr>
          <p:cNvPr id="4" name="Picture 3">
            <a:extLst>
              <a:ext uri="{FF2B5EF4-FFF2-40B4-BE49-F238E27FC236}">
                <a16:creationId xmlns:a16="http://schemas.microsoft.com/office/drawing/2014/main" id="{8C7F3261-D318-CD3F-DD81-266FE2B8CB20}"/>
              </a:ext>
            </a:extLst>
          </p:cNvPr>
          <p:cNvPicPr>
            <a:picLocks noChangeAspect="1"/>
          </p:cNvPicPr>
          <p:nvPr/>
        </p:nvPicPr>
        <p:blipFill>
          <a:blip r:embed="rId3"/>
          <a:stretch>
            <a:fillRect/>
          </a:stretch>
        </p:blipFill>
        <p:spPr>
          <a:xfrm>
            <a:off x="6577044" y="4874347"/>
            <a:ext cx="1005527" cy="1327296"/>
          </a:xfrm>
          <a:prstGeom prst="rect">
            <a:avLst/>
          </a:prstGeom>
        </p:spPr>
      </p:pic>
      <p:pic>
        <p:nvPicPr>
          <p:cNvPr id="8" name="Picture 7">
            <a:extLst>
              <a:ext uri="{FF2B5EF4-FFF2-40B4-BE49-F238E27FC236}">
                <a16:creationId xmlns:a16="http://schemas.microsoft.com/office/drawing/2014/main" id="{387A81C3-36CC-523D-CB4C-49E8B5C8B447}"/>
              </a:ext>
            </a:extLst>
          </p:cNvPr>
          <p:cNvPicPr>
            <a:picLocks noChangeAspect="1"/>
          </p:cNvPicPr>
          <p:nvPr/>
        </p:nvPicPr>
        <p:blipFill>
          <a:blip r:embed="rId4"/>
          <a:stretch>
            <a:fillRect/>
          </a:stretch>
        </p:blipFill>
        <p:spPr>
          <a:xfrm>
            <a:off x="5600344" y="4832223"/>
            <a:ext cx="1169427" cy="1425835"/>
          </a:xfrm>
          <a:prstGeom prst="rect">
            <a:avLst/>
          </a:prstGeom>
        </p:spPr>
      </p:pic>
      <p:pic>
        <p:nvPicPr>
          <p:cNvPr id="10" name="Picture 9">
            <a:extLst>
              <a:ext uri="{FF2B5EF4-FFF2-40B4-BE49-F238E27FC236}">
                <a16:creationId xmlns:a16="http://schemas.microsoft.com/office/drawing/2014/main" id="{C1EC7840-F191-CBA3-4A48-5489B5E46EB8}"/>
              </a:ext>
            </a:extLst>
          </p:cNvPr>
          <p:cNvPicPr>
            <a:picLocks noChangeAspect="1"/>
          </p:cNvPicPr>
          <p:nvPr/>
        </p:nvPicPr>
        <p:blipFill>
          <a:blip r:embed="rId5"/>
          <a:stretch>
            <a:fillRect/>
          </a:stretch>
        </p:blipFill>
        <p:spPr>
          <a:xfrm>
            <a:off x="6075809" y="3441352"/>
            <a:ext cx="878174" cy="1312981"/>
          </a:xfrm>
          <a:prstGeom prst="rect">
            <a:avLst/>
          </a:prstGeom>
        </p:spPr>
      </p:pic>
      <p:pic>
        <p:nvPicPr>
          <p:cNvPr id="11" name="Picture 10">
            <a:extLst>
              <a:ext uri="{FF2B5EF4-FFF2-40B4-BE49-F238E27FC236}">
                <a16:creationId xmlns:a16="http://schemas.microsoft.com/office/drawing/2014/main" id="{85522CC5-BCA1-99CD-226A-2B768FFF38FA}"/>
              </a:ext>
            </a:extLst>
          </p:cNvPr>
          <p:cNvPicPr>
            <a:picLocks noChangeAspect="1"/>
          </p:cNvPicPr>
          <p:nvPr/>
        </p:nvPicPr>
        <p:blipFill>
          <a:blip r:embed="rId5"/>
          <a:stretch>
            <a:fillRect/>
          </a:stretch>
        </p:blipFill>
        <p:spPr>
          <a:xfrm>
            <a:off x="7301324" y="3409416"/>
            <a:ext cx="878174" cy="1312981"/>
          </a:xfrm>
          <a:prstGeom prst="rect">
            <a:avLst/>
          </a:prstGeom>
        </p:spPr>
      </p:pic>
      <p:pic>
        <p:nvPicPr>
          <p:cNvPr id="14" name="Picture 13">
            <a:extLst>
              <a:ext uri="{FF2B5EF4-FFF2-40B4-BE49-F238E27FC236}">
                <a16:creationId xmlns:a16="http://schemas.microsoft.com/office/drawing/2014/main" id="{8B28E2ED-9998-FB5E-0061-1E66A093A567}"/>
              </a:ext>
            </a:extLst>
          </p:cNvPr>
          <p:cNvPicPr>
            <a:picLocks noChangeAspect="1"/>
          </p:cNvPicPr>
          <p:nvPr/>
        </p:nvPicPr>
        <p:blipFill>
          <a:blip r:embed="rId6"/>
          <a:stretch>
            <a:fillRect/>
          </a:stretch>
        </p:blipFill>
        <p:spPr>
          <a:xfrm>
            <a:off x="6591986" y="1918427"/>
            <a:ext cx="984247" cy="1312981"/>
          </a:xfrm>
          <a:prstGeom prst="rect">
            <a:avLst/>
          </a:prstGeom>
        </p:spPr>
      </p:pic>
      <p:pic>
        <p:nvPicPr>
          <p:cNvPr id="16" name="Picture 15">
            <a:extLst>
              <a:ext uri="{FF2B5EF4-FFF2-40B4-BE49-F238E27FC236}">
                <a16:creationId xmlns:a16="http://schemas.microsoft.com/office/drawing/2014/main" id="{C6FDA3FD-54EE-9A47-F859-A5DB28D4DE59}"/>
              </a:ext>
            </a:extLst>
          </p:cNvPr>
          <p:cNvPicPr>
            <a:picLocks noChangeAspect="1"/>
          </p:cNvPicPr>
          <p:nvPr/>
        </p:nvPicPr>
        <p:blipFill>
          <a:blip r:embed="rId7"/>
          <a:stretch>
            <a:fillRect/>
          </a:stretch>
        </p:blipFill>
        <p:spPr>
          <a:xfrm>
            <a:off x="7399978" y="4807478"/>
            <a:ext cx="1441560" cy="1521435"/>
          </a:xfrm>
          <a:prstGeom prst="rect">
            <a:avLst/>
          </a:prstGeom>
        </p:spPr>
      </p:pic>
      <p:cxnSp>
        <p:nvCxnSpPr>
          <p:cNvPr id="18" name="Straight Arrow Connector 17">
            <a:extLst>
              <a:ext uri="{FF2B5EF4-FFF2-40B4-BE49-F238E27FC236}">
                <a16:creationId xmlns:a16="http://schemas.microsoft.com/office/drawing/2014/main" id="{840C935E-AB47-6A71-996F-82A09350AB0F}"/>
              </a:ext>
            </a:extLst>
          </p:cNvPr>
          <p:cNvCxnSpPr>
            <a:cxnSpLocks/>
          </p:cNvCxnSpPr>
          <p:nvPr/>
        </p:nvCxnSpPr>
        <p:spPr>
          <a:xfrm>
            <a:off x="6859177" y="3930439"/>
            <a:ext cx="551687" cy="0"/>
          </a:xfrm>
          <a:prstGeom prst="straightConnector1">
            <a:avLst/>
          </a:prstGeom>
          <a:ln w="38100">
            <a:headEnd type="arrow" w="med" len="med"/>
            <a:tailEnd type="arrow" w="med" len="med"/>
          </a:ln>
        </p:spPr>
        <p:style>
          <a:lnRef idx="1">
            <a:schemeClr val="accent6"/>
          </a:lnRef>
          <a:fillRef idx="0">
            <a:schemeClr val="accent6"/>
          </a:fillRef>
          <a:effectRef idx="0">
            <a:schemeClr val="accent6"/>
          </a:effectRef>
          <a:fontRef idx="minor">
            <a:schemeClr val="tx1"/>
          </a:fontRef>
        </p:style>
      </p:cxnSp>
      <p:cxnSp>
        <p:nvCxnSpPr>
          <p:cNvPr id="25" name="Straight Arrow Connector 24">
            <a:extLst>
              <a:ext uri="{FF2B5EF4-FFF2-40B4-BE49-F238E27FC236}">
                <a16:creationId xmlns:a16="http://schemas.microsoft.com/office/drawing/2014/main" id="{A7EFAF45-5F42-A872-E873-0888EA852A8F}"/>
              </a:ext>
            </a:extLst>
          </p:cNvPr>
          <p:cNvCxnSpPr>
            <a:cxnSpLocks/>
          </p:cNvCxnSpPr>
          <p:nvPr/>
        </p:nvCxnSpPr>
        <p:spPr>
          <a:xfrm flipH="1" flipV="1">
            <a:off x="7101970" y="4501145"/>
            <a:ext cx="1" cy="3732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73F7317-EC07-0BF6-3C22-8C1E05EFFDED}"/>
              </a:ext>
            </a:extLst>
          </p:cNvPr>
          <p:cNvCxnSpPr>
            <a:cxnSpLocks/>
          </p:cNvCxnSpPr>
          <p:nvPr/>
        </p:nvCxnSpPr>
        <p:spPr>
          <a:xfrm flipH="1" flipV="1">
            <a:off x="7101970" y="3149779"/>
            <a:ext cx="1" cy="3732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2CE660C-9892-C60C-92CA-C56360348C3D}"/>
              </a:ext>
            </a:extLst>
          </p:cNvPr>
          <p:cNvSpPr/>
          <p:nvPr/>
        </p:nvSpPr>
        <p:spPr>
          <a:xfrm>
            <a:off x="8841538" y="1942662"/>
            <a:ext cx="2512262" cy="4187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D21F7BF-9EE5-D0C9-E046-6FC7863DB477}"/>
              </a:ext>
            </a:extLst>
          </p:cNvPr>
          <p:cNvPicPr>
            <a:picLocks noChangeAspect="1"/>
          </p:cNvPicPr>
          <p:nvPr/>
        </p:nvPicPr>
        <p:blipFill>
          <a:blip r:embed="rId8"/>
          <a:stretch>
            <a:fillRect/>
          </a:stretch>
        </p:blipFill>
        <p:spPr>
          <a:xfrm>
            <a:off x="8945478" y="4643587"/>
            <a:ext cx="1107652" cy="1573924"/>
          </a:xfrm>
          <a:prstGeom prst="rect">
            <a:avLst/>
          </a:prstGeom>
        </p:spPr>
      </p:pic>
      <p:pic>
        <p:nvPicPr>
          <p:cNvPr id="3" name="Picture 2" descr="A black and white image of a device&#10;&#10;AI-generated content may be incorrect.">
            <a:extLst>
              <a:ext uri="{FF2B5EF4-FFF2-40B4-BE49-F238E27FC236}">
                <a16:creationId xmlns:a16="http://schemas.microsoft.com/office/drawing/2014/main" id="{7AABF69E-C401-EC64-CFB8-7D912B1E03A0}"/>
              </a:ext>
            </a:extLst>
          </p:cNvPr>
          <p:cNvPicPr>
            <a:picLocks noChangeAspect="1"/>
          </p:cNvPicPr>
          <p:nvPr/>
        </p:nvPicPr>
        <p:blipFill>
          <a:blip r:embed="rId9"/>
          <a:stretch>
            <a:fillRect/>
          </a:stretch>
        </p:blipFill>
        <p:spPr>
          <a:xfrm>
            <a:off x="8858011" y="3362130"/>
            <a:ext cx="1282587" cy="1348743"/>
          </a:xfrm>
          <a:prstGeom prst="rect">
            <a:avLst/>
          </a:prstGeom>
        </p:spPr>
      </p:pic>
      <p:grpSp>
        <p:nvGrpSpPr>
          <p:cNvPr id="6" name="Group 5">
            <a:extLst>
              <a:ext uri="{FF2B5EF4-FFF2-40B4-BE49-F238E27FC236}">
                <a16:creationId xmlns:a16="http://schemas.microsoft.com/office/drawing/2014/main" id="{596E947F-152F-26B8-6424-3B8C8C04BA09}"/>
              </a:ext>
            </a:extLst>
          </p:cNvPr>
          <p:cNvGrpSpPr/>
          <p:nvPr/>
        </p:nvGrpSpPr>
        <p:grpSpPr>
          <a:xfrm>
            <a:off x="8934229" y="1982476"/>
            <a:ext cx="1130150" cy="1191498"/>
            <a:chOff x="9860328" y="2481623"/>
            <a:chExt cx="1658940" cy="1863966"/>
          </a:xfrm>
        </p:grpSpPr>
        <p:pic>
          <p:nvPicPr>
            <p:cNvPr id="9" name="Picture 8">
              <a:extLst>
                <a:ext uri="{FF2B5EF4-FFF2-40B4-BE49-F238E27FC236}">
                  <a16:creationId xmlns:a16="http://schemas.microsoft.com/office/drawing/2014/main" id="{E15D567B-5E57-4487-93C8-7E76EEAEC7B4}"/>
                </a:ext>
              </a:extLst>
            </p:cNvPr>
            <p:cNvPicPr>
              <a:picLocks noChangeAspect="1"/>
            </p:cNvPicPr>
            <p:nvPr/>
          </p:nvPicPr>
          <p:blipFill>
            <a:blip r:embed="rId10"/>
            <a:srcRect b="24595"/>
            <a:stretch/>
          </p:blipFill>
          <p:spPr>
            <a:xfrm>
              <a:off x="9860328" y="2481623"/>
              <a:ext cx="1575953" cy="1654948"/>
            </a:xfrm>
            <a:prstGeom prst="rect">
              <a:avLst/>
            </a:prstGeom>
          </p:spPr>
        </p:pic>
        <p:sp>
          <p:nvSpPr>
            <p:cNvPr id="13" name="TextBox 12">
              <a:extLst>
                <a:ext uri="{FF2B5EF4-FFF2-40B4-BE49-F238E27FC236}">
                  <a16:creationId xmlns:a16="http://schemas.microsoft.com/office/drawing/2014/main" id="{B5D70712-8165-5C8E-5B96-7B1577845903}"/>
                </a:ext>
              </a:extLst>
            </p:cNvPr>
            <p:cNvSpPr txBox="1"/>
            <p:nvPr/>
          </p:nvSpPr>
          <p:spPr>
            <a:xfrm>
              <a:off x="9871384" y="3967294"/>
              <a:ext cx="1647884" cy="378295"/>
            </a:xfrm>
            <a:prstGeom prst="rect">
              <a:avLst/>
            </a:prstGeom>
            <a:noFill/>
          </p:spPr>
          <p:txBody>
            <a:bodyPr wrap="none" rtlCol="0">
              <a:spAutoFit/>
            </a:bodyPr>
            <a:lstStyle/>
            <a:p>
              <a:pPr algn="ctr"/>
              <a:r>
                <a:rPr lang="en-US" sz="1000" dirty="0">
                  <a:latin typeface="Stone Sans"/>
                </a:rPr>
                <a:t>License Manager</a:t>
              </a:r>
            </a:p>
          </p:txBody>
        </p:sp>
      </p:grpSp>
      <p:pic>
        <p:nvPicPr>
          <p:cNvPr id="15" name="Picture 14" descr="A black rectangular object with a black background&#10;&#10;AI-generated content may be incorrect.">
            <a:extLst>
              <a:ext uri="{FF2B5EF4-FFF2-40B4-BE49-F238E27FC236}">
                <a16:creationId xmlns:a16="http://schemas.microsoft.com/office/drawing/2014/main" id="{92902BE1-CC71-DAB4-3E6C-E8C82BFF08C5}"/>
              </a:ext>
            </a:extLst>
          </p:cNvPr>
          <p:cNvPicPr>
            <a:picLocks noChangeAspect="1"/>
          </p:cNvPicPr>
          <p:nvPr/>
        </p:nvPicPr>
        <p:blipFill>
          <a:blip r:embed="rId11"/>
          <a:stretch>
            <a:fillRect/>
          </a:stretch>
        </p:blipFill>
        <p:spPr>
          <a:xfrm>
            <a:off x="9940947" y="2027107"/>
            <a:ext cx="1282588" cy="1151917"/>
          </a:xfrm>
          <a:prstGeom prst="rect">
            <a:avLst/>
          </a:prstGeom>
        </p:spPr>
      </p:pic>
    </p:spTree>
    <p:extLst>
      <p:ext uri="{BB962C8B-B14F-4D97-AF65-F5344CB8AC3E}">
        <p14:creationId xmlns:p14="http://schemas.microsoft.com/office/powerpoint/2010/main" val="3093393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7ED7-2F49-5342-8F76-934C89D38AF8}"/>
              </a:ext>
            </a:extLst>
          </p:cNvPr>
          <p:cNvSpPr>
            <a:spLocks noGrp="1"/>
          </p:cNvSpPr>
          <p:nvPr>
            <p:ph type="title"/>
          </p:nvPr>
        </p:nvSpPr>
        <p:spPr/>
        <p:txBody>
          <a:bodyPr/>
          <a:lstStyle/>
          <a:p>
            <a:r>
              <a:rPr lang="en-US" dirty="0"/>
              <a:t>Splunk Enterprise C3 Architecture</a:t>
            </a:r>
          </a:p>
        </p:txBody>
      </p:sp>
      <p:sp>
        <p:nvSpPr>
          <p:cNvPr id="3" name="Rectangle 2">
            <a:extLst>
              <a:ext uri="{FF2B5EF4-FFF2-40B4-BE49-F238E27FC236}">
                <a16:creationId xmlns:a16="http://schemas.microsoft.com/office/drawing/2014/main" id="{15F78D5F-ECA4-4CC7-A566-EEDF6B8A3930}"/>
              </a:ext>
            </a:extLst>
          </p:cNvPr>
          <p:cNvSpPr/>
          <p:nvPr/>
        </p:nvSpPr>
        <p:spPr>
          <a:xfrm>
            <a:off x="3131127" y="2265219"/>
            <a:ext cx="4620491" cy="7481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Search tier</a:t>
            </a:r>
          </a:p>
        </p:txBody>
      </p:sp>
      <p:sp>
        <p:nvSpPr>
          <p:cNvPr id="4" name="Rectangle 3">
            <a:extLst>
              <a:ext uri="{FF2B5EF4-FFF2-40B4-BE49-F238E27FC236}">
                <a16:creationId xmlns:a16="http://schemas.microsoft.com/office/drawing/2014/main" id="{CB4FD440-55AF-6287-7299-2ED270AFF864}"/>
              </a:ext>
            </a:extLst>
          </p:cNvPr>
          <p:cNvSpPr/>
          <p:nvPr/>
        </p:nvSpPr>
        <p:spPr>
          <a:xfrm>
            <a:off x="3131126" y="3713286"/>
            <a:ext cx="4620491" cy="80303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Indexing tier</a:t>
            </a:r>
          </a:p>
        </p:txBody>
      </p:sp>
      <p:sp>
        <p:nvSpPr>
          <p:cNvPr id="7" name="Rectangle 6">
            <a:extLst>
              <a:ext uri="{FF2B5EF4-FFF2-40B4-BE49-F238E27FC236}">
                <a16:creationId xmlns:a16="http://schemas.microsoft.com/office/drawing/2014/main" id="{A3539417-4A82-D020-BD1A-D14BE016F913}"/>
              </a:ext>
            </a:extLst>
          </p:cNvPr>
          <p:cNvSpPr/>
          <p:nvPr/>
        </p:nvSpPr>
        <p:spPr>
          <a:xfrm>
            <a:off x="8445945" y="2265220"/>
            <a:ext cx="883724" cy="36776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latin typeface="Oxygen" panose="02000503000000000000" pitchFamily="2" charset="0"/>
              </a:rPr>
              <a:t>Management</a:t>
            </a:r>
          </a:p>
        </p:txBody>
      </p:sp>
      <p:cxnSp>
        <p:nvCxnSpPr>
          <p:cNvPr id="11" name="Straight Connector 10">
            <a:extLst>
              <a:ext uri="{FF2B5EF4-FFF2-40B4-BE49-F238E27FC236}">
                <a16:creationId xmlns:a16="http://schemas.microsoft.com/office/drawing/2014/main" id="{F42EE163-FE5A-B29A-A5B1-B337EDCC8D1C}"/>
              </a:ext>
            </a:extLst>
          </p:cNvPr>
          <p:cNvCxnSpPr>
            <a:cxnSpLocks/>
          </p:cNvCxnSpPr>
          <p:nvPr/>
        </p:nvCxnSpPr>
        <p:spPr>
          <a:xfrm flipV="1">
            <a:off x="5441373" y="3020784"/>
            <a:ext cx="0" cy="57453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40E6747-9EF5-361C-CDD0-057A651E0FC4}"/>
              </a:ext>
            </a:extLst>
          </p:cNvPr>
          <p:cNvCxnSpPr>
            <a:cxnSpLocks/>
            <a:endCxn id="3" idx="3"/>
          </p:cNvCxnSpPr>
          <p:nvPr/>
        </p:nvCxnSpPr>
        <p:spPr>
          <a:xfrm flipH="1">
            <a:off x="7751618" y="2639291"/>
            <a:ext cx="595744" cy="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CADAA33-767C-03A6-718C-B359584AEFBC}"/>
              </a:ext>
            </a:extLst>
          </p:cNvPr>
          <p:cNvCxnSpPr>
            <a:cxnSpLocks/>
          </p:cNvCxnSpPr>
          <p:nvPr/>
        </p:nvCxnSpPr>
        <p:spPr>
          <a:xfrm flipH="1">
            <a:off x="7751617" y="4038423"/>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C968860-C08E-7001-58DB-963AD4D393EB}"/>
              </a:ext>
            </a:extLst>
          </p:cNvPr>
          <p:cNvSpPr/>
          <p:nvPr/>
        </p:nvSpPr>
        <p:spPr>
          <a:xfrm>
            <a:off x="3131127" y="5139861"/>
            <a:ext cx="4620491" cy="803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Collection tier</a:t>
            </a:r>
          </a:p>
        </p:txBody>
      </p:sp>
      <p:cxnSp>
        <p:nvCxnSpPr>
          <p:cNvPr id="19" name="Straight Connector 18">
            <a:extLst>
              <a:ext uri="{FF2B5EF4-FFF2-40B4-BE49-F238E27FC236}">
                <a16:creationId xmlns:a16="http://schemas.microsoft.com/office/drawing/2014/main" id="{38A3F5E7-A336-7A05-9DD7-73A99EBB88F1}"/>
              </a:ext>
            </a:extLst>
          </p:cNvPr>
          <p:cNvCxnSpPr>
            <a:cxnSpLocks/>
          </p:cNvCxnSpPr>
          <p:nvPr/>
        </p:nvCxnSpPr>
        <p:spPr>
          <a:xfrm flipV="1">
            <a:off x="5441373" y="4516318"/>
            <a:ext cx="0" cy="57453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1B0365-D157-D532-F20E-24E5B608E970}"/>
              </a:ext>
            </a:extLst>
          </p:cNvPr>
          <p:cNvCxnSpPr>
            <a:cxnSpLocks/>
          </p:cNvCxnSpPr>
          <p:nvPr/>
        </p:nvCxnSpPr>
        <p:spPr>
          <a:xfrm flipH="1">
            <a:off x="7749141" y="5516723"/>
            <a:ext cx="595745"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252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43" name="Content Placeholder 2">
            <a:extLst>
              <a:ext uri="{FF2B5EF4-FFF2-40B4-BE49-F238E27FC236}">
                <a16:creationId xmlns:a16="http://schemas.microsoft.com/office/drawing/2014/main" id="{5A01C5E3-659C-41A9-8E6A-E980FB31C823}"/>
              </a:ext>
            </a:extLst>
          </p:cNvPr>
          <p:cNvSpPr>
            <a:spLocks noGrp="1"/>
          </p:cNvSpPr>
          <p:nvPr>
            <p:ph idx="1"/>
          </p:nvPr>
        </p:nvSpPr>
        <p:spPr>
          <a:xfrm>
            <a:off x="838200" y="1493117"/>
            <a:ext cx="4594938" cy="4351338"/>
          </a:xfrm>
        </p:spPr>
        <p:txBody>
          <a:bodyPr/>
          <a:lstStyle/>
          <a:p>
            <a:pPr marL="0" indent="0">
              <a:buNone/>
            </a:pPr>
            <a:r>
              <a:rPr lang="en-US" sz="2000" dirty="0"/>
              <a:t>C3/C13 (Distributed Clustered Deployment with SHC – Single Site)</a:t>
            </a:r>
          </a:p>
          <a:p>
            <a:pPr marL="0" indent="0">
              <a:buNone/>
            </a:pPr>
            <a:endParaRPr lang="en-US" dirty="0"/>
          </a:p>
          <a:p>
            <a:endParaRPr lang="en-US" dirty="0">
              <a:latin typeface="Oxygen" charset="0"/>
              <a:ea typeface="Oxygen" charset="0"/>
              <a:cs typeface="Oxygen" charset="0"/>
            </a:endParaRPr>
          </a:p>
          <a:p>
            <a:r>
              <a:rPr lang="en-US" dirty="0">
                <a:latin typeface="Oxygen" charset="0"/>
                <a:ea typeface="Oxygen" charset="0"/>
                <a:cs typeface="Oxygen" charset="0"/>
              </a:rPr>
              <a:t>Search head cluster</a:t>
            </a:r>
          </a:p>
          <a:p>
            <a:pPr lvl="1"/>
            <a:r>
              <a:rPr lang="en-US" dirty="0">
                <a:latin typeface="Oxygen" charset="0"/>
                <a:ea typeface="Oxygen" charset="0"/>
                <a:cs typeface="Oxygen" charset="0"/>
              </a:rPr>
              <a:t>Deployer</a:t>
            </a:r>
          </a:p>
          <a:p>
            <a:r>
              <a:rPr lang="en-US" dirty="0">
                <a:latin typeface="Oxygen" charset="0"/>
                <a:ea typeface="Oxygen" charset="0"/>
                <a:cs typeface="Oxygen" charset="0"/>
              </a:rPr>
              <a:t>Indexer cluster</a:t>
            </a:r>
          </a:p>
          <a:p>
            <a:pPr lvl="1"/>
            <a:r>
              <a:rPr lang="en-US" dirty="0">
                <a:latin typeface="Oxygen" charset="0"/>
                <a:ea typeface="Oxygen" charset="0"/>
                <a:cs typeface="Oxygen" charset="0"/>
              </a:rPr>
              <a:t>Cluster Manager</a:t>
            </a:r>
          </a:p>
        </p:txBody>
      </p:sp>
      <p:sp>
        <p:nvSpPr>
          <p:cNvPr id="4" name="Title 1">
            <a:extLst>
              <a:ext uri="{FF2B5EF4-FFF2-40B4-BE49-F238E27FC236}">
                <a16:creationId xmlns:a16="http://schemas.microsoft.com/office/drawing/2014/main" id="{821A60FD-55AC-C0F4-EADD-33CD86B4619F}"/>
              </a:ext>
            </a:extLst>
          </p:cNvPr>
          <p:cNvSpPr>
            <a:spLocks noGrp="1"/>
          </p:cNvSpPr>
          <p:nvPr>
            <p:ph type="title"/>
          </p:nvPr>
        </p:nvSpPr>
        <p:spPr>
          <a:xfrm>
            <a:off x="838200" y="365125"/>
            <a:ext cx="10515600" cy="1325563"/>
          </a:xfrm>
        </p:spPr>
        <p:txBody>
          <a:bodyPr/>
          <a:lstStyle/>
          <a:p>
            <a:r>
              <a:rPr lang="en-US" dirty="0"/>
              <a:t>Splunk Enterprise C3 Architecture</a:t>
            </a:r>
          </a:p>
        </p:txBody>
      </p:sp>
      <p:pic>
        <p:nvPicPr>
          <p:cNvPr id="2" name="Picture 1">
            <a:extLst>
              <a:ext uri="{FF2B5EF4-FFF2-40B4-BE49-F238E27FC236}">
                <a16:creationId xmlns:a16="http://schemas.microsoft.com/office/drawing/2014/main" id="{D4B4DE42-56D4-D25D-F34C-2F23D05CC0C8}"/>
              </a:ext>
            </a:extLst>
          </p:cNvPr>
          <p:cNvPicPr>
            <a:picLocks noChangeAspect="1"/>
          </p:cNvPicPr>
          <p:nvPr/>
        </p:nvPicPr>
        <p:blipFill>
          <a:blip r:embed="rId3"/>
          <a:stretch>
            <a:fillRect/>
          </a:stretch>
        </p:blipFill>
        <p:spPr>
          <a:xfrm>
            <a:off x="6987653" y="4874347"/>
            <a:ext cx="1005527" cy="1327296"/>
          </a:xfrm>
          <a:prstGeom prst="rect">
            <a:avLst/>
          </a:prstGeom>
        </p:spPr>
      </p:pic>
      <p:pic>
        <p:nvPicPr>
          <p:cNvPr id="3" name="Picture 2">
            <a:extLst>
              <a:ext uri="{FF2B5EF4-FFF2-40B4-BE49-F238E27FC236}">
                <a16:creationId xmlns:a16="http://schemas.microsoft.com/office/drawing/2014/main" id="{FFFE065E-9BA1-93CF-7EC2-1354C48D8F15}"/>
              </a:ext>
            </a:extLst>
          </p:cNvPr>
          <p:cNvPicPr>
            <a:picLocks noChangeAspect="1"/>
          </p:cNvPicPr>
          <p:nvPr/>
        </p:nvPicPr>
        <p:blipFill>
          <a:blip r:embed="rId4"/>
          <a:stretch>
            <a:fillRect/>
          </a:stretch>
        </p:blipFill>
        <p:spPr>
          <a:xfrm>
            <a:off x="6010953" y="4832223"/>
            <a:ext cx="1169427" cy="1425835"/>
          </a:xfrm>
          <a:prstGeom prst="rect">
            <a:avLst/>
          </a:prstGeom>
        </p:spPr>
      </p:pic>
      <p:pic>
        <p:nvPicPr>
          <p:cNvPr id="5" name="Picture 4">
            <a:extLst>
              <a:ext uri="{FF2B5EF4-FFF2-40B4-BE49-F238E27FC236}">
                <a16:creationId xmlns:a16="http://schemas.microsoft.com/office/drawing/2014/main" id="{A09AF15C-940E-1F6B-837C-36AF1DACDD77}"/>
              </a:ext>
            </a:extLst>
          </p:cNvPr>
          <p:cNvPicPr>
            <a:picLocks noChangeAspect="1"/>
          </p:cNvPicPr>
          <p:nvPr/>
        </p:nvPicPr>
        <p:blipFill>
          <a:blip r:embed="rId5"/>
          <a:stretch>
            <a:fillRect/>
          </a:stretch>
        </p:blipFill>
        <p:spPr>
          <a:xfrm>
            <a:off x="6486418" y="3441352"/>
            <a:ext cx="878174" cy="1312981"/>
          </a:xfrm>
          <a:prstGeom prst="rect">
            <a:avLst/>
          </a:prstGeom>
        </p:spPr>
      </p:pic>
      <p:pic>
        <p:nvPicPr>
          <p:cNvPr id="6" name="Picture 5">
            <a:extLst>
              <a:ext uri="{FF2B5EF4-FFF2-40B4-BE49-F238E27FC236}">
                <a16:creationId xmlns:a16="http://schemas.microsoft.com/office/drawing/2014/main" id="{B7B3AAC8-CAC1-F5EE-D237-D567239D711E}"/>
              </a:ext>
            </a:extLst>
          </p:cNvPr>
          <p:cNvPicPr>
            <a:picLocks noChangeAspect="1"/>
          </p:cNvPicPr>
          <p:nvPr/>
        </p:nvPicPr>
        <p:blipFill>
          <a:blip r:embed="rId5"/>
          <a:stretch>
            <a:fillRect/>
          </a:stretch>
        </p:blipFill>
        <p:spPr>
          <a:xfrm>
            <a:off x="7711933" y="3409416"/>
            <a:ext cx="878174" cy="1312981"/>
          </a:xfrm>
          <a:prstGeom prst="rect">
            <a:avLst/>
          </a:prstGeom>
        </p:spPr>
      </p:pic>
      <p:pic>
        <p:nvPicPr>
          <p:cNvPr id="8" name="Picture 7">
            <a:extLst>
              <a:ext uri="{FF2B5EF4-FFF2-40B4-BE49-F238E27FC236}">
                <a16:creationId xmlns:a16="http://schemas.microsoft.com/office/drawing/2014/main" id="{FAB2C226-6496-07FB-011D-B263C17A265C}"/>
              </a:ext>
            </a:extLst>
          </p:cNvPr>
          <p:cNvPicPr>
            <a:picLocks noChangeAspect="1"/>
          </p:cNvPicPr>
          <p:nvPr/>
        </p:nvPicPr>
        <p:blipFill>
          <a:blip r:embed="rId6"/>
          <a:stretch>
            <a:fillRect/>
          </a:stretch>
        </p:blipFill>
        <p:spPr>
          <a:xfrm>
            <a:off x="6380345" y="1963617"/>
            <a:ext cx="984247" cy="1312981"/>
          </a:xfrm>
          <a:prstGeom prst="rect">
            <a:avLst/>
          </a:prstGeom>
        </p:spPr>
      </p:pic>
      <p:pic>
        <p:nvPicPr>
          <p:cNvPr id="9" name="Picture 8">
            <a:extLst>
              <a:ext uri="{FF2B5EF4-FFF2-40B4-BE49-F238E27FC236}">
                <a16:creationId xmlns:a16="http://schemas.microsoft.com/office/drawing/2014/main" id="{E773FE10-2692-E8DD-5D3E-BFE28EB9E75B}"/>
              </a:ext>
            </a:extLst>
          </p:cNvPr>
          <p:cNvPicPr>
            <a:picLocks noChangeAspect="1"/>
          </p:cNvPicPr>
          <p:nvPr/>
        </p:nvPicPr>
        <p:blipFill>
          <a:blip r:embed="rId7"/>
          <a:stretch>
            <a:fillRect/>
          </a:stretch>
        </p:blipFill>
        <p:spPr>
          <a:xfrm>
            <a:off x="7810587" y="4807478"/>
            <a:ext cx="1441560" cy="1521435"/>
          </a:xfrm>
          <a:prstGeom prst="rect">
            <a:avLst/>
          </a:prstGeom>
        </p:spPr>
      </p:pic>
      <p:cxnSp>
        <p:nvCxnSpPr>
          <p:cNvPr id="10" name="Straight Arrow Connector 9">
            <a:extLst>
              <a:ext uri="{FF2B5EF4-FFF2-40B4-BE49-F238E27FC236}">
                <a16:creationId xmlns:a16="http://schemas.microsoft.com/office/drawing/2014/main" id="{94BD5A89-4431-71B3-EA72-433C349D7255}"/>
              </a:ext>
            </a:extLst>
          </p:cNvPr>
          <p:cNvCxnSpPr>
            <a:cxnSpLocks/>
          </p:cNvCxnSpPr>
          <p:nvPr/>
        </p:nvCxnSpPr>
        <p:spPr>
          <a:xfrm>
            <a:off x="7258900" y="3930439"/>
            <a:ext cx="551687" cy="0"/>
          </a:xfrm>
          <a:prstGeom prst="straightConnector1">
            <a:avLst/>
          </a:prstGeom>
          <a:ln w="38100">
            <a:headEnd type="arrow" w="med" len="med"/>
            <a:tailEnd type="arrow" w="med" len="med"/>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C3E15257-2BAC-47DA-D96F-64CA361E5CDF}"/>
              </a:ext>
            </a:extLst>
          </p:cNvPr>
          <p:cNvCxnSpPr>
            <a:stCxn id="2" idx="0"/>
          </p:cNvCxnSpPr>
          <p:nvPr/>
        </p:nvCxnSpPr>
        <p:spPr>
          <a:xfrm flipH="1" flipV="1">
            <a:off x="7490416" y="4501145"/>
            <a:ext cx="1" cy="3732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39A51B4-B4D5-7486-F726-F39F4BF52684}"/>
              </a:ext>
            </a:extLst>
          </p:cNvPr>
          <p:cNvCxnSpPr/>
          <p:nvPr/>
        </p:nvCxnSpPr>
        <p:spPr>
          <a:xfrm flipH="1" flipV="1">
            <a:off x="7534741" y="3149779"/>
            <a:ext cx="1" cy="3732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D31BA56-599C-0197-AB3B-65AB7189148B}"/>
              </a:ext>
            </a:extLst>
          </p:cNvPr>
          <p:cNvSpPr/>
          <p:nvPr/>
        </p:nvSpPr>
        <p:spPr>
          <a:xfrm>
            <a:off x="9120066" y="1942662"/>
            <a:ext cx="2200249" cy="4187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81334C7-6E0D-62CE-A01D-23DEF0EFAFBC}"/>
              </a:ext>
            </a:extLst>
          </p:cNvPr>
          <p:cNvSpPr/>
          <p:nvPr/>
        </p:nvSpPr>
        <p:spPr>
          <a:xfrm>
            <a:off x="6211362" y="3336379"/>
            <a:ext cx="4320003" cy="1375563"/>
          </a:xfrm>
          <a:prstGeom prst="rect">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8091483-F969-A0F2-D8EF-D720A2B30B03}"/>
              </a:ext>
            </a:extLst>
          </p:cNvPr>
          <p:cNvPicPr>
            <a:picLocks noChangeAspect="1"/>
          </p:cNvPicPr>
          <p:nvPr/>
        </p:nvPicPr>
        <p:blipFill>
          <a:blip r:embed="rId6"/>
          <a:stretch>
            <a:fillRect/>
          </a:stretch>
        </p:blipFill>
        <p:spPr>
          <a:xfrm>
            <a:off x="7677436" y="1990381"/>
            <a:ext cx="984247" cy="1312981"/>
          </a:xfrm>
          <a:prstGeom prst="rect">
            <a:avLst/>
          </a:prstGeom>
        </p:spPr>
      </p:pic>
      <p:cxnSp>
        <p:nvCxnSpPr>
          <p:cNvPr id="17" name="Straight Arrow Connector 16">
            <a:extLst>
              <a:ext uri="{FF2B5EF4-FFF2-40B4-BE49-F238E27FC236}">
                <a16:creationId xmlns:a16="http://schemas.microsoft.com/office/drawing/2014/main" id="{C1948C2A-897A-E107-DE0C-36E2AD1893B5}"/>
              </a:ext>
            </a:extLst>
          </p:cNvPr>
          <p:cNvCxnSpPr>
            <a:cxnSpLocks/>
          </p:cNvCxnSpPr>
          <p:nvPr/>
        </p:nvCxnSpPr>
        <p:spPr>
          <a:xfrm>
            <a:off x="7302261" y="2523785"/>
            <a:ext cx="551687" cy="0"/>
          </a:xfrm>
          <a:prstGeom prst="straightConnector1">
            <a:avLst/>
          </a:prstGeom>
          <a:ln w="38100">
            <a:headEnd type="arrow" w="med" len="med"/>
            <a:tailEnd type="arrow" w="med" len="med"/>
          </a:ln>
        </p:spPr>
        <p:style>
          <a:lnRef idx="1">
            <a:schemeClr val="accent6"/>
          </a:lnRef>
          <a:fillRef idx="0">
            <a:schemeClr val="accent6"/>
          </a:fillRef>
          <a:effectRef idx="0">
            <a:schemeClr val="accent6"/>
          </a:effectRef>
          <a:fontRef idx="minor">
            <a:schemeClr val="tx1"/>
          </a:fontRef>
        </p:style>
      </p:cxnSp>
      <p:pic>
        <p:nvPicPr>
          <p:cNvPr id="21" name="Picture 20">
            <a:extLst>
              <a:ext uri="{FF2B5EF4-FFF2-40B4-BE49-F238E27FC236}">
                <a16:creationId xmlns:a16="http://schemas.microsoft.com/office/drawing/2014/main" id="{1E67A832-4A97-5E0A-A22E-036DF3FC41BB}"/>
              </a:ext>
            </a:extLst>
          </p:cNvPr>
          <p:cNvPicPr>
            <a:picLocks noChangeAspect="1"/>
          </p:cNvPicPr>
          <p:nvPr/>
        </p:nvPicPr>
        <p:blipFill>
          <a:blip r:embed="rId8"/>
          <a:stretch>
            <a:fillRect/>
          </a:stretch>
        </p:blipFill>
        <p:spPr>
          <a:xfrm>
            <a:off x="9176601" y="1990381"/>
            <a:ext cx="1083320" cy="1375564"/>
          </a:xfrm>
          <a:prstGeom prst="rect">
            <a:avLst/>
          </a:prstGeom>
        </p:spPr>
      </p:pic>
      <p:sp>
        <p:nvSpPr>
          <p:cNvPr id="22" name="Rectangle 21">
            <a:extLst>
              <a:ext uri="{FF2B5EF4-FFF2-40B4-BE49-F238E27FC236}">
                <a16:creationId xmlns:a16="http://schemas.microsoft.com/office/drawing/2014/main" id="{594BD029-328A-F1BB-E869-8D43B86F1975}"/>
              </a:ext>
            </a:extLst>
          </p:cNvPr>
          <p:cNvSpPr/>
          <p:nvPr/>
        </p:nvSpPr>
        <p:spPr>
          <a:xfrm>
            <a:off x="6211363" y="1881903"/>
            <a:ext cx="4048558" cy="1375563"/>
          </a:xfrm>
          <a:prstGeom prst="rect">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E35F330-48B1-3107-61F6-73658F14ED13}"/>
              </a:ext>
            </a:extLst>
          </p:cNvPr>
          <p:cNvPicPr>
            <a:picLocks noChangeAspect="1"/>
          </p:cNvPicPr>
          <p:nvPr/>
        </p:nvPicPr>
        <p:blipFill>
          <a:blip r:embed="rId9"/>
          <a:stretch>
            <a:fillRect/>
          </a:stretch>
        </p:blipFill>
        <p:spPr>
          <a:xfrm>
            <a:off x="9243904" y="4643587"/>
            <a:ext cx="1107652" cy="1573924"/>
          </a:xfrm>
          <a:prstGeom prst="rect">
            <a:avLst/>
          </a:prstGeom>
        </p:spPr>
      </p:pic>
      <p:pic>
        <p:nvPicPr>
          <p:cNvPr id="19" name="Picture 18" descr="A black rectangular object with a black background&#10;&#10;AI-generated content may be incorrect.">
            <a:extLst>
              <a:ext uri="{FF2B5EF4-FFF2-40B4-BE49-F238E27FC236}">
                <a16:creationId xmlns:a16="http://schemas.microsoft.com/office/drawing/2014/main" id="{6A9F282D-7765-2481-CD0B-58DC0F0920C8}"/>
              </a:ext>
            </a:extLst>
          </p:cNvPr>
          <p:cNvPicPr>
            <a:picLocks noChangeAspect="1"/>
          </p:cNvPicPr>
          <p:nvPr/>
        </p:nvPicPr>
        <p:blipFill>
          <a:blip r:embed="rId10"/>
          <a:stretch>
            <a:fillRect/>
          </a:stretch>
        </p:blipFill>
        <p:spPr>
          <a:xfrm>
            <a:off x="10133545" y="2102205"/>
            <a:ext cx="1282588" cy="1151917"/>
          </a:xfrm>
          <a:prstGeom prst="rect">
            <a:avLst/>
          </a:prstGeom>
        </p:spPr>
      </p:pic>
      <p:pic>
        <p:nvPicPr>
          <p:cNvPr id="20" name="Picture 19" descr="A black and white image of a device&#10;&#10;AI-generated content may be incorrect.">
            <a:extLst>
              <a:ext uri="{FF2B5EF4-FFF2-40B4-BE49-F238E27FC236}">
                <a16:creationId xmlns:a16="http://schemas.microsoft.com/office/drawing/2014/main" id="{635DA486-0A63-B37B-9BA7-284A637EEF1A}"/>
              </a:ext>
            </a:extLst>
          </p:cNvPr>
          <p:cNvPicPr>
            <a:picLocks noChangeAspect="1"/>
          </p:cNvPicPr>
          <p:nvPr/>
        </p:nvPicPr>
        <p:blipFill>
          <a:blip r:embed="rId11"/>
          <a:stretch>
            <a:fillRect/>
          </a:stretch>
        </p:blipFill>
        <p:spPr>
          <a:xfrm>
            <a:off x="9137419" y="3401135"/>
            <a:ext cx="1282587" cy="1348743"/>
          </a:xfrm>
          <a:prstGeom prst="rect">
            <a:avLst/>
          </a:prstGeom>
        </p:spPr>
      </p:pic>
      <p:grpSp>
        <p:nvGrpSpPr>
          <p:cNvPr id="23" name="Group 22">
            <a:extLst>
              <a:ext uri="{FF2B5EF4-FFF2-40B4-BE49-F238E27FC236}">
                <a16:creationId xmlns:a16="http://schemas.microsoft.com/office/drawing/2014/main" id="{C4E3682C-3212-0DAD-A5DC-2175CA13069E}"/>
              </a:ext>
            </a:extLst>
          </p:cNvPr>
          <p:cNvGrpSpPr/>
          <p:nvPr/>
        </p:nvGrpSpPr>
        <p:grpSpPr>
          <a:xfrm>
            <a:off x="10270861" y="4643587"/>
            <a:ext cx="1130150" cy="1191498"/>
            <a:chOff x="9860328" y="2481623"/>
            <a:chExt cx="1658940" cy="1863966"/>
          </a:xfrm>
        </p:grpSpPr>
        <p:pic>
          <p:nvPicPr>
            <p:cNvPr id="24" name="Picture 23">
              <a:extLst>
                <a:ext uri="{FF2B5EF4-FFF2-40B4-BE49-F238E27FC236}">
                  <a16:creationId xmlns:a16="http://schemas.microsoft.com/office/drawing/2014/main" id="{BA305450-9168-4BA3-2C46-9676A7EBB392}"/>
                </a:ext>
              </a:extLst>
            </p:cNvPr>
            <p:cNvPicPr>
              <a:picLocks noChangeAspect="1"/>
            </p:cNvPicPr>
            <p:nvPr/>
          </p:nvPicPr>
          <p:blipFill>
            <a:blip r:embed="rId12"/>
            <a:srcRect b="24595"/>
            <a:stretch/>
          </p:blipFill>
          <p:spPr>
            <a:xfrm>
              <a:off x="9860328" y="2481623"/>
              <a:ext cx="1575953" cy="1654948"/>
            </a:xfrm>
            <a:prstGeom prst="rect">
              <a:avLst/>
            </a:prstGeom>
          </p:spPr>
        </p:pic>
        <p:sp>
          <p:nvSpPr>
            <p:cNvPr id="25" name="TextBox 24">
              <a:extLst>
                <a:ext uri="{FF2B5EF4-FFF2-40B4-BE49-F238E27FC236}">
                  <a16:creationId xmlns:a16="http://schemas.microsoft.com/office/drawing/2014/main" id="{B8040670-3A4C-966D-B127-320C69E64B30}"/>
                </a:ext>
              </a:extLst>
            </p:cNvPr>
            <p:cNvSpPr txBox="1"/>
            <p:nvPr/>
          </p:nvSpPr>
          <p:spPr>
            <a:xfrm>
              <a:off x="9871384" y="3967294"/>
              <a:ext cx="1647884" cy="378295"/>
            </a:xfrm>
            <a:prstGeom prst="rect">
              <a:avLst/>
            </a:prstGeom>
            <a:noFill/>
          </p:spPr>
          <p:txBody>
            <a:bodyPr wrap="none" rtlCol="0">
              <a:spAutoFit/>
            </a:bodyPr>
            <a:lstStyle/>
            <a:p>
              <a:pPr algn="ctr"/>
              <a:r>
                <a:rPr lang="en-US" sz="1000" dirty="0">
                  <a:latin typeface="Stone Sans"/>
                </a:rPr>
                <a:t>License Manager</a:t>
              </a:r>
            </a:p>
          </p:txBody>
        </p:sp>
      </p:grpSp>
      <p:pic>
        <p:nvPicPr>
          <p:cNvPr id="27" name="Graphic 26" descr="Captain male outline">
            <a:extLst>
              <a:ext uri="{FF2B5EF4-FFF2-40B4-BE49-F238E27FC236}">
                <a16:creationId xmlns:a16="http://schemas.microsoft.com/office/drawing/2014/main" id="{5DC8D2B5-285D-D74C-0D0D-D57CCEDBDD6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57118" y="1758002"/>
            <a:ext cx="485699" cy="485699"/>
          </a:xfrm>
          <a:prstGeom prst="rect">
            <a:avLst/>
          </a:prstGeom>
        </p:spPr>
      </p:pic>
    </p:spTree>
    <p:extLst>
      <p:ext uri="{BB962C8B-B14F-4D97-AF65-F5344CB8AC3E}">
        <p14:creationId xmlns:p14="http://schemas.microsoft.com/office/powerpoint/2010/main" val="220192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7ED7-2F49-5342-8F76-934C89D38AF8}"/>
              </a:ext>
            </a:extLst>
          </p:cNvPr>
          <p:cNvSpPr>
            <a:spLocks noGrp="1"/>
          </p:cNvSpPr>
          <p:nvPr>
            <p:ph type="title"/>
          </p:nvPr>
        </p:nvSpPr>
        <p:spPr/>
        <p:txBody>
          <a:bodyPr/>
          <a:lstStyle/>
          <a:p>
            <a:r>
              <a:rPr lang="en-US" dirty="0"/>
              <a:t>Splunk Cloud Platform</a:t>
            </a:r>
          </a:p>
        </p:txBody>
      </p:sp>
      <p:sp>
        <p:nvSpPr>
          <p:cNvPr id="6" name="Cloud 5">
            <a:extLst>
              <a:ext uri="{FF2B5EF4-FFF2-40B4-BE49-F238E27FC236}">
                <a16:creationId xmlns:a16="http://schemas.microsoft.com/office/drawing/2014/main" id="{0DD80319-3C75-FF25-C8BB-68382E3DC30B}"/>
              </a:ext>
            </a:extLst>
          </p:cNvPr>
          <p:cNvSpPr/>
          <p:nvPr/>
        </p:nvSpPr>
        <p:spPr>
          <a:xfrm>
            <a:off x="2347970" y="1354813"/>
            <a:ext cx="7747216" cy="4063270"/>
          </a:xfrm>
          <a:prstGeom prst="cloud">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ABC9657-25B2-4F3F-1F58-83A55B60DBCB}"/>
              </a:ext>
            </a:extLst>
          </p:cNvPr>
          <p:cNvSpPr/>
          <p:nvPr/>
        </p:nvSpPr>
        <p:spPr>
          <a:xfrm>
            <a:off x="4324052" y="2399339"/>
            <a:ext cx="3024859" cy="418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Search tier</a:t>
            </a:r>
          </a:p>
        </p:txBody>
      </p:sp>
      <p:sp>
        <p:nvSpPr>
          <p:cNvPr id="4" name="Rectangle 3">
            <a:extLst>
              <a:ext uri="{FF2B5EF4-FFF2-40B4-BE49-F238E27FC236}">
                <a16:creationId xmlns:a16="http://schemas.microsoft.com/office/drawing/2014/main" id="{1AFB6C0D-5EEA-1AC7-AEE0-AB425B420FE2}"/>
              </a:ext>
            </a:extLst>
          </p:cNvPr>
          <p:cNvSpPr/>
          <p:nvPr/>
        </p:nvSpPr>
        <p:spPr>
          <a:xfrm>
            <a:off x="4324051" y="3210187"/>
            <a:ext cx="3024859" cy="44965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Indexing tier</a:t>
            </a:r>
          </a:p>
        </p:txBody>
      </p:sp>
      <p:sp>
        <p:nvSpPr>
          <p:cNvPr id="5" name="Rectangle 4">
            <a:extLst>
              <a:ext uri="{FF2B5EF4-FFF2-40B4-BE49-F238E27FC236}">
                <a16:creationId xmlns:a16="http://schemas.microsoft.com/office/drawing/2014/main" id="{8320B866-F81B-F921-00E6-B973521A5C9E}"/>
              </a:ext>
            </a:extLst>
          </p:cNvPr>
          <p:cNvSpPr/>
          <p:nvPr/>
        </p:nvSpPr>
        <p:spPr>
          <a:xfrm>
            <a:off x="7803461" y="2399340"/>
            <a:ext cx="578540" cy="2059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latin typeface="Oxygen" panose="02000503000000000000" pitchFamily="2" charset="0"/>
              </a:rPr>
              <a:t>Management</a:t>
            </a:r>
          </a:p>
        </p:txBody>
      </p:sp>
      <p:cxnSp>
        <p:nvCxnSpPr>
          <p:cNvPr id="7" name="Straight Connector 6">
            <a:extLst>
              <a:ext uri="{FF2B5EF4-FFF2-40B4-BE49-F238E27FC236}">
                <a16:creationId xmlns:a16="http://schemas.microsoft.com/office/drawing/2014/main" id="{44B6CD5E-633D-5CAF-F980-B84D74B3C444}"/>
              </a:ext>
            </a:extLst>
          </p:cNvPr>
          <p:cNvCxnSpPr>
            <a:cxnSpLocks/>
          </p:cNvCxnSpPr>
          <p:nvPr/>
        </p:nvCxnSpPr>
        <p:spPr>
          <a:xfrm flipV="1">
            <a:off x="5836482" y="2822419"/>
            <a:ext cx="0" cy="32171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D86F37-4D43-9F60-18DE-94F976AD6B8B}"/>
              </a:ext>
            </a:extLst>
          </p:cNvPr>
          <p:cNvCxnSpPr>
            <a:cxnSpLocks/>
            <a:endCxn id="3" idx="3"/>
          </p:cNvCxnSpPr>
          <p:nvPr/>
        </p:nvCxnSpPr>
        <p:spPr>
          <a:xfrm flipH="1">
            <a:off x="7348911" y="2608801"/>
            <a:ext cx="390011" cy="1"/>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8421974-443F-1C77-0346-F40F0DD75DD6}"/>
              </a:ext>
            </a:extLst>
          </p:cNvPr>
          <p:cNvCxnSpPr>
            <a:cxnSpLocks/>
          </p:cNvCxnSpPr>
          <p:nvPr/>
        </p:nvCxnSpPr>
        <p:spPr>
          <a:xfrm flipH="1">
            <a:off x="7348910" y="3392248"/>
            <a:ext cx="390012"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539979C-810A-6079-1ACB-26C2505B0157}"/>
              </a:ext>
            </a:extLst>
          </p:cNvPr>
          <p:cNvSpPr/>
          <p:nvPr/>
        </p:nvSpPr>
        <p:spPr>
          <a:xfrm>
            <a:off x="4324052" y="5740216"/>
            <a:ext cx="3024859" cy="4496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xygen" panose="02000503000000000000" pitchFamily="2" charset="0"/>
              </a:rPr>
              <a:t>Collection tier</a:t>
            </a:r>
          </a:p>
        </p:txBody>
      </p:sp>
      <p:cxnSp>
        <p:nvCxnSpPr>
          <p:cNvPr id="24" name="Straight Connector 23">
            <a:extLst>
              <a:ext uri="{FF2B5EF4-FFF2-40B4-BE49-F238E27FC236}">
                <a16:creationId xmlns:a16="http://schemas.microsoft.com/office/drawing/2014/main" id="{068FBF50-C162-B2D9-BA83-C4405DA09EC3}"/>
              </a:ext>
            </a:extLst>
          </p:cNvPr>
          <p:cNvCxnSpPr>
            <a:cxnSpLocks/>
            <a:stCxn id="23" idx="0"/>
          </p:cNvCxnSpPr>
          <p:nvPr/>
        </p:nvCxnSpPr>
        <p:spPr>
          <a:xfrm flipV="1">
            <a:off x="5836482" y="3659847"/>
            <a:ext cx="0" cy="2080369"/>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22473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2B67-5820-1184-BA35-5FCF0C832623}"/>
              </a:ext>
            </a:extLst>
          </p:cNvPr>
          <p:cNvSpPr>
            <a:spLocks noGrp="1"/>
          </p:cNvSpPr>
          <p:nvPr>
            <p:ph type="title"/>
          </p:nvPr>
        </p:nvSpPr>
        <p:spPr/>
        <p:txBody>
          <a:bodyPr/>
          <a:lstStyle/>
          <a:p>
            <a:r>
              <a:rPr lang="en-US" dirty="0"/>
              <a:t>Splunk Cloud Platform Architecture</a:t>
            </a:r>
          </a:p>
        </p:txBody>
      </p:sp>
      <p:pic>
        <p:nvPicPr>
          <p:cNvPr id="7" name="Picture 6">
            <a:extLst>
              <a:ext uri="{FF2B5EF4-FFF2-40B4-BE49-F238E27FC236}">
                <a16:creationId xmlns:a16="http://schemas.microsoft.com/office/drawing/2014/main" id="{3B348CCD-5575-80B9-D521-34D3B4E840B8}"/>
              </a:ext>
            </a:extLst>
          </p:cNvPr>
          <p:cNvPicPr>
            <a:picLocks noChangeAspect="1"/>
          </p:cNvPicPr>
          <p:nvPr/>
        </p:nvPicPr>
        <p:blipFill rotWithShape="1">
          <a:blip r:embed="rId3"/>
          <a:srcRect l="10000" t="24652" r="7539" b="24445"/>
          <a:stretch/>
        </p:blipFill>
        <p:spPr>
          <a:xfrm>
            <a:off x="4713516" y="1940575"/>
            <a:ext cx="2411186" cy="1488425"/>
          </a:xfrm>
          <a:prstGeom prst="rect">
            <a:avLst/>
          </a:prstGeom>
          <a:effectLst>
            <a:glow rad="101600">
              <a:schemeClr val="accent2">
                <a:satMod val="175000"/>
                <a:alpha val="40000"/>
              </a:schemeClr>
            </a:glow>
          </a:effectLst>
        </p:spPr>
      </p:pic>
      <p:pic>
        <p:nvPicPr>
          <p:cNvPr id="9" name="Picture 8">
            <a:extLst>
              <a:ext uri="{FF2B5EF4-FFF2-40B4-BE49-F238E27FC236}">
                <a16:creationId xmlns:a16="http://schemas.microsoft.com/office/drawing/2014/main" id="{1E9B4D09-8E23-76C3-2B26-BE86D15006B8}"/>
              </a:ext>
            </a:extLst>
          </p:cNvPr>
          <p:cNvPicPr>
            <a:picLocks noChangeAspect="1"/>
          </p:cNvPicPr>
          <p:nvPr/>
        </p:nvPicPr>
        <p:blipFill>
          <a:blip r:embed="rId4"/>
          <a:stretch>
            <a:fillRect/>
          </a:stretch>
        </p:blipFill>
        <p:spPr>
          <a:xfrm>
            <a:off x="5030218" y="3885433"/>
            <a:ext cx="888890" cy="1173335"/>
          </a:xfrm>
          <a:prstGeom prst="rect">
            <a:avLst/>
          </a:prstGeom>
        </p:spPr>
      </p:pic>
      <p:pic>
        <p:nvPicPr>
          <p:cNvPr id="11" name="Picture 10">
            <a:extLst>
              <a:ext uri="{FF2B5EF4-FFF2-40B4-BE49-F238E27FC236}">
                <a16:creationId xmlns:a16="http://schemas.microsoft.com/office/drawing/2014/main" id="{71E4C6D5-59AA-C0D5-71D7-122E2CFD6104}"/>
              </a:ext>
            </a:extLst>
          </p:cNvPr>
          <p:cNvPicPr>
            <a:picLocks noChangeAspect="1"/>
          </p:cNvPicPr>
          <p:nvPr/>
        </p:nvPicPr>
        <p:blipFill>
          <a:blip r:embed="rId5"/>
          <a:stretch>
            <a:fillRect/>
          </a:stretch>
        </p:blipFill>
        <p:spPr>
          <a:xfrm>
            <a:off x="5762340" y="3772586"/>
            <a:ext cx="1090911" cy="1330103"/>
          </a:xfrm>
          <a:prstGeom prst="rect">
            <a:avLst/>
          </a:prstGeom>
        </p:spPr>
      </p:pic>
      <p:pic>
        <p:nvPicPr>
          <p:cNvPr id="17" name="Picture 16">
            <a:extLst>
              <a:ext uri="{FF2B5EF4-FFF2-40B4-BE49-F238E27FC236}">
                <a16:creationId xmlns:a16="http://schemas.microsoft.com/office/drawing/2014/main" id="{614E937E-6665-C806-AAAE-311431CF7AB9}"/>
              </a:ext>
            </a:extLst>
          </p:cNvPr>
          <p:cNvPicPr>
            <a:picLocks noChangeAspect="1"/>
          </p:cNvPicPr>
          <p:nvPr/>
        </p:nvPicPr>
        <p:blipFill>
          <a:blip r:embed="rId6"/>
          <a:stretch>
            <a:fillRect/>
          </a:stretch>
        </p:blipFill>
        <p:spPr>
          <a:xfrm>
            <a:off x="3172767" y="3954434"/>
            <a:ext cx="1225052" cy="1292931"/>
          </a:xfrm>
          <a:prstGeom prst="rect">
            <a:avLst/>
          </a:prstGeom>
        </p:spPr>
      </p:pic>
      <p:pic>
        <p:nvPicPr>
          <p:cNvPr id="19" name="Picture 18">
            <a:extLst>
              <a:ext uri="{FF2B5EF4-FFF2-40B4-BE49-F238E27FC236}">
                <a16:creationId xmlns:a16="http://schemas.microsoft.com/office/drawing/2014/main" id="{D76612D3-1814-DB59-FDC2-64D9D13CB5DE}"/>
              </a:ext>
            </a:extLst>
          </p:cNvPr>
          <p:cNvPicPr>
            <a:picLocks noChangeAspect="1"/>
          </p:cNvPicPr>
          <p:nvPr/>
        </p:nvPicPr>
        <p:blipFill>
          <a:blip r:embed="rId7"/>
          <a:stretch>
            <a:fillRect/>
          </a:stretch>
        </p:blipFill>
        <p:spPr>
          <a:xfrm>
            <a:off x="5530421" y="5348119"/>
            <a:ext cx="777375" cy="982628"/>
          </a:xfrm>
          <a:prstGeom prst="rect">
            <a:avLst/>
          </a:prstGeom>
        </p:spPr>
      </p:pic>
      <p:pic>
        <p:nvPicPr>
          <p:cNvPr id="21" name="Picture 20">
            <a:extLst>
              <a:ext uri="{FF2B5EF4-FFF2-40B4-BE49-F238E27FC236}">
                <a16:creationId xmlns:a16="http://schemas.microsoft.com/office/drawing/2014/main" id="{DC58308A-405A-B831-47F9-2DC35E6E81A6}"/>
              </a:ext>
            </a:extLst>
          </p:cNvPr>
          <p:cNvPicPr>
            <a:picLocks noChangeAspect="1"/>
          </p:cNvPicPr>
          <p:nvPr/>
        </p:nvPicPr>
        <p:blipFill>
          <a:blip r:embed="rId8"/>
          <a:stretch>
            <a:fillRect/>
          </a:stretch>
        </p:blipFill>
        <p:spPr>
          <a:xfrm>
            <a:off x="6232951" y="5247365"/>
            <a:ext cx="993067" cy="1186796"/>
          </a:xfrm>
          <a:prstGeom prst="rect">
            <a:avLst/>
          </a:prstGeom>
        </p:spPr>
      </p:pic>
      <p:pic>
        <p:nvPicPr>
          <p:cNvPr id="23" name="Picture 22">
            <a:extLst>
              <a:ext uri="{FF2B5EF4-FFF2-40B4-BE49-F238E27FC236}">
                <a16:creationId xmlns:a16="http://schemas.microsoft.com/office/drawing/2014/main" id="{1607AA75-3DC9-6B7E-9441-9D5995B20655}"/>
              </a:ext>
            </a:extLst>
          </p:cNvPr>
          <p:cNvPicPr>
            <a:picLocks noChangeAspect="1"/>
          </p:cNvPicPr>
          <p:nvPr/>
        </p:nvPicPr>
        <p:blipFill>
          <a:blip r:embed="rId9"/>
          <a:stretch>
            <a:fillRect/>
          </a:stretch>
        </p:blipFill>
        <p:spPr>
          <a:xfrm>
            <a:off x="4620389" y="5307369"/>
            <a:ext cx="823041" cy="944825"/>
          </a:xfrm>
          <a:prstGeom prst="rect">
            <a:avLst/>
          </a:prstGeom>
        </p:spPr>
      </p:pic>
      <p:cxnSp>
        <p:nvCxnSpPr>
          <p:cNvPr id="27" name="Straight Arrow Connector 26">
            <a:extLst>
              <a:ext uri="{FF2B5EF4-FFF2-40B4-BE49-F238E27FC236}">
                <a16:creationId xmlns:a16="http://schemas.microsoft.com/office/drawing/2014/main" id="{39D99D4F-8468-06F6-261E-86FF4B57C4D2}"/>
              </a:ext>
            </a:extLst>
          </p:cNvPr>
          <p:cNvCxnSpPr>
            <a:cxnSpLocks/>
            <a:stCxn id="23" idx="0"/>
          </p:cNvCxnSpPr>
          <p:nvPr/>
        </p:nvCxnSpPr>
        <p:spPr>
          <a:xfrm flipV="1">
            <a:off x="5031910" y="5007429"/>
            <a:ext cx="822743" cy="29994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E2578B1-774B-DA9E-EB1D-A89B6D14D906}"/>
              </a:ext>
            </a:extLst>
          </p:cNvPr>
          <p:cNvCxnSpPr>
            <a:cxnSpLocks/>
          </p:cNvCxnSpPr>
          <p:nvPr/>
        </p:nvCxnSpPr>
        <p:spPr>
          <a:xfrm flipV="1">
            <a:off x="5802086" y="4955354"/>
            <a:ext cx="0" cy="39276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95C8FDA-F01F-4849-6379-3AE835B9299B}"/>
              </a:ext>
            </a:extLst>
          </p:cNvPr>
          <p:cNvCxnSpPr>
            <a:cxnSpLocks/>
            <a:stCxn id="21" idx="0"/>
          </p:cNvCxnSpPr>
          <p:nvPr/>
        </p:nvCxnSpPr>
        <p:spPr>
          <a:xfrm flipH="1" flipV="1">
            <a:off x="5802086" y="5007429"/>
            <a:ext cx="927399" cy="239936"/>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14D8414-EE36-315B-13FB-A532A001C3DC}"/>
              </a:ext>
            </a:extLst>
          </p:cNvPr>
          <p:cNvCxnSpPr>
            <a:cxnSpLocks/>
            <a:endCxn id="7" idx="2"/>
          </p:cNvCxnSpPr>
          <p:nvPr/>
        </p:nvCxnSpPr>
        <p:spPr>
          <a:xfrm flipV="1">
            <a:off x="3784619" y="3429000"/>
            <a:ext cx="2134490" cy="493556"/>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1CCDF7C-D095-46E1-5295-095D820E50FD}"/>
              </a:ext>
            </a:extLst>
          </p:cNvPr>
          <p:cNvCxnSpPr>
            <a:cxnSpLocks/>
            <a:endCxn id="7" idx="2"/>
          </p:cNvCxnSpPr>
          <p:nvPr/>
        </p:nvCxnSpPr>
        <p:spPr>
          <a:xfrm flipV="1">
            <a:off x="5919108" y="3429000"/>
            <a:ext cx="1" cy="456433"/>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556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AE1CF-3560-41CA-233C-2B98A62B2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AD55D-85EC-5AA5-4F2F-A28914F16984}"/>
              </a:ext>
            </a:extLst>
          </p:cNvPr>
          <p:cNvSpPr>
            <a:spLocks noGrp="1"/>
          </p:cNvSpPr>
          <p:nvPr>
            <p:ph type="title"/>
          </p:nvPr>
        </p:nvSpPr>
        <p:spPr/>
        <p:txBody>
          <a:bodyPr/>
          <a:lstStyle/>
          <a:p>
            <a:r>
              <a:rPr lang="en-US" dirty="0"/>
              <a:t>Splunk Cloud Platform Architecture</a:t>
            </a:r>
          </a:p>
        </p:txBody>
      </p:sp>
      <p:pic>
        <p:nvPicPr>
          <p:cNvPr id="9" name="Picture 8">
            <a:extLst>
              <a:ext uri="{FF2B5EF4-FFF2-40B4-BE49-F238E27FC236}">
                <a16:creationId xmlns:a16="http://schemas.microsoft.com/office/drawing/2014/main" id="{DCE60020-DA3D-9CCC-1F92-A80C1D690E96}"/>
              </a:ext>
            </a:extLst>
          </p:cNvPr>
          <p:cNvPicPr>
            <a:picLocks noChangeAspect="1"/>
          </p:cNvPicPr>
          <p:nvPr/>
        </p:nvPicPr>
        <p:blipFill>
          <a:blip r:embed="rId3"/>
          <a:stretch>
            <a:fillRect/>
          </a:stretch>
        </p:blipFill>
        <p:spPr>
          <a:xfrm>
            <a:off x="4785075" y="3949118"/>
            <a:ext cx="888890" cy="1173335"/>
          </a:xfrm>
          <a:prstGeom prst="rect">
            <a:avLst/>
          </a:prstGeom>
        </p:spPr>
      </p:pic>
      <p:pic>
        <p:nvPicPr>
          <p:cNvPr id="11" name="Picture 10">
            <a:extLst>
              <a:ext uri="{FF2B5EF4-FFF2-40B4-BE49-F238E27FC236}">
                <a16:creationId xmlns:a16="http://schemas.microsoft.com/office/drawing/2014/main" id="{52695B8A-F42D-444C-B8B9-675475FAD721}"/>
              </a:ext>
            </a:extLst>
          </p:cNvPr>
          <p:cNvPicPr>
            <a:picLocks noChangeAspect="1"/>
          </p:cNvPicPr>
          <p:nvPr/>
        </p:nvPicPr>
        <p:blipFill>
          <a:blip r:embed="rId4"/>
          <a:stretch>
            <a:fillRect/>
          </a:stretch>
        </p:blipFill>
        <p:spPr>
          <a:xfrm>
            <a:off x="6059808" y="3914602"/>
            <a:ext cx="1090911" cy="1330103"/>
          </a:xfrm>
          <a:prstGeom prst="rect">
            <a:avLst/>
          </a:prstGeom>
        </p:spPr>
      </p:pic>
      <p:pic>
        <p:nvPicPr>
          <p:cNvPr id="19" name="Picture 18">
            <a:extLst>
              <a:ext uri="{FF2B5EF4-FFF2-40B4-BE49-F238E27FC236}">
                <a16:creationId xmlns:a16="http://schemas.microsoft.com/office/drawing/2014/main" id="{29339E6C-92FA-A852-B17B-77E0A378F32F}"/>
              </a:ext>
            </a:extLst>
          </p:cNvPr>
          <p:cNvPicPr>
            <a:picLocks noChangeAspect="1"/>
          </p:cNvPicPr>
          <p:nvPr/>
        </p:nvPicPr>
        <p:blipFill>
          <a:blip r:embed="rId5"/>
          <a:stretch>
            <a:fillRect/>
          </a:stretch>
        </p:blipFill>
        <p:spPr>
          <a:xfrm>
            <a:off x="5530421" y="5348119"/>
            <a:ext cx="777375" cy="982628"/>
          </a:xfrm>
          <a:prstGeom prst="rect">
            <a:avLst/>
          </a:prstGeom>
        </p:spPr>
      </p:pic>
      <p:pic>
        <p:nvPicPr>
          <p:cNvPr id="21" name="Picture 20">
            <a:extLst>
              <a:ext uri="{FF2B5EF4-FFF2-40B4-BE49-F238E27FC236}">
                <a16:creationId xmlns:a16="http://schemas.microsoft.com/office/drawing/2014/main" id="{4E35B26E-BB33-B4AB-6DCC-D342666EA555}"/>
              </a:ext>
            </a:extLst>
          </p:cNvPr>
          <p:cNvPicPr>
            <a:picLocks noChangeAspect="1"/>
          </p:cNvPicPr>
          <p:nvPr/>
        </p:nvPicPr>
        <p:blipFill>
          <a:blip r:embed="rId6"/>
          <a:stretch>
            <a:fillRect/>
          </a:stretch>
        </p:blipFill>
        <p:spPr>
          <a:xfrm>
            <a:off x="6232951" y="5247365"/>
            <a:ext cx="993067" cy="1186796"/>
          </a:xfrm>
          <a:prstGeom prst="rect">
            <a:avLst/>
          </a:prstGeom>
        </p:spPr>
      </p:pic>
      <p:pic>
        <p:nvPicPr>
          <p:cNvPr id="23" name="Picture 22">
            <a:extLst>
              <a:ext uri="{FF2B5EF4-FFF2-40B4-BE49-F238E27FC236}">
                <a16:creationId xmlns:a16="http://schemas.microsoft.com/office/drawing/2014/main" id="{62B932E9-86D3-5927-0D13-965F6E09DCCA}"/>
              </a:ext>
            </a:extLst>
          </p:cNvPr>
          <p:cNvPicPr>
            <a:picLocks noChangeAspect="1"/>
          </p:cNvPicPr>
          <p:nvPr/>
        </p:nvPicPr>
        <p:blipFill>
          <a:blip r:embed="rId7"/>
          <a:stretch>
            <a:fillRect/>
          </a:stretch>
        </p:blipFill>
        <p:spPr>
          <a:xfrm>
            <a:off x="4620389" y="5307369"/>
            <a:ext cx="823041" cy="944825"/>
          </a:xfrm>
          <a:prstGeom prst="rect">
            <a:avLst/>
          </a:prstGeom>
        </p:spPr>
      </p:pic>
      <p:cxnSp>
        <p:nvCxnSpPr>
          <p:cNvPr id="27" name="Straight Arrow Connector 26">
            <a:extLst>
              <a:ext uri="{FF2B5EF4-FFF2-40B4-BE49-F238E27FC236}">
                <a16:creationId xmlns:a16="http://schemas.microsoft.com/office/drawing/2014/main" id="{507AF1A9-8CB5-1DCC-3939-1028D5C9E9D8}"/>
              </a:ext>
            </a:extLst>
          </p:cNvPr>
          <p:cNvCxnSpPr>
            <a:cxnSpLocks/>
            <a:stCxn id="23" idx="0"/>
          </p:cNvCxnSpPr>
          <p:nvPr/>
        </p:nvCxnSpPr>
        <p:spPr>
          <a:xfrm flipV="1">
            <a:off x="5031910" y="5007429"/>
            <a:ext cx="822743" cy="29994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9AC463B-B437-30A2-9C5A-C54438D70D26}"/>
              </a:ext>
            </a:extLst>
          </p:cNvPr>
          <p:cNvCxnSpPr>
            <a:cxnSpLocks/>
          </p:cNvCxnSpPr>
          <p:nvPr/>
        </p:nvCxnSpPr>
        <p:spPr>
          <a:xfrm flipV="1">
            <a:off x="5802086" y="4955354"/>
            <a:ext cx="0" cy="39276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CADB3F1-C680-864F-5CED-4A651C083082}"/>
              </a:ext>
            </a:extLst>
          </p:cNvPr>
          <p:cNvCxnSpPr>
            <a:cxnSpLocks/>
            <a:stCxn id="21" idx="0"/>
          </p:cNvCxnSpPr>
          <p:nvPr/>
        </p:nvCxnSpPr>
        <p:spPr>
          <a:xfrm flipH="1" flipV="1">
            <a:off x="5802086" y="5007429"/>
            <a:ext cx="927399" cy="239936"/>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BBC2B1B-3800-C425-88DD-322D5353FD8F}"/>
              </a:ext>
            </a:extLst>
          </p:cNvPr>
          <p:cNvCxnSpPr>
            <a:cxnSpLocks/>
            <a:stCxn id="10" idx="0"/>
            <a:endCxn id="7" idx="2"/>
          </p:cNvCxnSpPr>
          <p:nvPr/>
        </p:nvCxnSpPr>
        <p:spPr>
          <a:xfrm flipV="1">
            <a:off x="6123810" y="2314716"/>
            <a:ext cx="8066" cy="301517"/>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4" name="Picture 3" descr="A purple square with white text&#10;&#10;AI-generated content may be incorrect.">
            <a:extLst>
              <a:ext uri="{FF2B5EF4-FFF2-40B4-BE49-F238E27FC236}">
                <a16:creationId xmlns:a16="http://schemas.microsoft.com/office/drawing/2014/main" id="{ABDB6E5F-C3E1-B312-6EB2-28BD9CDE86F1}"/>
              </a:ext>
            </a:extLst>
          </p:cNvPr>
          <p:cNvPicPr>
            <a:picLocks noChangeAspect="1"/>
          </p:cNvPicPr>
          <p:nvPr/>
        </p:nvPicPr>
        <p:blipFill>
          <a:blip r:embed="rId8"/>
          <a:srcRect l="18191" t="18333" r="17992" b="17917"/>
          <a:stretch/>
        </p:blipFill>
        <p:spPr>
          <a:xfrm>
            <a:off x="7327084" y="4081435"/>
            <a:ext cx="643644" cy="642966"/>
          </a:xfrm>
          <a:prstGeom prst="rect">
            <a:avLst/>
          </a:prstGeom>
        </p:spPr>
      </p:pic>
      <p:sp>
        <p:nvSpPr>
          <p:cNvPr id="5" name="TextBox 4">
            <a:extLst>
              <a:ext uri="{FF2B5EF4-FFF2-40B4-BE49-F238E27FC236}">
                <a16:creationId xmlns:a16="http://schemas.microsoft.com/office/drawing/2014/main" id="{E9892332-BDFF-312E-13ED-9B3F40DFF18F}"/>
              </a:ext>
            </a:extLst>
          </p:cNvPr>
          <p:cNvSpPr txBox="1"/>
          <p:nvPr/>
        </p:nvSpPr>
        <p:spPr>
          <a:xfrm>
            <a:off x="7042009" y="4776597"/>
            <a:ext cx="1213794" cy="230832"/>
          </a:xfrm>
          <a:prstGeom prst="rect">
            <a:avLst/>
          </a:prstGeom>
          <a:noFill/>
        </p:spPr>
        <p:txBody>
          <a:bodyPr wrap="none" rtlCol="0">
            <a:spAutoFit/>
          </a:bodyPr>
          <a:lstStyle/>
          <a:p>
            <a:r>
              <a:rPr lang="en-US" sz="900" dirty="0">
                <a:latin typeface="Stone Sans" pitchFamily="2" charset="0"/>
              </a:rPr>
              <a:t>AWS Data Firehose</a:t>
            </a:r>
          </a:p>
        </p:txBody>
      </p:sp>
      <p:cxnSp>
        <p:nvCxnSpPr>
          <p:cNvPr id="6" name="Straight Arrow Connector 5">
            <a:extLst>
              <a:ext uri="{FF2B5EF4-FFF2-40B4-BE49-F238E27FC236}">
                <a16:creationId xmlns:a16="http://schemas.microsoft.com/office/drawing/2014/main" id="{F8275EC6-2AA3-7625-5755-8B002FA129DF}"/>
              </a:ext>
            </a:extLst>
          </p:cNvPr>
          <p:cNvCxnSpPr>
            <a:cxnSpLocks/>
            <a:stCxn id="4" idx="0"/>
            <a:endCxn id="7" idx="2"/>
          </p:cNvCxnSpPr>
          <p:nvPr/>
        </p:nvCxnSpPr>
        <p:spPr>
          <a:xfrm flipH="1" flipV="1">
            <a:off x="6131876" y="2314716"/>
            <a:ext cx="1517030" cy="1766719"/>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54DC0744-C162-B35E-15CA-F27F7C73CCD1}"/>
              </a:ext>
            </a:extLst>
          </p:cNvPr>
          <p:cNvGrpSpPr/>
          <p:nvPr/>
        </p:nvGrpSpPr>
        <p:grpSpPr>
          <a:xfrm>
            <a:off x="8987739" y="3462374"/>
            <a:ext cx="1665023" cy="1665023"/>
            <a:chOff x="8987739" y="3462374"/>
            <a:chExt cx="1665023" cy="1665023"/>
          </a:xfrm>
        </p:grpSpPr>
        <p:pic>
          <p:nvPicPr>
            <p:cNvPr id="13" name="Picture 12" descr="A logo with a smile&#10;&#10;AI-generated content may be incorrect.">
              <a:extLst>
                <a:ext uri="{FF2B5EF4-FFF2-40B4-BE49-F238E27FC236}">
                  <a16:creationId xmlns:a16="http://schemas.microsoft.com/office/drawing/2014/main" id="{B9E3812A-A445-6D73-3F6E-C3CF2E07C055}"/>
                </a:ext>
              </a:extLst>
            </p:cNvPr>
            <p:cNvPicPr>
              <a:picLocks noChangeAspect="1"/>
            </p:cNvPicPr>
            <p:nvPr/>
          </p:nvPicPr>
          <p:blipFill>
            <a:blip r:embed="rId9"/>
            <a:stretch>
              <a:fillRect/>
            </a:stretch>
          </p:blipFill>
          <p:spPr>
            <a:xfrm>
              <a:off x="9436099" y="4240503"/>
              <a:ext cx="664633" cy="398520"/>
            </a:xfrm>
            <a:prstGeom prst="rect">
              <a:avLst/>
            </a:prstGeom>
          </p:spPr>
        </p:pic>
        <p:pic>
          <p:nvPicPr>
            <p:cNvPr id="15" name="Graphic 14" descr="Cloud outline">
              <a:extLst>
                <a:ext uri="{FF2B5EF4-FFF2-40B4-BE49-F238E27FC236}">
                  <a16:creationId xmlns:a16="http://schemas.microsoft.com/office/drawing/2014/main" id="{651AFFEA-163C-7949-59D4-4681C5C2BC3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987739" y="3462374"/>
              <a:ext cx="1665023" cy="1665023"/>
            </a:xfrm>
            <a:prstGeom prst="rect">
              <a:avLst/>
            </a:prstGeom>
          </p:spPr>
        </p:pic>
      </p:grpSp>
      <p:cxnSp>
        <p:nvCxnSpPr>
          <p:cNvPr id="18" name="Straight Arrow Connector 17">
            <a:extLst>
              <a:ext uri="{FF2B5EF4-FFF2-40B4-BE49-F238E27FC236}">
                <a16:creationId xmlns:a16="http://schemas.microsoft.com/office/drawing/2014/main" id="{D442C5F3-F313-0E00-7730-3343FCC12F5D}"/>
              </a:ext>
            </a:extLst>
          </p:cNvPr>
          <p:cNvCxnSpPr>
            <a:cxnSpLocks/>
            <a:endCxn id="4" idx="3"/>
          </p:cNvCxnSpPr>
          <p:nvPr/>
        </p:nvCxnSpPr>
        <p:spPr>
          <a:xfrm flipH="1">
            <a:off x="7970728" y="4400003"/>
            <a:ext cx="1097072" cy="2915"/>
          </a:xfrm>
          <a:prstGeom prst="straightConnector1">
            <a:avLst/>
          </a:prstGeom>
          <a:ln w="19050">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0" name="Picture 9" descr="A black rectangular object with a black background&#10;&#10;AI-generated content may be incorrect.">
            <a:extLst>
              <a:ext uri="{FF2B5EF4-FFF2-40B4-BE49-F238E27FC236}">
                <a16:creationId xmlns:a16="http://schemas.microsoft.com/office/drawing/2014/main" id="{D93E5CAE-79A9-D68A-F2F1-84371583EA0C}"/>
              </a:ext>
            </a:extLst>
          </p:cNvPr>
          <p:cNvPicPr>
            <a:picLocks noChangeAspect="1"/>
          </p:cNvPicPr>
          <p:nvPr/>
        </p:nvPicPr>
        <p:blipFill>
          <a:blip r:embed="rId12"/>
          <a:stretch>
            <a:fillRect/>
          </a:stretch>
        </p:blipFill>
        <p:spPr>
          <a:xfrm>
            <a:off x="5772847" y="2616233"/>
            <a:ext cx="701925" cy="996852"/>
          </a:xfrm>
          <a:prstGeom prst="rect">
            <a:avLst/>
          </a:prstGeom>
        </p:spPr>
      </p:pic>
      <p:cxnSp>
        <p:nvCxnSpPr>
          <p:cNvPr id="14" name="Straight Arrow Connector 13">
            <a:extLst>
              <a:ext uri="{FF2B5EF4-FFF2-40B4-BE49-F238E27FC236}">
                <a16:creationId xmlns:a16="http://schemas.microsoft.com/office/drawing/2014/main" id="{44703EBA-BDAF-9392-ED73-8702BF209178}"/>
              </a:ext>
            </a:extLst>
          </p:cNvPr>
          <p:cNvCxnSpPr>
            <a:cxnSpLocks/>
            <a:stCxn id="9" idx="0"/>
            <a:endCxn id="10" idx="2"/>
          </p:cNvCxnSpPr>
          <p:nvPr/>
        </p:nvCxnSpPr>
        <p:spPr>
          <a:xfrm flipV="1">
            <a:off x="5229520" y="3613085"/>
            <a:ext cx="894290" cy="336033"/>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26489BC-0427-9BE1-AD93-8EDFC9441048}"/>
              </a:ext>
            </a:extLst>
          </p:cNvPr>
          <p:cNvCxnSpPr>
            <a:cxnSpLocks/>
            <a:stCxn id="11" idx="0"/>
            <a:endCxn id="10" idx="2"/>
          </p:cNvCxnSpPr>
          <p:nvPr/>
        </p:nvCxnSpPr>
        <p:spPr>
          <a:xfrm flipH="1" flipV="1">
            <a:off x="6123810" y="3613085"/>
            <a:ext cx="481454" cy="301517"/>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1803ADA-480E-472A-4263-9E4996F85011}"/>
              </a:ext>
            </a:extLst>
          </p:cNvPr>
          <p:cNvPicPr>
            <a:picLocks noChangeAspect="1"/>
          </p:cNvPicPr>
          <p:nvPr/>
        </p:nvPicPr>
        <p:blipFill rotWithShape="1">
          <a:blip r:embed="rId13"/>
          <a:srcRect l="10000" t="24652" r="7539" b="24445"/>
          <a:stretch/>
        </p:blipFill>
        <p:spPr>
          <a:xfrm>
            <a:off x="5054520" y="984613"/>
            <a:ext cx="2154711" cy="1330103"/>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4442781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84595-799F-ECE4-6FD8-6C2DC69F6E2E}"/>
              </a:ext>
            </a:extLst>
          </p:cNvPr>
          <p:cNvSpPr>
            <a:spLocks noGrp="1"/>
          </p:cNvSpPr>
          <p:nvPr>
            <p:ph idx="1"/>
          </p:nvPr>
        </p:nvSpPr>
        <p:spPr/>
        <p:txBody>
          <a:bodyPr/>
          <a:lstStyle/>
          <a:p>
            <a:r>
              <a:rPr lang="en-US" dirty="0"/>
              <a:t>Splunk Cloud is subscription based</a:t>
            </a:r>
          </a:p>
          <a:p>
            <a:r>
              <a:rPr lang="en-US" dirty="0"/>
              <a:t>Workload-based</a:t>
            </a:r>
          </a:p>
          <a:p>
            <a:pPr lvl="1"/>
            <a:r>
              <a:rPr lang="en-US" dirty="0"/>
              <a:t>Amount of compute and storage resources being used</a:t>
            </a:r>
          </a:p>
          <a:p>
            <a:r>
              <a:rPr lang="en-US" dirty="0"/>
              <a:t>Data ingest-based</a:t>
            </a:r>
          </a:p>
          <a:p>
            <a:pPr lvl="1"/>
            <a:r>
              <a:rPr lang="en-US" dirty="0"/>
              <a:t>Amount of data ingested into Splunk per day</a:t>
            </a:r>
          </a:p>
        </p:txBody>
      </p:sp>
      <p:pic>
        <p:nvPicPr>
          <p:cNvPr id="6" name="Picture Placeholder 5">
            <a:extLst>
              <a:ext uri="{FF2B5EF4-FFF2-40B4-BE49-F238E27FC236}">
                <a16:creationId xmlns:a16="http://schemas.microsoft.com/office/drawing/2014/main" id="{9034D08C-AE70-6CF6-E99C-1FE6155E69E1}"/>
              </a:ext>
            </a:extLst>
          </p:cNvPr>
          <p:cNvPicPr>
            <a:picLocks noGrp="1" noChangeAspect="1"/>
          </p:cNvPicPr>
          <p:nvPr>
            <p:ph type="pic" sz="quarter" idx="10"/>
          </p:nvPr>
        </p:nvPicPr>
        <p:blipFill>
          <a:blip r:embed="rId3"/>
          <a:srcRect t="684" b="684"/>
          <a:stretch>
            <a:fillRect/>
          </a:stretch>
        </p:blipFill>
        <p:spPr/>
      </p:pic>
      <p:sp>
        <p:nvSpPr>
          <p:cNvPr id="4" name="Title 3">
            <a:extLst>
              <a:ext uri="{FF2B5EF4-FFF2-40B4-BE49-F238E27FC236}">
                <a16:creationId xmlns:a16="http://schemas.microsoft.com/office/drawing/2014/main" id="{539382D6-69D0-4DA2-B617-17D8F589C271}"/>
              </a:ext>
            </a:extLst>
          </p:cNvPr>
          <p:cNvSpPr>
            <a:spLocks noGrp="1"/>
          </p:cNvSpPr>
          <p:nvPr>
            <p:ph type="title"/>
          </p:nvPr>
        </p:nvSpPr>
        <p:spPr/>
        <p:txBody>
          <a:bodyPr/>
          <a:lstStyle/>
          <a:p>
            <a:r>
              <a:rPr lang="en-US" dirty="0"/>
              <a:t>Subscription Types</a:t>
            </a:r>
          </a:p>
        </p:txBody>
      </p:sp>
    </p:spTree>
    <p:extLst>
      <p:ext uri="{BB962C8B-B14F-4D97-AF65-F5344CB8AC3E}">
        <p14:creationId xmlns:p14="http://schemas.microsoft.com/office/powerpoint/2010/main" val="139577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E6F579-3101-05B0-3A50-2B570C70019D}"/>
              </a:ext>
            </a:extLst>
          </p:cNvPr>
          <p:cNvSpPr>
            <a:spLocks noGrp="1"/>
          </p:cNvSpPr>
          <p:nvPr>
            <p:ph idx="1"/>
          </p:nvPr>
        </p:nvSpPr>
        <p:spPr/>
        <p:txBody>
          <a:bodyPr>
            <a:normAutofit lnSpcReduction="10000"/>
          </a:bodyPr>
          <a:lstStyle/>
          <a:p>
            <a:r>
              <a:rPr lang="en-US" dirty="0"/>
              <a:t>Only vetted and compatible apps</a:t>
            </a:r>
          </a:p>
          <a:p>
            <a:r>
              <a:rPr lang="en-US" dirty="0"/>
              <a:t>Some apps can be self installed through the app browser; others require a support ticket to be submitted</a:t>
            </a:r>
          </a:p>
          <a:p>
            <a:r>
              <a:rPr lang="en-US" dirty="0"/>
              <a:t>Private apps are supported, but are vetted by Splunk</a:t>
            </a:r>
          </a:p>
        </p:txBody>
      </p:sp>
      <p:sp>
        <p:nvSpPr>
          <p:cNvPr id="3" name="Title 2">
            <a:extLst>
              <a:ext uri="{FF2B5EF4-FFF2-40B4-BE49-F238E27FC236}">
                <a16:creationId xmlns:a16="http://schemas.microsoft.com/office/drawing/2014/main" id="{709DB0E4-4B37-1A45-43EC-4AE700BD8000}"/>
              </a:ext>
            </a:extLst>
          </p:cNvPr>
          <p:cNvSpPr>
            <a:spLocks noGrp="1"/>
          </p:cNvSpPr>
          <p:nvPr>
            <p:ph type="title"/>
          </p:nvPr>
        </p:nvSpPr>
        <p:spPr/>
        <p:txBody>
          <a:bodyPr/>
          <a:lstStyle/>
          <a:p>
            <a:r>
              <a:rPr lang="en-US" dirty="0"/>
              <a:t>Apps in Splunk Cloud</a:t>
            </a:r>
          </a:p>
        </p:txBody>
      </p:sp>
      <p:pic>
        <p:nvPicPr>
          <p:cNvPr id="7" name="Picture Placeholder 6">
            <a:extLst>
              <a:ext uri="{FF2B5EF4-FFF2-40B4-BE49-F238E27FC236}">
                <a16:creationId xmlns:a16="http://schemas.microsoft.com/office/drawing/2014/main" id="{87666C3E-014D-AC6C-B70D-CE1C960C767A}"/>
              </a:ext>
            </a:extLst>
          </p:cNvPr>
          <p:cNvPicPr>
            <a:picLocks noGrp="1" noChangeAspect="1"/>
          </p:cNvPicPr>
          <p:nvPr>
            <p:ph type="pic" sz="quarter" idx="12"/>
          </p:nvPr>
        </p:nvPicPr>
        <p:blipFill>
          <a:blip r:embed="rId3"/>
          <a:srcRect t="514" b="514"/>
          <a:stretch>
            <a:fillRect/>
          </a:stretch>
        </p:blipFill>
        <p:spPr/>
      </p:pic>
    </p:spTree>
    <p:extLst>
      <p:ext uri="{BB962C8B-B14F-4D97-AF65-F5344CB8AC3E}">
        <p14:creationId xmlns:p14="http://schemas.microsoft.com/office/powerpoint/2010/main" val="176572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7F26-A76D-9443-8CD6-EC02E754D6CE}"/>
              </a:ext>
            </a:extLst>
          </p:cNvPr>
          <p:cNvSpPr>
            <a:spLocks noGrp="1"/>
          </p:cNvSpPr>
          <p:nvPr>
            <p:ph type="ctrTitle"/>
          </p:nvPr>
        </p:nvSpPr>
        <p:spPr/>
        <p:txBody>
          <a:bodyPr/>
          <a:lstStyle/>
          <a:p>
            <a:r>
              <a:rPr lang="en-US" dirty="0"/>
              <a:t>How Splunk Stores Data</a:t>
            </a:r>
          </a:p>
        </p:txBody>
      </p:sp>
    </p:spTree>
    <p:extLst>
      <p:ext uri="{BB962C8B-B14F-4D97-AF65-F5344CB8AC3E}">
        <p14:creationId xmlns:p14="http://schemas.microsoft.com/office/powerpoint/2010/main" val="2831930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How Splunk Stores Data</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pic>
        <p:nvPicPr>
          <p:cNvPr id="1026" name="Picture 2" descr="https://documents.lucidchart.com/documents/98ad8596-310b-4804-9bbb-4bb0eda814db/pages/gSPzIyf3xq~f?a=1493&amp;x=112&amp;y=387&amp;w=176&amp;h=278&amp;store=1&amp;accept=image%2F*&amp;auth=LCA%202d2339d77015973714b73d90ba9f4efbc2c59027-ts%3D1563297125">
            <a:extLst>
              <a:ext uri="{FF2B5EF4-FFF2-40B4-BE49-F238E27FC236}">
                <a16:creationId xmlns:a16="http://schemas.microsoft.com/office/drawing/2014/main" id="{19C9E572-9F8C-E747-B295-479C50DEC9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496" y="2544835"/>
            <a:ext cx="1676400" cy="26416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FF8A7E35-E9A5-4144-9D1C-8AFC836EDA72}"/>
              </a:ext>
            </a:extLst>
          </p:cNvPr>
          <p:cNvCxnSpPr/>
          <p:nvPr/>
        </p:nvCxnSpPr>
        <p:spPr>
          <a:xfrm>
            <a:off x="3491345" y="1690688"/>
            <a:ext cx="0" cy="4349894"/>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FF3A22-CD21-E247-9016-1D2C5BB6D9C3}"/>
              </a:ext>
            </a:extLst>
          </p:cNvPr>
          <p:cNvSpPr txBox="1"/>
          <p:nvPr/>
        </p:nvSpPr>
        <p:spPr>
          <a:xfrm>
            <a:off x="3835574" y="1989427"/>
            <a:ext cx="7887096" cy="224676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sz="2800" dirty="0">
                <a:latin typeface="Oxygen" panose="02000503000000000000" pitchFamily="2" charset="77"/>
              </a:rPr>
              <a:t>A repository for Splunk data</a:t>
            </a:r>
          </a:p>
          <a:p>
            <a:pPr marL="285750" indent="-285750">
              <a:buFont typeface="Arial" panose="020B0604020202020204" pitchFamily="34" charset="0"/>
              <a:buChar char="•"/>
            </a:pPr>
            <a:r>
              <a:rPr lang="en-US" sz="2800" dirty="0">
                <a:latin typeface="Oxygen" panose="02000503000000000000" pitchFamily="2" charset="77"/>
              </a:rPr>
              <a:t>Splunk transforms incoming data into events, </a:t>
            </a:r>
            <a:br>
              <a:rPr lang="en-US" sz="2800" dirty="0">
                <a:latin typeface="Oxygen" panose="02000503000000000000" pitchFamily="2" charset="77"/>
              </a:rPr>
            </a:br>
            <a:r>
              <a:rPr lang="en-US" sz="2800" dirty="0">
                <a:latin typeface="Oxygen" panose="02000503000000000000" pitchFamily="2" charset="77"/>
              </a:rPr>
              <a:t>and stores it in indexes</a:t>
            </a:r>
          </a:p>
          <a:p>
            <a:pPr marL="285750" indent="-285750">
              <a:buFont typeface="Arial" panose="020B0604020202020204" pitchFamily="34" charset="0"/>
              <a:buChar char="•"/>
            </a:pPr>
            <a:r>
              <a:rPr lang="en-US" sz="2800" dirty="0">
                <a:latin typeface="Oxygen" panose="02000503000000000000" pitchFamily="2" charset="77"/>
              </a:rPr>
              <a:t>An event is a single row of data</a:t>
            </a:r>
          </a:p>
        </p:txBody>
      </p:sp>
      <p:graphicFrame>
        <p:nvGraphicFramePr>
          <p:cNvPr id="3" name="Table 2">
            <a:extLst>
              <a:ext uri="{FF2B5EF4-FFF2-40B4-BE49-F238E27FC236}">
                <a16:creationId xmlns:a16="http://schemas.microsoft.com/office/drawing/2014/main" id="{A0B72933-B649-25E1-F855-95BC502E6B25}"/>
              </a:ext>
            </a:extLst>
          </p:cNvPr>
          <p:cNvGraphicFramePr>
            <a:graphicFrameLocks noGrp="1"/>
          </p:cNvGraphicFramePr>
          <p:nvPr>
            <p:extLst>
              <p:ext uri="{D42A27DB-BD31-4B8C-83A1-F6EECF244321}">
                <p14:modId xmlns:p14="http://schemas.microsoft.com/office/powerpoint/2010/main" val="873030219"/>
              </p:ext>
            </p:extLst>
          </p:nvPr>
        </p:nvGraphicFramePr>
        <p:xfrm>
          <a:off x="3792031" y="4551395"/>
          <a:ext cx="8128000" cy="1112520"/>
        </p:xfrm>
        <a:graphic>
          <a:graphicData uri="http://schemas.openxmlformats.org/drawingml/2006/table">
            <a:tbl>
              <a:tblPr firstRow="1" bandRow="1">
                <a:tableStyleId>{5C22544A-7EE6-4342-B048-85BDC9FD1C3A}</a:tableStyleId>
              </a:tblPr>
              <a:tblGrid>
                <a:gridCol w="2423712">
                  <a:extLst>
                    <a:ext uri="{9D8B030D-6E8A-4147-A177-3AD203B41FA5}">
                      <a16:colId xmlns:a16="http://schemas.microsoft.com/office/drawing/2014/main" val="4218176430"/>
                    </a:ext>
                  </a:extLst>
                </a:gridCol>
                <a:gridCol w="1640288">
                  <a:extLst>
                    <a:ext uri="{9D8B030D-6E8A-4147-A177-3AD203B41FA5}">
                      <a16:colId xmlns:a16="http://schemas.microsoft.com/office/drawing/2014/main" val="3414203497"/>
                    </a:ext>
                  </a:extLst>
                </a:gridCol>
                <a:gridCol w="2032000">
                  <a:extLst>
                    <a:ext uri="{9D8B030D-6E8A-4147-A177-3AD203B41FA5}">
                      <a16:colId xmlns:a16="http://schemas.microsoft.com/office/drawing/2014/main" val="1986564126"/>
                    </a:ext>
                  </a:extLst>
                </a:gridCol>
                <a:gridCol w="2032000">
                  <a:extLst>
                    <a:ext uri="{9D8B030D-6E8A-4147-A177-3AD203B41FA5}">
                      <a16:colId xmlns:a16="http://schemas.microsoft.com/office/drawing/2014/main" val="2946077636"/>
                    </a:ext>
                  </a:extLst>
                </a:gridCol>
              </a:tblGrid>
              <a:tr h="370840">
                <a:tc>
                  <a:txBody>
                    <a:bodyPr/>
                    <a:lstStyle/>
                    <a:p>
                      <a:r>
                        <a:rPr lang="en-US" dirty="0"/>
                        <a:t>host</a:t>
                      </a:r>
                    </a:p>
                  </a:txBody>
                  <a:tcPr/>
                </a:tc>
                <a:tc>
                  <a:txBody>
                    <a:bodyPr/>
                    <a:lstStyle/>
                    <a:p>
                      <a:r>
                        <a:rPr lang="en-US" dirty="0"/>
                        <a:t>source</a:t>
                      </a:r>
                    </a:p>
                  </a:txBody>
                  <a:tcPr/>
                </a:tc>
                <a:tc>
                  <a:txBody>
                    <a:bodyPr/>
                    <a:lstStyle/>
                    <a:p>
                      <a:r>
                        <a:rPr lang="en-US" dirty="0" err="1"/>
                        <a:t>sourcetype</a:t>
                      </a:r>
                      <a:endParaRPr lang="en-US" dirty="0"/>
                    </a:p>
                  </a:txBody>
                  <a:tcPr/>
                </a:tc>
                <a:tc>
                  <a:txBody>
                    <a:bodyPr/>
                    <a:lstStyle/>
                    <a:p>
                      <a:r>
                        <a:rPr lang="en-US" dirty="0" err="1"/>
                        <a:t>ip_address</a:t>
                      </a:r>
                      <a:endParaRPr lang="en-US" dirty="0"/>
                    </a:p>
                  </a:txBody>
                  <a:tcPr/>
                </a:tc>
                <a:extLst>
                  <a:ext uri="{0D108BD9-81ED-4DB2-BD59-A6C34878D82A}">
                    <a16:rowId xmlns:a16="http://schemas.microsoft.com/office/drawing/2014/main" val="1952805105"/>
                  </a:ext>
                </a:extLst>
              </a:tr>
              <a:tr h="370840">
                <a:tc>
                  <a:txBody>
                    <a:bodyPr/>
                    <a:lstStyle/>
                    <a:p>
                      <a:r>
                        <a:rPr lang="en-US" dirty="0"/>
                        <a:t>web1.company.com</a:t>
                      </a:r>
                    </a:p>
                  </a:txBody>
                  <a:tcPr/>
                </a:tc>
                <a:tc>
                  <a:txBody>
                    <a:bodyPr/>
                    <a:lstStyle/>
                    <a:p>
                      <a:r>
                        <a:rPr lang="en-US" sz="1800" b="0" i="0" kern="1200" dirty="0">
                          <a:solidFill>
                            <a:schemeClr val="dk1"/>
                          </a:solidFill>
                          <a:effectLst/>
                          <a:latin typeface="+mn-lt"/>
                          <a:ea typeface="+mn-ea"/>
                          <a:cs typeface="+mn-cs"/>
                        </a:rPr>
                        <a:t>/var/log/</a:t>
                      </a:r>
                      <a:endParaRPr lang="en-US" dirty="0"/>
                    </a:p>
                  </a:txBody>
                  <a:tcPr/>
                </a:tc>
                <a:tc>
                  <a:txBody>
                    <a:bodyPr/>
                    <a:lstStyle/>
                    <a:p>
                      <a:r>
                        <a:rPr lang="en-US" dirty="0" err="1"/>
                        <a:t>cisco_syslog</a:t>
                      </a:r>
                      <a:endParaRPr lang="en-US" dirty="0"/>
                    </a:p>
                  </a:txBody>
                  <a:tcPr/>
                </a:tc>
                <a:tc>
                  <a:txBody>
                    <a:bodyPr/>
                    <a:lstStyle/>
                    <a:p>
                      <a:r>
                        <a:rPr lang="en-US" dirty="0"/>
                        <a:t>10.250.117.14</a:t>
                      </a:r>
                    </a:p>
                  </a:txBody>
                  <a:tcPr/>
                </a:tc>
                <a:extLst>
                  <a:ext uri="{0D108BD9-81ED-4DB2-BD59-A6C34878D82A}">
                    <a16:rowId xmlns:a16="http://schemas.microsoft.com/office/drawing/2014/main" val="2642709639"/>
                  </a:ext>
                </a:extLst>
              </a:tr>
              <a:tr h="370840">
                <a:tc>
                  <a:txBody>
                    <a:bodyPr/>
                    <a:lstStyle/>
                    <a:p>
                      <a:r>
                        <a:rPr lang="en-US" dirty="0"/>
                        <a:t>web2.company.com</a:t>
                      </a:r>
                    </a:p>
                  </a:txBody>
                  <a:tcPr/>
                </a:tc>
                <a:tc>
                  <a:txBody>
                    <a:bodyPr/>
                    <a:lstStyle/>
                    <a:p>
                      <a:r>
                        <a:rPr lang="en-US" dirty="0"/>
                        <a:t>udp:514</a:t>
                      </a:r>
                    </a:p>
                  </a:txBody>
                  <a:tcPr/>
                </a:tc>
                <a:tc>
                  <a:txBody>
                    <a:bodyPr/>
                    <a:lstStyle/>
                    <a:p>
                      <a:r>
                        <a:rPr lang="en-US" dirty="0"/>
                        <a:t>syslog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10.250.117.17</a:t>
                      </a:r>
                    </a:p>
                  </a:txBody>
                  <a:tcPr/>
                </a:tc>
                <a:extLst>
                  <a:ext uri="{0D108BD9-81ED-4DB2-BD59-A6C34878D82A}">
                    <a16:rowId xmlns:a16="http://schemas.microsoft.com/office/drawing/2014/main" val="210636287"/>
                  </a:ext>
                </a:extLst>
              </a:tr>
            </a:tbl>
          </a:graphicData>
        </a:graphic>
      </p:graphicFrame>
    </p:spTree>
    <p:extLst>
      <p:ext uri="{BB962C8B-B14F-4D97-AF65-F5344CB8AC3E}">
        <p14:creationId xmlns:p14="http://schemas.microsoft.com/office/powerpoint/2010/main" val="48511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11AF5D-1988-C846-9113-AD1E0D8E1BF6}"/>
              </a:ext>
            </a:extLst>
          </p:cNvPr>
          <p:cNvSpPr/>
          <p:nvPr/>
        </p:nvSpPr>
        <p:spPr>
          <a:xfrm>
            <a:off x="4036291" y="4959833"/>
            <a:ext cx="7273636" cy="122222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Oxygen Mono" panose="02000509030000090004" pitchFamily="49" charset="77"/>
              </a:rPr>
              <a:t>[Fri Sep 09 10:42:29.902025 2011] [</a:t>
            </a:r>
            <a:r>
              <a:rPr lang="en-US" sz="1600" dirty="0" err="1">
                <a:solidFill>
                  <a:schemeClr val="tx1"/>
                </a:solidFill>
                <a:latin typeface="Oxygen Mono" panose="02000509030000090004" pitchFamily="49" charset="77"/>
              </a:rPr>
              <a:t>core:error</a:t>
            </a:r>
            <a:r>
              <a:rPr lang="en-US" sz="1600" dirty="0">
                <a:solidFill>
                  <a:schemeClr val="tx1"/>
                </a:solidFill>
                <a:latin typeface="Oxygen Mono" panose="02000509030000090004" pitchFamily="49" charset="77"/>
              </a:rPr>
              <a:t>] </a:t>
            </a:r>
            <a:br>
              <a:rPr lang="en-US" sz="1600" dirty="0">
                <a:solidFill>
                  <a:schemeClr val="tx1"/>
                </a:solidFill>
                <a:latin typeface="Oxygen Mono" panose="02000509030000090004" pitchFamily="49" charset="77"/>
              </a:rPr>
            </a:br>
            <a:r>
              <a:rPr lang="en-US" sz="1600" dirty="0">
                <a:solidFill>
                  <a:schemeClr val="tx1"/>
                </a:solidFill>
                <a:latin typeface="Oxygen Mono" panose="02000509030000090004" pitchFamily="49" charset="77"/>
              </a:rPr>
              <a:t>[</a:t>
            </a:r>
            <a:r>
              <a:rPr lang="en-US" sz="1600" dirty="0" err="1">
                <a:solidFill>
                  <a:schemeClr val="tx1"/>
                </a:solidFill>
                <a:latin typeface="Oxygen Mono" panose="02000509030000090004" pitchFamily="49" charset="77"/>
              </a:rPr>
              <a:t>pid</a:t>
            </a:r>
            <a:r>
              <a:rPr lang="en-US" sz="1600" dirty="0">
                <a:solidFill>
                  <a:schemeClr val="tx1"/>
                </a:solidFill>
                <a:latin typeface="Oxygen Mono" panose="02000509030000090004" pitchFamily="49" charset="77"/>
              </a:rPr>
              <a:t> 35708:tid 4328636416] [client 72.15.99.187] </a:t>
            </a:r>
            <a:br>
              <a:rPr lang="en-US" sz="1600" dirty="0">
                <a:solidFill>
                  <a:schemeClr val="tx1"/>
                </a:solidFill>
                <a:latin typeface="Oxygen Mono" panose="02000509030000090004" pitchFamily="49" charset="77"/>
              </a:rPr>
            </a:br>
            <a:r>
              <a:rPr lang="en-US" sz="1600" dirty="0">
                <a:solidFill>
                  <a:schemeClr val="tx1"/>
                </a:solidFill>
                <a:latin typeface="Oxygen Mono" panose="02000509030000090004" pitchFamily="49" charset="77"/>
              </a:rPr>
              <a:t>File does not exist: /</a:t>
            </a:r>
            <a:r>
              <a:rPr lang="en-US" sz="1600" dirty="0" err="1">
                <a:solidFill>
                  <a:schemeClr val="tx1"/>
                </a:solidFill>
                <a:latin typeface="Oxygen Mono" panose="02000509030000090004" pitchFamily="49" charset="77"/>
              </a:rPr>
              <a:t>usr</a:t>
            </a:r>
            <a:r>
              <a:rPr lang="en-US" sz="1600" dirty="0">
                <a:solidFill>
                  <a:schemeClr val="tx1"/>
                </a:solidFill>
                <a:latin typeface="Oxygen Mono" panose="02000509030000090004" pitchFamily="49" charset="77"/>
              </a:rPr>
              <a:t>/local/apache2/</a:t>
            </a:r>
            <a:r>
              <a:rPr lang="en-US" sz="1600" dirty="0" err="1">
                <a:solidFill>
                  <a:schemeClr val="tx1"/>
                </a:solidFill>
                <a:latin typeface="Oxygen Mono" panose="02000509030000090004" pitchFamily="49" charset="77"/>
              </a:rPr>
              <a:t>htdocs</a:t>
            </a:r>
            <a:r>
              <a:rPr lang="en-US" sz="1600" dirty="0">
                <a:solidFill>
                  <a:schemeClr val="tx1"/>
                </a:solidFill>
                <a:latin typeface="Oxygen Mono" panose="02000509030000090004" pitchFamily="49" charset="77"/>
              </a:rPr>
              <a:t>/favicon.ico</a:t>
            </a:r>
            <a:endParaRPr lang="en-US" dirty="0"/>
          </a:p>
        </p:txBody>
      </p:sp>
      <p:sp>
        <p:nvSpPr>
          <p:cNvPr id="2" name="Title 1"/>
          <p:cNvSpPr>
            <a:spLocks noGrp="1"/>
          </p:cNvSpPr>
          <p:nvPr>
            <p:ph type="title"/>
          </p:nvPr>
        </p:nvSpPr>
        <p:spPr/>
        <p:txBody>
          <a:bodyPr/>
          <a:lstStyle/>
          <a:p>
            <a:r>
              <a:rPr lang="en-US" dirty="0">
                <a:latin typeface="Stone Sans" charset="0"/>
                <a:ea typeface="Stone Sans" charset="0"/>
                <a:cs typeface="Stone Sans" charset="0"/>
              </a:rPr>
              <a:t>How Splunk Stores Data</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cxnSp>
        <p:nvCxnSpPr>
          <p:cNvPr id="5" name="Straight Connector 4">
            <a:extLst>
              <a:ext uri="{FF2B5EF4-FFF2-40B4-BE49-F238E27FC236}">
                <a16:creationId xmlns:a16="http://schemas.microsoft.com/office/drawing/2014/main" id="{FF8A7E35-E9A5-4144-9D1C-8AFC836EDA72}"/>
              </a:ext>
            </a:extLst>
          </p:cNvPr>
          <p:cNvCxnSpPr/>
          <p:nvPr/>
        </p:nvCxnSpPr>
        <p:spPr>
          <a:xfrm>
            <a:off x="3491345" y="1690688"/>
            <a:ext cx="0" cy="4349894"/>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FF3A22-CD21-E247-9016-1D2C5BB6D9C3}"/>
              </a:ext>
            </a:extLst>
          </p:cNvPr>
          <p:cNvSpPr txBox="1"/>
          <p:nvPr/>
        </p:nvSpPr>
        <p:spPr>
          <a:xfrm>
            <a:off x="3835574" y="1989427"/>
            <a:ext cx="6707285" cy="292387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xygen" panose="02000503000000000000" pitchFamily="2" charset="77"/>
              </a:rPr>
              <a:t>A single row of data, made up of fields</a:t>
            </a:r>
          </a:p>
          <a:p>
            <a:pPr marL="285750" indent="-285750">
              <a:buFont typeface="Arial" panose="020B0604020202020204" pitchFamily="34" charset="0"/>
              <a:buChar char="•"/>
            </a:pPr>
            <a:r>
              <a:rPr lang="en-US" sz="2800" dirty="0">
                <a:latin typeface="Oxygen" panose="02000503000000000000" pitchFamily="2" charset="77"/>
              </a:rPr>
              <a:t>Fields are key=value pairs</a:t>
            </a:r>
          </a:p>
          <a:p>
            <a:pPr marL="285750" indent="-285750">
              <a:buFont typeface="Arial" panose="020B0604020202020204" pitchFamily="34" charset="0"/>
              <a:buChar char="•"/>
            </a:pPr>
            <a:r>
              <a:rPr lang="en-US" sz="2800" dirty="0">
                <a:latin typeface="Oxygen" panose="02000503000000000000" pitchFamily="2" charset="77"/>
              </a:rPr>
              <a:t>Splunk adds default fields to all events</a:t>
            </a:r>
          </a:p>
          <a:p>
            <a:pPr marL="742950" lvl="1" indent="-28575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_time</a:t>
            </a:r>
          </a:p>
          <a:p>
            <a:pPr marL="742950" lvl="1" indent="-28575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index</a:t>
            </a:r>
          </a:p>
          <a:p>
            <a:pPr marL="742950" lvl="1" indent="-28575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host</a:t>
            </a:r>
          </a:p>
          <a:p>
            <a:pPr marL="742950" lvl="1" indent="-285750">
              <a:buFont typeface="Arial" panose="020B0604020202020204" pitchFamily="34" charset="0"/>
              <a:buChar char="•"/>
            </a:pPr>
            <a:r>
              <a:rPr lang="en-US" sz="2000" dirty="0">
                <a:latin typeface="Courier New" panose="02070309020205020404" pitchFamily="49" charset="0"/>
                <a:cs typeface="Courier New" panose="02070309020205020404" pitchFamily="49" charset="0"/>
              </a:rPr>
              <a:t>source</a:t>
            </a:r>
          </a:p>
          <a:p>
            <a:pPr marL="742950" lvl="1" indent="-285750">
              <a:buFont typeface="Arial" panose="020B0604020202020204" pitchFamily="34" charset="0"/>
              <a:buChar char="•"/>
            </a:pPr>
            <a:r>
              <a:rPr lang="en-US" sz="2000" dirty="0" err="1">
                <a:latin typeface="Courier New" panose="02070309020205020404" pitchFamily="49" charset="0"/>
                <a:cs typeface="Courier New" panose="02070309020205020404" pitchFamily="49" charset="0"/>
              </a:rPr>
              <a:t>sourcetype</a:t>
            </a:r>
            <a:endParaRPr lang="en-US" sz="2800" dirty="0">
              <a:latin typeface="Courier New" panose="02070309020205020404" pitchFamily="49" charset="0"/>
              <a:cs typeface="Courier New" panose="02070309020205020404" pitchFamily="49" charset="0"/>
            </a:endParaRPr>
          </a:p>
        </p:txBody>
      </p:sp>
      <p:pic>
        <p:nvPicPr>
          <p:cNvPr id="3076" name="Picture 4" descr="https://documents.lucidchart.com/documents/98ad8596-310b-4804-9bbb-4bb0eda814db/pages/gSPzIyf3xq~f?a=1566&amp;x=580&amp;y=1270&amp;w=222&amp;h=221&amp;store=1&amp;accept=image%2F*&amp;auth=LCA%208b2da31198cb23fff76c33348d4ed31a68f5156f-ts%3D1563297125">
            <a:extLst>
              <a:ext uri="{FF2B5EF4-FFF2-40B4-BE49-F238E27FC236}">
                <a16:creationId xmlns:a16="http://schemas.microsoft.com/office/drawing/2014/main" id="{DCBFF107-D59C-2B45-B5A7-E339CDB23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751209"/>
            <a:ext cx="2108200" cy="210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22" presetClass="exit" presetSubtype="4" fill="hold" nodeType="withEffect">
                                  <p:stCondLst>
                                    <p:cond delay="0"/>
                                  </p:stCondLst>
                                  <p:childTnLst>
                                    <p:animEffect transition="out" filter="wipe(down)">
                                      <p:cBhvr>
                                        <p:cTn id="40" dur="500"/>
                                        <p:tgtEl>
                                          <p:spTgt spid="3076"/>
                                        </p:tgtEl>
                                      </p:cBhvr>
                                    </p:animEffect>
                                    <p:set>
                                      <p:cBhvr>
                                        <p:cTn id="41" dur="1" fill="hold">
                                          <p:stCondLst>
                                            <p:cond delay="499"/>
                                          </p:stCondLst>
                                        </p:cTn>
                                        <p:tgtEl>
                                          <p:spTgt spid="30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How Splunk Stores Data</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grpSp>
        <p:nvGrpSpPr>
          <p:cNvPr id="28" name="Group 27">
            <a:extLst>
              <a:ext uri="{FF2B5EF4-FFF2-40B4-BE49-F238E27FC236}">
                <a16:creationId xmlns:a16="http://schemas.microsoft.com/office/drawing/2014/main" id="{71670488-0703-8FA3-0E85-34B455DE5573}"/>
              </a:ext>
            </a:extLst>
          </p:cNvPr>
          <p:cNvGrpSpPr/>
          <p:nvPr/>
        </p:nvGrpSpPr>
        <p:grpSpPr>
          <a:xfrm>
            <a:off x="2004480" y="1238416"/>
            <a:ext cx="7476060" cy="5111498"/>
            <a:chOff x="2004480" y="1238416"/>
            <a:chExt cx="7476060" cy="5111498"/>
          </a:xfrm>
        </p:grpSpPr>
        <p:pic>
          <p:nvPicPr>
            <p:cNvPr id="5" name="Picture 4">
              <a:extLst>
                <a:ext uri="{FF2B5EF4-FFF2-40B4-BE49-F238E27FC236}">
                  <a16:creationId xmlns:a16="http://schemas.microsoft.com/office/drawing/2014/main" id="{7E80B442-D796-21C8-77C7-8F89B0A301EA}"/>
                </a:ext>
              </a:extLst>
            </p:cNvPr>
            <p:cNvPicPr>
              <a:picLocks noChangeAspect="1"/>
            </p:cNvPicPr>
            <p:nvPr/>
          </p:nvPicPr>
          <p:blipFill>
            <a:blip r:embed="rId3"/>
            <a:stretch>
              <a:fillRect/>
            </a:stretch>
          </p:blipFill>
          <p:spPr>
            <a:xfrm>
              <a:off x="2004480" y="4027137"/>
              <a:ext cx="1691787" cy="2322777"/>
            </a:xfrm>
            <a:prstGeom prst="rect">
              <a:avLst/>
            </a:prstGeom>
          </p:spPr>
        </p:pic>
        <p:pic>
          <p:nvPicPr>
            <p:cNvPr id="6" name="Picture 5">
              <a:extLst>
                <a:ext uri="{FF2B5EF4-FFF2-40B4-BE49-F238E27FC236}">
                  <a16:creationId xmlns:a16="http://schemas.microsoft.com/office/drawing/2014/main" id="{DE65CD0E-C34D-19B4-A632-9481DA501DD8}"/>
                </a:ext>
              </a:extLst>
            </p:cNvPr>
            <p:cNvPicPr>
              <a:picLocks noChangeAspect="1"/>
            </p:cNvPicPr>
            <p:nvPr/>
          </p:nvPicPr>
          <p:blipFill>
            <a:blip r:embed="rId3"/>
            <a:stretch>
              <a:fillRect/>
            </a:stretch>
          </p:blipFill>
          <p:spPr>
            <a:xfrm>
              <a:off x="3450548" y="4027137"/>
              <a:ext cx="1691787" cy="2322777"/>
            </a:xfrm>
            <a:prstGeom prst="rect">
              <a:avLst/>
            </a:prstGeom>
          </p:spPr>
        </p:pic>
        <p:pic>
          <p:nvPicPr>
            <p:cNvPr id="7" name="Picture 6">
              <a:extLst>
                <a:ext uri="{FF2B5EF4-FFF2-40B4-BE49-F238E27FC236}">
                  <a16:creationId xmlns:a16="http://schemas.microsoft.com/office/drawing/2014/main" id="{0DBAFD1A-B5DE-0DAF-A204-D3CBEEA148D7}"/>
                </a:ext>
              </a:extLst>
            </p:cNvPr>
            <p:cNvPicPr>
              <a:picLocks noChangeAspect="1"/>
            </p:cNvPicPr>
            <p:nvPr/>
          </p:nvPicPr>
          <p:blipFill>
            <a:blip r:embed="rId3"/>
            <a:stretch>
              <a:fillRect/>
            </a:stretch>
          </p:blipFill>
          <p:spPr>
            <a:xfrm>
              <a:off x="4896616" y="4027137"/>
              <a:ext cx="1691787" cy="2322777"/>
            </a:xfrm>
            <a:prstGeom prst="rect">
              <a:avLst/>
            </a:prstGeom>
          </p:spPr>
        </p:pic>
        <p:pic>
          <p:nvPicPr>
            <p:cNvPr id="8" name="Picture 7">
              <a:extLst>
                <a:ext uri="{FF2B5EF4-FFF2-40B4-BE49-F238E27FC236}">
                  <a16:creationId xmlns:a16="http://schemas.microsoft.com/office/drawing/2014/main" id="{C34D3E54-B7A8-3694-CCF0-FF5161217D24}"/>
                </a:ext>
              </a:extLst>
            </p:cNvPr>
            <p:cNvPicPr>
              <a:picLocks noChangeAspect="1"/>
            </p:cNvPicPr>
            <p:nvPr/>
          </p:nvPicPr>
          <p:blipFill>
            <a:blip r:embed="rId3"/>
            <a:stretch>
              <a:fillRect/>
            </a:stretch>
          </p:blipFill>
          <p:spPr>
            <a:xfrm>
              <a:off x="6342684" y="4027137"/>
              <a:ext cx="1691787" cy="2322777"/>
            </a:xfrm>
            <a:prstGeom prst="rect">
              <a:avLst/>
            </a:prstGeom>
          </p:spPr>
        </p:pic>
        <p:pic>
          <p:nvPicPr>
            <p:cNvPr id="9" name="Picture 8">
              <a:extLst>
                <a:ext uri="{FF2B5EF4-FFF2-40B4-BE49-F238E27FC236}">
                  <a16:creationId xmlns:a16="http://schemas.microsoft.com/office/drawing/2014/main" id="{2ED1D783-C16F-73CC-5B8A-5F1EF08BC02B}"/>
                </a:ext>
              </a:extLst>
            </p:cNvPr>
            <p:cNvPicPr>
              <a:picLocks noChangeAspect="1"/>
            </p:cNvPicPr>
            <p:nvPr/>
          </p:nvPicPr>
          <p:blipFill>
            <a:blip r:embed="rId3"/>
            <a:stretch>
              <a:fillRect/>
            </a:stretch>
          </p:blipFill>
          <p:spPr>
            <a:xfrm>
              <a:off x="7788753" y="4027137"/>
              <a:ext cx="1691787" cy="2322777"/>
            </a:xfrm>
            <a:prstGeom prst="rect">
              <a:avLst/>
            </a:prstGeom>
          </p:spPr>
        </p:pic>
        <p:pic>
          <p:nvPicPr>
            <p:cNvPr id="11" name="Picture 10">
              <a:extLst>
                <a:ext uri="{FF2B5EF4-FFF2-40B4-BE49-F238E27FC236}">
                  <a16:creationId xmlns:a16="http://schemas.microsoft.com/office/drawing/2014/main" id="{1BC608C5-265C-FD54-14D5-E0388361C640}"/>
                </a:ext>
              </a:extLst>
            </p:cNvPr>
            <p:cNvPicPr>
              <a:picLocks noChangeAspect="1"/>
            </p:cNvPicPr>
            <p:nvPr/>
          </p:nvPicPr>
          <p:blipFill>
            <a:blip r:embed="rId4"/>
            <a:stretch>
              <a:fillRect/>
            </a:stretch>
          </p:blipFill>
          <p:spPr>
            <a:xfrm>
              <a:off x="4981476" y="1238416"/>
              <a:ext cx="1432684" cy="2072820"/>
            </a:xfrm>
            <a:prstGeom prst="rect">
              <a:avLst/>
            </a:prstGeom>
          </p:spPr>
        </p:pic>
        <p:sp>
          <p:nvSpPr>
            <p:cNvPr id="12" name="TextBox 11">
              <a:extLst>
                <a:ext uri="{FF2B5EF4-FFF2-40B4-BE49-F238E27FC236}">
                  <a16:creationId xmlns:a16="http://schemas.microsoft.com/office/drawing/2014/main" id="{8F1DF155-B9C4-0865-710C-7C18022AA3D9}"/>
                </a:ext>
              </a:extLst>
            </p:cNvPr>
            <p:cNvSpPr txBox="1"/>
            <p:nvPr/>
          </p:nvSpPr>
          <p:spPr>
            <a:xfrm>
              <a:off x="2556767" y="3683028"/>
              <a:ext cx="587212" cy="369332"/>
            </a:xfrm>
            <a:prstGeom prst="rect">
              <a:avLst/>
            </a:prstGeom>
            <a:noFill/>
          </p:spPr>
          <p:txBody>
            <a:bodyPr wrap="none" rtlCol="0">
              <a:spAutoFit/>
            </a:bodyPr>
            <a:lstStyle/>
            <a:p>
              <a:r>
                <a:rPr lang="en-US" dirty="0"/>
                <a:t>HOT</a:t>
              </a:r>
            </a:p>
          </p:txBody>
        </p:sp>
        <p:sp>
          <p:nvSpPr>
            <p:cNvPr id="13" name="TextBox 12">
              <a:extLst>
                <a:ext uri="{FF2B5EF4-FFF2-40B4-BE49-F238E27FC236}">
                  <a16:creationId xmlns:a16="http://schemas.microsoft.com/office/drawing/2014/main" id="{59914D6A-9219-D093-425D-32DEEBD8FEB7}"/>
                </a:ext>
              </a:extLst>
            </p:cNvPr>
            <p:cNvSpPr txBox="1"/>
            <p:nvPr/>
          </p:nvSpPr>
          <p:spPr>
            <a:xfrm>
              <a:off x="5393119" y="3683028"/>
              <a:ext cx="698781" cy="369332"/>
            </a:xfrm>
            <a:prstGeom prst="rect">
              <a:avLst/>
            </a:prstGeom>
            <a:noFill/>
          </p:spPr>
          <p:txBody>
            <a:bodyPr wrap="none" rtlCol="0">
              <a:spAutoFit/>
            </a:bodyPr>
            <a:lstStyle/>
            <a:p>
              <a:r>
                <a:rPr lang="en-US" dirty="0"/>
                <a:t>COLD</a:t>
              </a:r>
            </a:p>
          </p:txBody>
        </p:sp>
        <p:sp>
          <p:nvSpPr>
            <p:cNvPr id="14" name="TextBox 13">
              <a:extLst>
                <a:ext uri="{FF2B5EF4-FFF2-40B4-BE49-F238E27FC236}">
                  <a16:creationId xmlns:a16="http://schemas.microsoft.com/office/drawing/2014/main" id="{E080E2AE-F362-5645-AECB-6A0005D7C400}"/>
                </a:ext>
              </a:extLst>
            </p:cNvPr>
            <p:cNvSpPr txBox="1"/>
            <p:nvPr/>
          </p:nvSpPr>
          <p:spPr>
            <a:xfrm>
              <a:off x="3879115" y="3683028"/>
              <a:ext cx="834652" cy="369332"/>
            </a:xfrm>
            <a:prstGeom prst="rect">
              <a:avLst/>
            </a:prstGeom>
            <a:noFill/>
          </p:spPr>
          <p:txBody>
            <a:bodyPr wrap="none" rtlCol="0">
              <a:spAutoFit/>
            </a:bodyPr>
            <a:lstStyle/>
            <a:p>
              <a:r>
                <a:rPr lang="en-US" dirty="0"/>
                <a:t>WARM</a:t>
              </a:r>
            </a:p>
          </p:txBody>
        </p:sp>
        <p:sp>
          <p:nvSpPr>
            <p:cNvPr id="15" name="TextBox 14">
              <a:extLst>
                <a:ext uri="{FF2B5EF4-FFF2-40B4-BE49-F238E27FC236}">
                  <a16:creationId xmlns:a16="http://schemas.microsoft.com/office/drawing/2014/main" id="{DD6C6FB8-0A99-5BD6-4053-D2E0428AAB57}"/>
                </a:ext>
              </a:extLst>
            </p:cNvPr>
            <p:cNvSpPr txBox="1"/>
            <p:nvPr/>
          </p:nvSpPr>
          <p:spPr>
            <a:xfrm>
              <a:off x="6723610" y="3683028"/>
              <a:ext cx="929935" cy="369332"/>
            </a:xfrm>
            <a:prstGeom prst="rect">
              <a:avLst/>
            </a:prstGeom>
            <a:noFill/>
          </p:spPr>
          <p:txBody>
            <a:bodyPr wrap="none" rtlCol="0">
              <a:spAutoFit/>
            </a:bodyPr>
            <a:lstStyle/>
            <a:p>
              <a:r>
                <a:rPr lang="en-US" dirty="0"/>
                <a:t>FROZEN</a:t>
              </a:r>
            </a:p>
          </p:txBody>
        </p:sp>
        <p:sp>
          <p:nvSpPr>
            <p:cNvPr id="16" name="TextBox 15">
              <a:extLst>
                <a:ext uri="{FF2B5EF4-FFF2-40B4-BE49-F238E27FC236}">
                  <a16:creationId xmlns:a16="http://schemas.microsoft.com/office/drawing/2014/main" id="{2B7E9D7B-0A79-6643-B367-838F39D4EDB2}"/>
                </a:ext>
              </a:extLst>
            </p:cNvPr>
            <p:cNvSpPr txBox="1"/>
            <p:nvPr/>
          </p:nvSpPr>
          <p:spPr>
            <a:xfrm>
              <a:off x="8122038" y="3683028"/>
              <a:ext cx="1025217" cy="369332"/>
            </a:xfrm>
            <a:prstGeom prst="rect">
              <a:avLst/>
            </a:prstGeom>
            <a:noFill/>
          </p:spPr>
          <p:txBody>
            <a:bodyPr wrap="none" rtlCol="0">
              <a:spAutoFit/>
            </a:bodyPr>
            <a:lstStyle/>
            <a:p>
              <a:r>
                <a:rPr lang="en-US" dirty="0"/>
                <a:t>THAWED</a:t>
              </a:r>
            </a:p>
          </p:txBody>
        </p:sp>
        <p:pic>
          <p:nvPicPr>
            <p:cNvPr id="18" name="Graphic 17" descr="Fire with solid fill">
              <a:extLst>
                <a:ext uri="{FF2B5EF4-FFF2-40B4-BE49-F238E27FC236}">
                  <a16:creationId xmlns:a16="http://schemas.microsoft.com/office/drawing/2014/main" id="{77555770-BA6F-8205-558D-61E43DAD8C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42062" y="5074425"/>
              <a:ext cx="432755" cy="432755"/>
            </a:xfrm>
            <a:prstGeom prst="rect">
              <a:avLst/>
            </a:prstGeom>
          </p:spPr>
        </p:pic>
        <p:pic>
          <p:nvPicPr>
            <p:cNvPr id="20" name="Graphic 19" descr="Fire with solid fill">
              <a:extLst>
                <a:ext uri="{FF2B5EF4-FFF2-40B4-BE49-F238E27FC236}">
                  <a16:creationId xmlns:a16="http://schemas.microsoft.com/office/drawing/2014/main" id="{1E1727B8-3EC5-4287-F4B2-935E8417BF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58788" y="5074425"/>
              <a:ext cx="432755" cy="432755"/>
            </a:xfrm>
            <a:prstGeom prst="rect">
              <a:avLst/>
            </a:prstGeom>
          </p:spPr>
        </p:pic>
        <p:pic>
          <p:nvPicPr>
            <p:cNvPr id="22" name="Graphic 21" descr="Ice cream with solid fill">
              <a:extLst>
                <a:ext uri="{FF2B5EF4-FFF2-40B4-BE49-F238E27FC236}">
                  <a16:creationId xmlns:a16="http://schemas.microsoft.com/office/drawing/2014/main" id="{48D15E2A-CB84-2495-21CB-8911F470E2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04856" y="5092968"/>
              <a:ext cx="414212" cy="414212"/>
            </a:xfrm>
            <a:prstGeom prst="rect">
              <a:avLst/>
            </a:prstGeom>
          </p:spPr>
        </p:pic>
        <p:pic>
          <p:nvPicPr>
            <p:cNvPr id="25" name="Graphic 24" descr="Snowflake with solid fill">
              <a:extLst>
                <a:ext uri="{FF2B5EF4-FFF2-40B4-BE49-F238E27FC236}">
                  <a16:creationId xmlns:a16="http://schemas.microsoft.com/office/drawing/2014/main" id="{6347B1DC-20F5-E192-57E8-1DEABBD4B81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50924" y="5112892"/>
              <a:ext cx="394288" cy="394288"/>
            </a:xfrm>
            <a:prstGeom prst="rect">
              <a:avLst/>
            </a:prstGeom>
          </p:spPr>
        </p:pic>
        <p:pic>
          <p:nvPicPr>
            <p:cNvPr id="27" name="Graphic 26" descr="Indoor Fireplace with solid fill">
              <a:extLst>
                <a:ext uri="{FF2B5EF4-FFF2-40B4-BE49-F238E27FC236}">
                  <a16:creationId xmlns:a16="http://schemas.microsoft.com/office/drawing/2014/main" id="{231F01F9-9D2D-00CB-CADF-4E2B7FB8903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60573" y="5167746"/>
              <a:ext cx="318653" cy="318653"/>
            </a:xfrm>
            <a:prstGeom prst="rect">
              <a:avLst/>
            </a:prstGeom>
          </p:spPr>
        </p:pic>
      </p:grpSp>
    </p:spTree>
    <p:extLst>
      <p:ext uri="{BB962C8B-B14F-4D97-AF65-F5344CB8AC3E}">
        <p14:creationId xmlns:p14="http://schemas.microsoft.com/office/powerpoint/2010/main" val="121054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How Splunk Stores Data</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9" name="Rectangle 8">
            <a:extLst>
              <a:ext uri="{FF2B5EF4-FFF2-40B4-BE49-F238E27FC236}">
                <a16:creationId xmlns:a16="http://schemas.microsoft.com/office/drawing/2014/main" id="{57E9520E-9619-DD47-98EF-6189E59E1FFE}"/>
              </a:ext>
            </a:extLst>
          </p:cNvPr>
          <p:cNvSpPr/>
          <p:nvPr/>
        </p:nvSpPr>
        <p:spPr>
          <a:xfrm>
            <a:off x="1626236" y="1819570"/>
            <a:ext cx="5974713" cy="369332"/>
          </a:xfrm>
          <a:prstGeom prst="rect">
            <a:avLst/>
          </a:prstGeom>
        </p:spPr>
        <p:txBody>
          <a:bodyPr wrap="none">
            <a:spAutoFit/>
          </a:bodyPr>
          <a:lstStyle/>
          <a:p>
            <a:r>
              <a:rPr lang="en-US" dirty="0">
                <a:latin typeface="Oxygen Mono" panose="02000509030000090004" pitchFamily="49" charset="77"/>
              </a:rPr>
              <a:t>$SPLUNK_HOME/var/lib/</a:t>
            </a:r>
            <a:r>
              <a:rPr lang="en-US" dirty="0" err="1">
                <a:latin typeface="Oxygen Mono" panose="02000509030000090004" pitchFamily="49" charset="77"/>
              </a:rPr>
              <a:t>splunk</a:t>
            </a:r>
            <a:r>
              <a:rPr lang="en-US" dirty="0">
                <a:latin typeface="Oxygen Mono" panose="02000509030000090004" pitchFamily="49" charset="77"/>
              </a:rPr>
              <a:t>/</a:t>
            </a:r>
            <a:r>
              <a:rPr lang="en-US" dirty="0" err="1">
                <a:latin typeface="Oxygen Mono" panose="02000509030000090004" pitchFamily="49" charset="77"/>
              </a:rPr>
              <a:t>defaultdb</a:t>
            </a:r>
            <a:r>
              <a:rPr lang="en-US" dirty="0">
                <a:latin typeface="Oxygen Mono" panose="02000509030000090004" pitchFamily="49" charset="77"/>
              </a:rPr>
              <a:t>/</a:t>
            </a:r>
            <a:r>
              <a:rPr lang="en-US" dirty="0" err="1">
                <a:latin typeface="Oxygen Mono" panose="02000509030000090004" pitchFamily="49" charset="77"/>
              </a:rPr>
              <a:t>db</a:t>
            </a:r>
            <a:r>
              <a:rPr lang="en-US" dirty="0">
                <a:latin typeface="Oxygen Mono" panose="02000509030000090004" pitchFamily="49" charset="77"/>
              </a:rPr>
              <a:t>/*</a:t>
            </a:r>
          </a:p>
        </p:txBody>
      </p:sp>
      <p:sp>
        <p:nvSpPr>
          <p:cNvPr id="13" name="Rectangle 12">
            <a:extLst>
              <a:ext uri="{FF2B5EF4-FFF2-40B4-BE49-F238E27FC236}">
                <a16:creationId xmlns:a16="http://schemas.microsoft.com/office/drawing/2014/main" id="{4E14C65F-E262-EB4E-92AA-A4FA9E9A063E}"/>
              </a:ext>
            </a:extLst>
          </p:cNvPr>
          <p:cNvSpPr/>
          <p:nvPr/>
        </p:nvSpPr>
        <p:spPr>
          <a:xfrm>
            <a:off x="1626236" y="2631188"/>
            <a:ext cx="5974713" cy="369332"/>
          </a:xfrm>
          <a:prstGeom prst="rect">
            <a:avLst/>
          </a:prstGeom>
        </p:spPr>
        <p:txBody>
          <a:bodyPr wrap="none">
            <a:spAutoFit/>
          </a:bodyPr>
          <a:lstStyle/>
          <a:p>
            <a:r>
              <a:rPr lang="en-US" dirty="0">
                <a:latin typeface="Oxygen Mono" panose="02000509030000090004" pitchFamily="49" charset="77"/>
              </a:rPr>
              <a:t>$SPLUNK_HOME/var/lib/</a:t>
            </a:r>
            <a:r>
              <a:rPr lang="en-US" dirty="0" err="1">
                <a:latin typeface="Oxygen Mono" panose="02000509030000090004" pitchFamily="49" charset="77"/>
              </a:rPr>
              <a:t>splunk</a:t>
            </a:r>
            <a:r>
              <a:rPr lang="en-US" dirty="0">
                <a:latin typeface="Oxygen Mono" panose="02000509030000090004" pitchFamily="49" charset="77"/>
              </a:rPr>
              <a:t>/</a:t>
            </a:r>
            <a:r>
              <a:rPr lang="en-US" dirty="0" err="1">
                <a:latin typeface="Oxygen Mono" panose="02000509030000090004" pitchFamily="49" charset="77"/>
              </a:rPr>
              <a:t>defaultdb</a:t>
            </a:r>
            <a:r>
              <a:rPr lang="en-US" dirty="0">
                <a:latin typeface="Oxygen Mono" panose="02000509030000090004" pitchFamily="49" charset="77"/>
              </a:rPr>
              <a:t>/</a:t>
            </a:r>
            <a:r>
              <a:rPr lang="en-US" dirty="0" err="1">
                <a:latin typeface="Oxygen Mono" panose="02000509030000090004" pitchFamily="49" charset="77"/>
              </a:rPr>
              <a:t>db</a:t>
            </a:r>
            <a:r>
              <a:rPr lang="en-US" dirty="0">
                <a:latin typeface="Oxygen Mono" panose="02000509030000090004" pitchFamily="49" charset="77"/>
              </a:rPr>
              <a:t>/*</a:t>
            </a:r>
          </a:p>
        </p:txBody>
      </p:sp>
      <p:sp>
        <p:nvSpPr>
          <p:cNvPr id="10" name="Rectangle 9">
            <a:extLst>
              <a:ext uri="{FF2B5EF4-FFF2-40B4-BE49-F238E27FC236}">
                <a16:creationId xmlns:a16="http://schemas.microsoft.com/office/drawing/2014/main" id="{691DF144-03F6-FE45-959B-0A93273DA554}"/>
              </a:ext>
            </a:extLst>
          </p:cNvPr>
          <p:cNvSpPr/>
          <p:nvPr/>
        </p:nvSpPr>
        <p:spPr>
          <a:xfrm>
            <a:off x="1626236" y="3672815"/>
            <a:ext cx="6526146" cy="369332"/>
          </a:xfrm>
          <a:prstGeom prst="rect">
            <a:avLst/>
          </a:prstGeom>
        </p:spPr>
        <p:txBody>
          <a:bodyPr wrap="none">
            <a:spAutoFit/>
          </a:bodyPr>
          <a:lstStyle/>
          <a:p>
            <a:r>
              <a:rPr lang="en-US" dirty="0">
                <a:latin typeface="Oxygen Mono" panose="02000509030000090004" pitchFamily="49" charset="77"/>
              </a:rPr>
              <a:t>$SPLUNK_HOME/var/lib/</a:t>
            </a:r>
            <a:r>
              <a:rPr lang="en-US" dirty="0" err="1">
                <a:latin typeface="Oxygen Mono" panose="02000509030000090004" pitchFamily="49" charset="77"/>
              </a:rPr>
              <a:t>splunk</a:t>
            </a:r>
            <a:r>
              <a:rPr lang="en-US" dirty="0">
                <a:latin typeface="Oxygen Mono" panose="02000509030000090004" pitchFamily="49" charset="77"/>
              </a:rPr>
              <a:t>/</a:t>
            </a:r>
            <a:r>
              <a:rPr lang="en-US" dirty="0" err="1">
                <a:latin typeface="Oxygen Mono" panose="02000509030000090004" pitchFamily="49" charset="77"/>
              </a:rPr>
              <a:t>defaultdb</a:t>
            </a:r>
            <a:r>
              <a:rPr lang="en-US" dirty="0">
                <a:latin typeface="Oxygen Mono" panose="02000509030000090004" pitchFamily="49" charset="77"/>
              </a:rPr>
              <a:t>/</a:t>
            </a:r>
            <a:r>
              <a:rPr lang="en-US" dirty="0" err="1">
                <a:latin typeface="Oxygen Mono" panose="02000509030000090004" pitchFamily="49" charset="77"/>
              </a:rPr>
              <a:t>colddb</a:t>
            </a:r>
            <a:r>
              <a:rPr lang="en-US" dirty="0">
                <a:latin typeface="Oxygen Mono" panose="02000509030000090004" pitchFamily="49" charset="77"/>
              </a:rPr>
              <a:t>/*</a:t>
            </a:r>
          </a:p>
        </p:txBody>
      </p:sp>
      <p:sp>
        <p:nvSpPr>
          <p:cNvPr id="11" name="Rectangle 10">
            <a:extLst>
              <a:ext uri="{FF2B5EF4-FFF2-40B4-BE49-F238E27FC236}">
                <a16:creationId xmlns:a16="http://schemas.microsoft.com/office/drawing/2014/main" id="{ACF40947-A426-9C4C-96D5-A92921DD7AC6}"/>
              </a:ext>
            </a:extLst>
          </p:cNvPr>
          <p:cNvSpPr/>
          <p:nvPr/>
        </p:nvSpPr>
        <p:spPr>
          <a:xfrm>
            <a:off x="1626236" y="5526060"/>
            <a:ext cx="6801862" cy="369332"/>
          </a:xfrm>
          <a:prstGeom prst="rect">
            <a:avLst/>
          </a:prstGeom>
        </p:spPr>
        <p:txBody>
          <a:bodyPr wrap="none">
            <a:spAutoFit/>
          </a:bodyPr>
          <a:lstStyle/>
          <a:p>
            <a:r>
              <a:rPr lang="en-US" dirty="0">
                <a:latin typeface="Oxygen Mono" panose="02000509030000090004" pitchFamily="49" charset="77"/>
              </a:rPr>
              <a:t>$SPLUNK_HOME/var/lib/</a:t>
            </a:r>
            <a:r>
              <a:rPr lang="en-US" dirty="0" err="1">
                <a:latin typeface="Oxygen Mono" panose="02000509030000090004" pitchFamily="49" charset="77"/>
              </a:rPr>
              <a:t>splunk</a:t>
            </a:r>
            <a:r>
              <a:rPr lang="en-US" dirty="0">
                <a:latin typeface="Oxygen Mono" panose="02000509030000090004" pitchFamily="49" charset="77"/>
              </a:rPr>
              <a:t>/</a:t>
            </a:r>
            <a:r>
              <a:rPr lang="en-US" dirty="0" err="1">
                <a:latin typeface="Oxygen Mono" panose="02000509030000090004" pitchFamily="49" charset="77"/>
              </a:rPr>
              <a:t>defaultdb</a:t>
            </a:r>
            <a:r>
              <a:rPr lang="en-US" dirty="0">
                <a:latin typeface="Oxygen Mono" panose="02000509030000090004" pitchFamily="49" charset="77"/>
              </a:rPr>
              <a:t>/</a:t>
            </a:r>
            <a:r>
              <a:rPr lang="en-US" dirty="0" err="1">
                <a:latin typeface="Oxygen Mono" panose="02000509030000090004" pitchFamily="49" charset="77"/>
              </a:rPr>
              <a:t>thaweddb</a:t>
            </a:r>
            <a:r>
              <a:rPr lang="en-US" dirty="0">
                <a:latin typeface="Oxygen Mono" panose="02000509030000090004" pitchFamily="49" charset="77"/>
              </a:rPr>
              <a:t>/*</a:t>
            </a:r>
          </a:p>
        </p:txBody>
      </p:sp>
      <p:sp>
        <p:nvSpPr>
          <p:cNvPr id="12" name="TextBox 11">
            <a:extLst>
              <a:ext uri="{FF2B5EF4-FFF2-40B4-BE49-F238E27FC236}">
                <a16:creationId xmlns:a16="http://schemas.microsoft.com/office/drawing/2014/main" id="{78FFAF2D-A0D0-7D46-9142-D38902BB0C3A}"/>
              </a:ext>
            </a:extLst>
          </p:cNvPr>
          <p:cNvSpPr txBox="1"/>
          <p:nvPr/>
        </p:nvSpPr>
        <p:spPr>
          <a:xfrm>
            <a:off x="1626236" y="4605609"/>
            <a:ext cx="5109091" cy="369332"/>
          </a:xfrm>
          <a:prstGeom prst="rect">
            <a:avLst/>
          </a:prstGeom>
          <a:noFill/>
        </p:spPr>
        <p:txBody>
          <a:bodyPr wrap="none" rtlCol="0">
            <a:spAutoFit/>
          </a:bodyPr>
          <a:lstStyle/>
          <a:p>
            <a:r>
              <a:rPr lang="en-US" dirty="0">
                <a:latin typeface="Oxygen" panose="02000503000000000000" pitchFamily="2" charset="77"/>
              </a:rPr>
              <a:t>(Location that you specify for archival purposes)</a:t>
            </a:r>
          </a:p>
        </p:txBody>
      </p:sp>
      <p:grpSp>
        <p:nvGrpSpPr>
          <p:cNvPr id="26" name="Group 25">
            <a:extLst>
              <a:ext uri="{FF2B5EF4-FFF2-40B4-BE49-F238E27FC236}">
                <a16:creationId xmlns:a16="http://schemas.microsoft.com/office/drawing/2014/main" id="{07C2F676-2328-4AE5-36ED-F910FE949144}"/>
              </a:ext>
            </a:extLst>
          </p:cNvPr>
          <p:cNvGrpSpPr/>
          <p:nvPr/>
        </p:nvGrpSpPr>
        <p:grpSpPr>
          <a:xfrm>
            <a:off x="754751" y="1595387"/>
            <a:ext cx="816419" cy="1035174"/>
            <a:chOff x="6504762" y="3751329"/>
            <a:chExt cx="1691787" cy="2322777"/>
          </a:xfrm>
        </p:grpSpPr>
        <p:pic>
          <p:nvPicPr>
            <p:cNvPr id="5" name="Picture 4">
              <a:extLst>
                <a:ext uri="{FF2B5EF4-FFF2-40B4-BE49-F238E27FC236}">
                  <a16:creationId xmlns:a16="http://schemas.microsoft.com/office/drawing/2014/main" id="{B1BC2CC2-620A-2DD0-B49F-0BC271D382C9}"/>
                </a:ext>
              </a:extLst>
            </p:cNvPr>
            <p:cNvPicPr>
              <a:picLocks noChangeAspect="1"/>
            </p:cNvPicPr>
            <p:nvPr/>
          </p:nvPicPr>
          <p:blipFill>
            <a:blip r:embed="rId3"/>
            <a:stretch>
              <a:fillRect/>
            </a:stretch>
          </p:blipFill>
          <p:spPr>
            <a:xfrm>
              <a:off x="6504762" y="3751329"/>
              <a:ext cx="1691787" cy="2322777"/>
            </a:xfrm>
            <a:prstGeom prst="rect">
              <a:avLst/>
            </a:prstGeom>
          </p:spPr>
        </p:pic>
        <p:pic>
          <p:nvPicPr>
            <p:cNvPr id="21" name="Graphic 20" descr="Fire with solid fill">
              <a:extLst>
                <a:ext uri="{FF2B5EF4-FFF2-40B4-BE49-F238E27FC236}">
                  <a16:creationId xmlns:a16="http://schemas.microsoft.com/office/drawing/2014/main" id="{D244CBF5-EA1D-3EBE-C314-D5907FD143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42344" y="4798617"/>
              <a:ext cx="432755" cy="432755"/>
            </a:xfrm>
            <a:prstGeom prst="rect">
              <a:avLst/>
            </a:prstGeom>
          </p:spPr>
        </p:pic>
      </p:grpSp>
      <p:grpSp>
        <p:nvGrpSpPr>
          <p:cNvPr id="27" name="Group 26">
            <a:extLst>
              <a:ext uri="{FF2B5EF4-FFF2-40B4-BE49-F238E27FC236}">
                <a16:creationId xmlns:a16="http://schemas.microsoft.com/office/drawing/2014/main" id="{EB12EEA0-0AC6-A481-E2E7-D3E1C8096E8F}"/>
              </a:ext>
            </a:extLst>
          </p:cNvPr>
          <p:cNvGrpSpPr/>
          <p:nvPr/>
        </p:nvGrpSpPr>
        <p:grpSpPr>
          <a:xfrm>
            <a:off x="781561" y="2533014"/>
            <a:ext cx="762799" cy="1037017"/>
            <a:chOff x="100990" y="2514307"/>
            <a:chExt cx="1691787" cy="2322777"/>
          </a:xfrm>
        </p:grpSpPr>
        <p:pic>
          <p:nvPicPr>
            <p:cNvPr id="6" name="Picture 5">
              <a:extLst>
                <a:ext uri="{FF2B5EF4-FFF2-40B4-BE49-F238E27FC236}">
                  <a16:creationId xmlns:a16="http://schemas.microsoft.com/office/drawing/2014/main" id="{3E504A6C-368D-AF6A-4FD5-8D61D3DC97F9}"/>
                </a:ext>
              </a:extLst>
            </p:cNvPr>
            <p:cNvPicPr>
              <a:picLocks noChangeAspect="1"/>
            </p:cNvPicPr>
            <p:nvPr/>
          </p:nvPicPr>
          <p:blipFill>
            <a:blip r:embed="rId3"/>
            <a:stretch>
              <a:fillRect/>
            </a:stretch>
          </p:blipFill>
          <p:spPr>
            <a:xfrm>
              <a:off x="100990" y="2514307"/>
              <a:ext cx="1691787" cy="2322777"/>
            </a:xfrm>
            <a:prstGeom prst="rect">
              <a:avLst/>
            </a:prstGeom>
          </p:spPr>
        </p:pic>
        <p:pic>
          <p:nvPicPr>
            <p:cNvPr id="22" name="Graphic 21" descr="Fire with solid fill">
              <a:extLst>
                <a:ext uri="{FF2B5EF4-FFF2-40B4-BE49-F238E27FC236}">
                  <a16:creationId xmlns:a16="http://schemas.microsoft.com/office/drawing/2014/main" id="{1D2A0676-5002-68F3-CF64-C88BA706BA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9230" y="3561595"/>
              <a:ext cx="432755" cy="432755"/>
            </a:xfrm>
            <a:prstGeom prst="rect">
              <a:avLst/>
            </a:prstGeom>
          </p:spPr>
        </p:pic>
      </p:grpSp>
      <p:grpSp>
        <p:nvGrpSpPr>
          <p:cNvPr id="28" name="Group 27">
            <a:extLst>
              <a:ext uri="{FF2B5EF4-FFF2-40B4-BE49-F238E27FC236}">
                <a16:creationId xmlns:a16="http://schemas.microsoft.com/office/drawing/2014/main" id="{24B83FE9-0533-76D3-E474-F9EBDA52F55E}"/>
              </a:ext>
            </a:extLst>
          </p:cNvPr>
          <p:cNvGrpSpPr/>
          <p:nvPr/>
        </p:nvGrpSpPr>
        <p:grpSpPr>
          <a:xfrm>
            <a:off x="781561" y="3472484"/>
            <a:ext cx="762798" cy="1014251"/>
            <a:chOff x="9396898" y="3751329"/>
            <a:chExt cx="1691787" cy="2322777"/>
          </a:xfrm>
        </p:grpSpPr>
        <p:pic>
          <p:nvPicPr>
            <p:cNvPr id="7" name="Picture 6">
              <a:extLst>
                <a:ext uri="{FF2B5EF4-FFF2-40B4-BE49-F238E27FC236}">
                  <a16:creationId xmlns:a16="http://schemas.microsoft.com/office/drawing/2014/main" id="{09E4B78E-CC30-0DA5-1843-2D964B55BCF5}"/>
                </a:ext>
              </a:extLst>
            </p:cNvPr>
            <p:cNvPicPr>
              <a:picLocks noChangeAspect="1"/>
            </p:cNvPicPr>
            <p:nvPr/>
          </p:nvPicPr>
          <p:blipFill>
            <a:blip r:embed="rId3"/>
            <a:stretch>
              <a:fillRect/>
            </a:stretch>
          </p:blipFill>
          <p:spPr>
            <a:xfrm>
              <a:off x="9396898" y="3751329"/>
              <a:ext cx="1691787" cy="2322777"/>
            </a:xfrm>
            <a:prstGeom prst="rect">
              <a:avLst/>
            </a:prstGeom>
          </p:spPr>
        </p:pic>
        <p:pic>
          <p:nvPicPr>
            <p:cNvPr id="23" name="Graphic 22" descr="Ice cream with solid fill">
              <a:extLst>
                <a:ext uri="{FF2B5EF4-FFF2-40B4-BE49-F238E27FC236}">
                  <a16:creationId xmlns:a16="http://schemas.microsoft.com/office/drawing/2014/main" id="{FF86D3A7-25AC-0237-F0D9-AD3E3DDAC34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05138" y="4817160"/>
              <a:ext cx="414212" cy="414212"/>
            </a:xfrm>
            <a:prstGeom prst="rect">
              <a:avLst/>
            </a:prstGeom>
          </p:spPr>
        </p:pic>
      </p:grpSp>
      <p:grpSp>
        <p:nvGrpSpPr>
          <p:cNvPr id="29" name="Group 28">
            <a:extLst>
              <a:ext uri="{FF2B5EF4-FFF2-40B4-BE49-F238E27FC236}">
                <a16:creationId xmlns:a16="http://schemas.microsoft.com/office/drawing/2014/main" id="{DCC0D21C-3117-FFE9-D05C-100A8A2D4816}"/>
              </a:ext>
            </a:extLst>
          </p:cNvPr>
          <p:cNvGrpSpPr/>
          <p:nvPr/>
        </p:nvGrpSpPr>
        <p:grpSpPr>
          <a:xfrm>
            <a:off x="798418" y="4389187"/>
            <a:ext cx="729085" cy="997300"/>
            <a:chOff x="10842966" y="3751329"/>
            <a:chExt cx="1691787" cy="2322777"/>
          </a:xfrm>
        </p:grpSpPr>
        <p:pic>
          <p:nvPicPr>
            <p:cNvPr id="8" name="Picture 7">
              <a:extLst>
                <a:ext uri="{FF2B5EF4-FFF2-40B4-BE49-F238E27FC236}">
                  <a16:creationId xmlns:a16="http://schemas.microsoft.com/office/drawing/2014/main" id="{238CD6A4-747D-34AB-EC9C-B9BA03EB7207}"/>
                </a:ext>
              </a:extLst>
            </p:cNvPr>
            <p:cNvPicPr>
              <a:picLocks noChangeAspect="1"/>
            </p:cNvPicPr>
            <p:nvPr/>
          </p:nvPicPr>
          <p:blipFill>
            <a:blip r:embed="rId3"/>
            <a:stretch>
              <a:fillRect/>
            </a:stretch>
          </p:blipFill>
          <p:spPr>
            <a:xfrm>
              <a:off x="10842966" y="3751329"/>
              <a:ext cx="1691787" cy="2322777"/>
            </a:xfrm>
            <a:prstGeom prst="rect">
              <a:avLst/>
            </a:prstGeom>
          </p:spPr>
        </p:pic>
        <p:pic>
          <p:nvPicPr>
            <p:cNvPr id="24" name="Graphic 23" descr="Snowflake with solid fill">
              <a:extLst>
                <a:ext uri="{FF2B5EF4-FFF2-40B4-BE49-F238E27FC236}">
                  <a16:creationId xmlns:a16="http://schemas.microsoft.com/office/drawing/2014/main" id="{555DFDBF-E9B2-9913-A59E-4EF0DF0B7E0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251206" y="4837084"/>
              <a:ext cx="394288" cy="394288"/>
            </a:xfrm>
            <a:prstGeom prst="rect">
              <a:avLst/>
            </a:prstGeom>
          </p:spPr>
        </p:pic>
      </p:grpSp>
      <p:grpSp>
        <p:nvGrpSpPr>
          <p:cNvPr id="30" name="Group 29">
            <a:extLst>
              <a:ext uri="{FF2B5EF4-FFF2-40B4-BE49-F238E27FC236}">
                <a16:creationId xmlns:a16="http://schemas.microsoft.com/office/drawing/2014/main" id="{1CCC5B8E-47F3-8244-9707-A434643DD882}"/>
              </a:ext>
            </a:extLst>
          </p:cNvPr>
          <p:cNvGrpSpPr/>
          <p:nvPr/>
        </p:nvGrpSpPr>
        <p:grpSpPr>
          <a:xfrm>
            <a:off x="812051" y="5288939"/>
            <a:ext cx="701819" cy="997301"/>
            <a:chOff x="12289035" y="3751329"/>
            <a:chExt cx="1691787" cy="2322777"/>
          </a:xfrm>
        </p:grpSpPr>
        <p:pic>
          <p:nvPicPr>
            <p:cNvPr id="14" name="Picture 13">
              <a:extLst>
                <a:ext uri="{FF2B5EF4-FFF2-40B4-BE49-F238E27FC236}">
                  <a16:creationId xmlns:a16="http://schemas.microsoft.com/office/drawing/2014/main" id="{5AA79459-0ABF-AE23-8CC2-0B111A277FF2}"/>
                </a:ext>
              </a:extLst>
            </p:cNvPr>
            <p:cNvPicPr>
              <a:picLocks noChangeAspect="1"/>
            </p:cNvPicPr>
            <p:nvPr/>
          </p:nvPicPr>
          <p:blipFill>
            <a:blip r:embed="rId3"/>
            <a:stretch>
              <a:fillRect/>
            </a:stretch>
          </p:blipFill>
          <p:spPr>
            <a:xfrm>
              <a:off x="12289035" y="3751329"/>
              <a:ext cx="1691787" cy="2322777"/>
            </a:xfrm>
            <a:prstGeom prst="rect">
              <a:avLst/>
            </a:prstGeom>
          </p:spPr>
        </p:pic>
        <p:pic>
          <p:nvPicPr>
            <p:cNvPr id="25" name="Graphic 24" descr="Indoor Fireplace with solid fill">
              <a:extLst>
                <a:ext uri="{FF2B5EF4-FFF2-40B4-BE49-F238E27FC236}">
                  <a16:creationId xmlns:a16="http://schemas.microsoft.com/office/drawing/2014/main" id="{7CC573FF-2B3B-AACA-C023-46E61A33F87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760855" y="4891938"/>
              <a:ext cx="318653" cy="318653"/>
            </a:xfrm>
            <a:prstGeom prst="rect">
              <a:avLst/>
            </a:prstGeom>
          </p:spPr>
        </p:pic>
      </p:grpSp>
    </p:spTree>
    <p:extLst>
      <p:ext uri="{BB962C8B-B14F-4D97-AF65-F5344CB8AC3E}">
        <p14:creationId xmlns:p14="http://schemas.microsoft.com/office/powerpoint/2010/main" val="3828612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26FE26-59CB-B4F5-4897-A0166FEBC831}"/>
              </a:ext>
            </a:extLst>
          </p:cNvPr>
          <p:cNvSpPr>
            <a:spLocks noGrp="1"/>
          </p:cNvSpPr>
          <p:nvPr>
            <p:ph idx="1"/>
          </p:nvPr>
        </p:nvSpPr>
        <p:spPr/>
        <p:txBody>
          <a:bodyPr/>
          <a:lstStyle/>
          <a:p>
            <a:r>
              <a:rPr lang="en-US" dirty="0"/>
              <a:t>Allows you to use remote object stores like AWS S3</a:t>
            </a:r>
          </a:p>
          <a:p>
            <a:r>
              <a:rPr lang="en-US" dirty="0"/>
              <a:t>Most data resides on remote storage while the indexer maintains a local cache (hot buckets)</a:t>
            </a:r>
          </a:p>
          <a:p>
            <a:endParaRPr lang="en-US" dirty="0"/>
          </a:p>
        </p:txBody>
      </p:sp>
      <p:sp>
        <p:nvSpPr>
          <p:cNvPr id="3" name="Title 2">
            <a:extLst>
              <a:ext uri="{FF2B5EF4-FFF2-40B4-BE49-F238E27FC236}">
                <a16:creationId xmlns:a16="http://schemas.microsoft.com/office/drawing/2014/main" id="{520DA48B-90DC-54E9-C628-48C8BD598348}"/>
              </a:ext>
            </a:extLst>
          </p:cNvPr>
          <p:cNvSpPr>
            <a:spLocks noGrp="1"/>
          </p:cNvSpPr>
          <p:nvPr>
            <p:ph type="title"/>
          </p:nvPr>
        </p:nvSpPr>
        <p:spPr/>
        <p:txBody>
          <a:bodyPr/>
          <a:lstStyle/>
          <a:p>
            <a:r>
              <a:rPr lang="en-US" dirty="0" err="1"/>
              <a:t>SmartStore</a:t>
            </a:r>
            <a:endParaRPr lang="en-US" dirty="0"/>
          </a:p>
        </p:txBody>
      </p:sp>
      <p:pic>
        <p:nvPicPr>
          <p:cNvPr id="6" name="Picture Placeholder 5">
            <a:extLst>
              <a:ext uri="{FF2B5EF4-FFF2-40B4-BE49-F238E27FC236}">
                <a16:creationId xmlns:a16="http://schemas.microsoft.com/office/drawing/2014/main" id="{FC5136DB-FED6-1FDA-0E12-5FD18E265F09}"/>
              </a:ext>
            </a:extLst>
          </p:cNvPr>
          <p:cNvPicPr>
            <a:picLocks noGrp="1" noChangeAspect="1"/>
          </p:cNvPicPr>
          <p:nvPr>
            <p:ph type="pic" sz="quarter" idx="12"/>
          </p:nvPr>
        </p:nvPicPr>
        <p:blipFill>
          <a:blip r:embed="rId3"/>
          <a:srcRect t="514" b="514"/>
          <a:stretch>
            <a:fillRect/>
          </a:stretch>
        </p:blipFill>
        <p:spPr/>
      </p:pic>
    </p:spTree>
    <p:extLst>
      <p:ext uri="{BB962C8B-B14F-4D97-AF65-F5344CB8AC3E}">
        <p14:creationId xmlns:p14="http://schemas.microsoft.com/office/powerpoint/2010/main" val="248402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0732D-308F-2644-B43F-70DE10EECD90}"/>
              </a:ext>
            </a:extLst>
          </p:cNvPr>
          <p:cNvSpPr>
            <a:spLocks noGrp="1"/>
          </p:cNvSpPr>
          <p:nvPr>
            <p:ph type="ctrTitle"/>
          </p:nvPr>
        </p:nvSpPr>
        <p:spPr/>
        <p:txBody>
          <a:bodyPr/>
          <a:lstStyle/>
          <a:p>
            <a:r>
              <a:rPr lang="en-US" dirty="0"/>
              <a:t>Splunk Enterprise Licensing</a:t>
            </a:r>
          </a:p>
        </p:txBody>
      </p:sp>
    </p:spTree>
    <p:extLst>
      <p:ext uri="{BB962C8B-B14F-4D97-AF65-F5344CB8AC3E}">
        <p14:creationId xmlns:p14="http://schemas.microsoft.com/office/powerpoint/2010/main" val="3163653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3CCD-F64E-B630-3BBC-559B000A5C6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Stone Sans" pitchFamily="2" charset="0"/>
                <a:ea typeface="+mj-ea"/>
                <a:cs typeface="+mj-cs"/>
              </a:defRPr>
            </a:lvl1pPr>
          </a:lstStyle>
          <a:p>
            <a:r>
              <a:rPr lang="en-US" dirty="0">
                <a:latin typeface="Stone Sans" charset="0"/>
                <a:ea typeface="Stone Sans" charset="0"/>
                <a:cs typeface="Stone Sans" charset="0"/>
              </a:rPr>
              <a:t>Two Types of Enterprise Licensing</a:t>
            </a:r>
          </a:p>
        </p:txBody>
      </p:sp>
      <p:sp>
        <p:nvSpPr>
          <p:cNvPr id="3" name="Rectangle 2">
            <a:extLst>
              <a:ext uri="{FF2B5EF4-FFF2-40B4-BE49-F238E27FC236}">
                <a16:creationId xmlns:a16="http://schemas.microsoft.com/office/drawing/2014/main" id="{14CD2B60-6EAC-ABDA-6E04-5D752763AC62}"/>
              </a:ext>
            </a:extLst>
          </p:cNvPr>
          <p:cNvSpPr/>
          <p:nvPr/>
        </p:nvSpPr>
        <p:spPr>
          <a:xfrm>
            <a:off x="1452281" y="2462303"/>
            <a:ext cx="3765177" cy="25519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Oxygen" panose="02000503000000000000" pitchFamily="2" charset="0"/>
              </a:rPr>
              <a:t>Volume-based</a:t>
            </a:r>
          </a:p>
        </p:txBody>
      </p:sp>
      <p:sp>
        <p:nvSpPr>
          <p:cNvPr id="5" name="Rectangle 4">
            <a:extLst>
              <a:ext uri="{FF2B5EF4-FFF2-40B4-BE49-F238E27FC236}">
                <a16:creationId xmlns:a16="http://schemas.microsoft.com/office/drawing/2014/main" id="{B141AD4D-75E1-BEFF-7D15-0F7BCC84D86C}"/>
              </a:ext>
            </a:extLst>
          </p:cNvPr>
          <p:cNvSpPr/>
          <p:nvPr/>
        </p:nvSpPr>
        <p:spPr>
          <a:xfrm>
            <a:off x="6451598" y="2462302"/>
            <a:ext cx="3765177" cy="255195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4000" dirty="0">
                <a:latin typeface="Oxygen" panose="02000503000000000000" pitchFamily="2" charset="0"/>
              </a:rPr>
              <a:t>Infrastructure</a:t>
            </a:r>
          </a:p>
        </p:txBody>
      </p:sp>
    </p:spTree>
    <p:extLst>
      <p:ext uri="{BB962C8B-B14F-4D97-AF65-F5344CB8AC3E}">
        <p14:creationId xmlns:p14="http://schemas.microsoft.com/office/powerpoint/2010/main" val="277989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 calcmode="lin" valueType="num">
                                      <p:cBhvr>
                                        <p:cTn id="9" dur="300" fill="hold"/>
                                        <p:tgtEl>
                                          <p:spTgt spid="3"/>
                                        </p:tgtEl>
                                        <p:attrNameLst>
                                          <p:attrName>style.rotation</p:attrName>
                                        </p:attrNameLst>
                                      </p:cBhvr>
                                      <p:tavLst>
                                        <p:tav tm="0">
                                          <p:val>
                                            <p:fltVal val="90"/>
                                          </p:val>
                                        </p:tav>
                                        <p:tav tm="100000">
                                          <p:val>
                                            <p:fltVal val="0"/>
                                          </p:val>
                                        </p:tav>
                                      </p:tavLst>
                                    </p:anim>
                                    <p:animEffect transition="in" filter="fade">
                                      <p:cBhvr>
                                        <p:cTn id="10" dur="3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300" fill="hold"/>
                                        <p:tgtEl>
                                          <p:spTgt spid="5"/>
                                        </p:tgtEl>
                                        <p:attrNameLst>
                                          <p:attrName>ppt_w</p:attrName>
                                        </p:attrNameLst>
                                      </p:cBhvr>
                                      <p:tavLst>
                                        <p:tav tm="0">
                                          <p:val>
                                            <p:fltVal val="0"/>
                                          </p:val>
                                        </p:tav>
                                        <p:tav tm="100000">
                                          <p:val>
                                            <p:strVal val="#ppt_w"/>
                                          </p:val>
                                        </p:tav>
                                      </p:tavLst>
                                    </p:anim>
                                    <p:anim calcmode="lin" valueType="num">
                                      <p:cBhvr>
                                        <p:cTn id="16" dur="300" fill="hold"/>
                                        <p:tgtEl>
                                          <p:spTgt spid="5"/>
                                        </p:tgtEl>
                                        <p:attrNameLst>
                                          <p:attrName>ppt_h</p:attrName>
                                        </p:attrNameLst>
                                      </p:cBhvr>
                                      <p:tavLst>
                                        <p:tav tm="0">
                                          <p:val>
                                            <p:fltVal val="0"/>
                                          </p:val>
                                        </p:tav>
                                        <p:tav tm="100000">
                                          <p:val>
                                            <p:strVal val="#ppt_h"/>
                                          </p:val>
                                        </p:tav>
                                      </p:tavLst>
                                    </p:anim>
                                    <p:anim calcmode="lin" valueType="num">
                                      <p:cBhvr>
                                        <p:cTn id="17" dur="300" fill="hold"/>
                                        <p:tgtEl>
                                          <p:spTgt spid="5"/>
                                        </p:tgtEl>
                                        <p:attrNameLst>
                                          <p:attrName>style.rotation</p:attrName>
                                        </p:attrNameLst>
                                      </p:cBhvr>
                                      <p:tavLst>
                                        <p:tav tm="0">
                                          <p:val>
                                            <p:fltVal val="90"/>
                                          </p:val>
                                        </p:tav>
                                        <p:tav tm="100000">
                                          <p:val>
                                            <p:fltVal val="0"/>
                                          </p:val>
                                        </p:tav>
                                      </p:tavLst>
                                    </p:anim>
                                    <p:animEffect transition="in" filter="fade">
                                      <p:cBhvr>
                                        <p:cTn id="18"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latin typeface="Oxygen" charset="0"/>
              <a:ea typeface="Oxygen" charset="0"/>
              <a:cs typeface="Oxygen" charset="0"/>
            </a:endParaRPr>
          </a:p>
          <a:p>
            <a:pPr marL="0" indent="0">
              <a:buNone/>
            </a:pPr>
            <a:endParaRPr lang="en-US" dirty="0">
              <a:latin typeface="Oxygen" charset="0"/>
              <a:ea typeface="Oxygen" charset="0"/>
              <a:cs typeface="Oxygen" charset="0"/>
            </a:endParaRPr>
          </a:p>
        </p:txBody>
      </p:sp>
      <p:sp>
        <p:nvSpPr>
          <p:cNvPr id="6" name="Title 1"/>
          <p:cNvSpPr>
            <a:spLocks noGrp="1"/>
          </p:cNvSpPr>
          <p:nvPr>
            <p:ph type="title"/>
          </p:nvPr>
        </p:nvSpPr>
        <p:spPr/>
        <p:txBody>
          <a:bodyPr/>
          <a:lstStyle/>
          <a:p>
            <a:r>
              <a:rPr lang="en-US" dirty="0">
                <a:latin typeface="Stone Sans" charset="0"/>
                <a:ea typeface="Stone Sans" charset="0"/>
                <a:cs typeface="Stone Sans" charset="0"/>
              </a:rPr>
              <a:t>Volume-based Licensing</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890809" cy="369332"/>
          </a:xfrm>
          <a:prstGeom prst="rect">
            <a:avLst/>
          </a:prstGeom>
          <a:noFill/>
        </p:spPr>
        <p:txBody>
          <a:bodyPr wrap="none" rtlCol="0">
            <a:spAutoFit/>
          </a:bodyPr>
          <a:lstStyle/>
          <a:p>
            <a:r>
              <a:rPr lang="de-DE" dirty="0">
                <a:latin typeface="Oxygen" charset="0"/>
                <a:ea typeface="Oxygen" charset="0"/>
                <a:cs typeface="Oxygen" charset="0"/>
              </a:rPr>
              <a:t>© Adam Frisbee, adamfrisbee.com</a:t>
            </a:r>
            <a:endParaRPr lang="en-US" dirty="0">
              <a:latin typeface="Oxygen" charset="0"/>
              <a:ea typeface="Oxygen" charset="0"/>
              <a:cs typeface="Oxygen" charset="0"/>
            </a:endParaRPr>
          </a:p>
        </p:txBody>
      </p:sp>
      <p:cxnSp>
        <p:nvCxnSpPr>
          <p:cNvPr id="5" name="Straight Connector 4">
            <a:extLst>
              <a:ext uri="{FF2B5EF4-FFF2-40B4-BE49-F238E27FC236}">
                <a16:creationId xmlns:a16="http://schemas.microsoft.com/office/drawing/2014/main" id="{C0D1B864-EE56-1949-AB7B-533BA4759BB2}"/>
              </a:ext>
            </a:extLst>
          </p:cNvPr>
          <p:cNvCxnSpPr/>
          <p:nvPr/>
        </p:nvCxnSpPr>
        <p:spPr>
          <a:xfrm>
            <a:off x="3706586" y="2302328"/>
            <a:ext cx="0" cy="35922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109D043-B1C6-A045-9237-F375F3AB6881}"/>
              </a:ext>
            </a:extLst>
          </p:cNvPr>
          <p:cNvSpPr txBox="1"/>
          <p:nvPr/>
        </p:nvSpPr>
        <p:spPr>
          <a:xfrm>
            <a:off x="4301107" y="2377409"/>
            <a:ext cx="6707568"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Oxygen" panose="02000503000000000000" pitchFamily="2" charset="77"/>
              </a:rPr>
              <a:t>Based on data indexed per day, </a:t>
            </a:r>
            <a:r>
              <a:rPr lang="en-US" sz="2800" u="sng" dirty="0">
                <a:latin typeface="Oxygen" panose="02000503000000000000" pitchFamily="2" charset="77"/>
              </a:rPr>
              <a:t>not data stored</a:t>
            </a:r>
          </a:p>
          <a:p>
            <a:pPr marL="457200" indent="-457200">
              <a:buFont typeface="Arial" panose="020B0604020202020204" pitchFamily="34" charset="0"/>
              <a:buChar char="•"/>
            </a:pPr>
            <a:endParaRPr lang="en-US" sz="2800" dirty="0">
              <a:latin typeface="Oxygen" panose="02000503000000000000" pitchFamily="2" charset="77"/>
            </a:endParaRPr>
          </a:p>
          <a:p>
            <a:pPr marL="457200" indent="-457200">
              <a:buFont typeface="Arial" panose="020B0604020202020204" pitchFamily="34" charset="0"/>
              <a:buChar char="•"/>
            </a:pPr>
            <a:r>
              <a:rPr lang="en-US" sz="2800" dirty="0">
                <a:latin typeface="Oxygen" panose="02000503000000000000" pitchFamily="2" charset="77"/>
              </a:rPr>
              <a:t>Daily indexing volume is measured from midnight to midnight by the clock on the license manager</a:t>
            </a:r>
          </a:p>
          <a:p>
            <a:pPr marL="457200" indent="-457200">
              <a:buFont typeface="Arial" panose="020B0604020202020204" pitchFamily="34" charset="0"/>
              <a:buChar char="•"/>
            </a:pPr>
            <a:endParaRPr lang="en-US" sz="2800" dirty="0">
              <a:latin typeface="Oxygen" panose="02000503000000000000" pitchFamily="2" charset="77"/>
            </a:endParaRPr>
          </a:p>
          <a:p>
            <a:pPr marL="457200" indent="-457200">
              <a:buFont typeface="Arial" panose="020B0604020202020204" pitchFamily="34" charset="0"/>
              <a:buChar char="•"/>
            </a:pPr>
            <a:endParaRPr lang="en-US" sz="2800" dirty="0">
              <a:latin typeface="Oxygen" panose="02000503000000000000" pitchFamily="2" charset="77"/>
            </a:endParaRPr>
          </a:p>
        </p:txBody>
      </p:sp>
      <p:pic>
        <p:nvPicPr>
          <p:cNvPr id="4" name="Picture 3">
            <a:extLst>
              <a:ext uri="{FF2B5EF4-FFF2-40B4-BE49-F238E27FC236}">
                <a16:creationId xmlns:a16="http://schemas.microsoft.com/office/drawing/2014/main" id="{7527D5D2-099E-254B-86BB-82645657C330}"/>
              </a:ext>
            </a:extLst>
          </p:cNvPr>
          <p:cNvPicPr>
            <a:picLocks noChangeAspect="1"/>
          </p:cNvPicPr>
          <p:nvPr/>
        </p:nvPicPr>
        <p:blipFill>
          <a:blip r:embed="rId3">
            <a:duotone>
              <a:schemeClr val="accent1">
                <a:shade val="45000"/>
                <a:satMod val="135000"/>
              </a:schemeClr>
              <a:prstClr val="white"/>
            </a:duotone>
          </a:blip>
          <a:stretch>
            <a:fillRect/>
          </a:stretch>
        </p:blipFill>
        <p:spPr>
          <a:xfrm>
            <a:off x="838200" y="2622550"/>
            <a:ext cx="2273866" cy="2757487"/>
          </a:xfrm>
          <a:prstGeom prst="rect">
            <a:avLst/>
          </a:prstGeom>
        </p:spPr>
      </p:pic>
    </p:spTree>
    <p:extLst>
      <p:ext uri="{BB962C8B-B14F-4D97-AF65-F5344CB8AC3E}">
        <p14:creationId xmlns:p14="http://schemas.microsoft.com/office/powerpoint/2010/main" val="134966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latin typeface="Oxygen" charset="0"/>
              <a:ea typeface="Oxygen" charset="0"/>
              <a:cs typeface="Oxygen" charset="0"/>
            </a:endParaRPr>
          </a:p>
          <a:p>
            <a:pPr marL="0" indent="0">
              <a:buNone/>
            </a:pPr>
            <a:endParaRPr lang="en-US" dirty="0">
              <a:latin typeface="Oxygen" charset="0"/>
              <a:ea typeface="Oxygen" charset="0"/>
              <a:cs typeface="Oxygen" charset="0"/>
            </a:endParaRPr>
          </a:p>
        </p:txBody>
      </p:sp>
      <p:sp>
        <p:nvSpPr>
          <p:cNvPr id="6" name="Title 1"/>
          <p:cNvSpPr>
            <a:spLocks noGrp="1"/>
          </p:cNvSpPr>
          <p:nvPr>
            <p:ph type="title"/>
          </p:nvPr>
        </p:nvSpPr>
        <p:spPr/>
        <p:txBody>
          <a:bodyPr/>
          <a:lstStyle/>
          <a:p>
            <a:r>
              <a:rPr lang="en-US" dirty="0">
                <a:latin typeface="Stone Sans" charset="0"/>
                <a:ea typeface="Stone Sans" charset="0"/>
                <a:cs typeface="Stone Sans" charset="0"/>
              </a:rPr>
              <a:t>Infrastructure Licensing</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855543" cy="369332"/>
          </a:xfrm>
          <a:prstGeom prst="rect">
            <a:avLst/>
          </a:prstGeom>
          <a:noFill/>
        </p:spPr>
        <p:txBody>
          <a:bodyPr wrap="none" rtlCol="0">
            <a:spAutoFit/>
          </a:bodyPr>
          <a:lstStyle/>
          <a:p>
            <a:r>
              <a:rPr lang="de-DE" dirty="0">
                <a:latin typeface="Oxygen" charset="0"/>
                <a:ea typeface="Oxygen" charset="0"/>
                <a:cs typeface="Oxygen" charset="0"/>
              </a:rPr>
              <a:t>© Adam Frisbee, adamfrisbee.com</a:t>
            </a:r>
            <a:endParaRPr lang="en-US" dirty="0">
              <a:latin typeface="Oxygen" charset="0"/>
              <a:ea typeface="Oxygen" charset="0"/>
              <a:cs typeface="Oxygen" charset="0"/>
            </a:endParaRPr>
          </a:p>
        </p:txBody>
      </p:sp>
      <p:cxnSp>
        <p:nvCxnSpPr>
          <p:cNvPr id="5" name="Straight Connector 4">
            <a:extLst>
              <a:ext uri="{FF2B5EF4-FFF2-40B4-BE49-F238E27FC236}">
                <a16:creationId xmlns:a16="http://schemas.microsoft.com/office/drawing/2014/main" id="{C0D1B864-EE56-1949-AB7B-533BA4759BB2}"/>
              </a:ext>
            </a:extLst>
          </p:cNvPr>
          <p:cNvCxnSpPr/>
          <p:nvPr/>
        </p:nvCxnSpPr>
        <p:spPr>
          <a:xfrm>
            <a:off x="3706586" y="2302328"/>
            <a:ext cx="0" cy="35922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109D043-B1C6-A045-9237-F375F3AB6881}"/>
              </a:ext>
            </a:extLst>
          </p:cNvPr>
          <p:cNvSpPr txBox="1"/>
          <p:nvPr/>
        </p:nvSpPr>
        <p:spPr>
          <a:xfrm>
            <a:off x="4301107" y="2377409"/>
            <a:ext cx="6707568"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Oxygen" panose="02000503000000000000" pitchFamily="2" charset="77"/>
              </a:rPr>
              <a:t>Based on virtual CPUs (vCPU)</a:t>
            </a:r>
          </a:p>
          <a:p>
            <a:pPr marL="914400" lvl="1" indent="-457200">
              <a:buFont typeface="Arial" panose="020B0604020202020204" pitchFamily="34" charset="0"/>
              <a:buChar char="•"/>
            </a:pPr>
            <a:r>
              <a:rPr lang="en-US" sz="2800" dirty="0">
                <a:latin typeface="Oxygen" panose="02000503000000000000" pitchFamily="2" charset="77"/>
              </a:rPr>
              <a:t>Physical or logical core, virtual core, etc.</a:t>
            </a:r>
          </a:p>
          <a:p>
            <a:pPr marL="914400" lvl="1" indent="-457200">
              <a:buFont typeface="Arial" panose="020B0604020202020204" pitchFamily="34" charset="0"/>
              <a:buChar char="•"/>
            </a:pPr>
            <a:r>
              <a:rPr lang="en-US" sz="2800" dirty="0">
                <a:latin typeface="Oxygen" panose="02000503000000000000" pitchFamily="2" charset="77"/>
              </a:rPr>
              <a:t>Splunk uses the CPUs reported by the OS</a:t>
            </a:r>
          </a:p>
          <a:p>
            <a:pPr marL="457200" indent="-457200">
              <a:buFont typeface="Arial" panose="020B0604020202020204" pitchFamily="34" charset="0"/>
              <a:buChar char="•"/>
            </a:pPr>
            <a:endParaRPr lang="en-US" sz="2800" dirty="0">
              <a:latin typeface="Oxygen" panose="02000503000000000000" pitchFamily="2" charset="77"/>
            </a:endParaRPr>
          </a:p>
          <a:p>
            <a:pPr marL="457200" indent="-457200">
              <a:buFont typeface="Arial" panose="020B0604020202020204" pitchFamily="34" charset="0"/>
              <a:buChar char="•"/>
            </a:pPr>
            <a:r>
              <a:rPr lang="en-US" sz="2800" dirty="0">
                <a:latin typeface="Oxygen" panose="02000503000000000000" pitchFamily="2" charset="77"/>
              </a:rPr>
              <a:t>All search heads and indexers count towards vCPU capacity</a:t>
            </a:r>
          </a:p>
          <a:p>
            <a:pPr marL="457200" indent="-457200">
              <a:buFont typeface="Arial" panose="020B0604020202020204" pitchFamily="34" charset="0"/>
              <a:buChar char="•"/>
            </a:pPr>
            <a:endParaRPr lang="en-US" sz="2800" dirty="0">
              <a:latin typeface="Oxygen" panose="02000503000000000000" pitchFamily="2" charset="77"/>
            </a:endParaRPr>
          </a:p>
          <a:p>
            <a:pPr marL="457200" indent="-457200">
              <a:buFont typeface="Arial" panose="020B0604020202020204" pitchFamily="34" charset="0"/>
              <a:buChar char="•"/>
            </a:pPr>
            <a:endParaRPr lang="en-US" sz="2800" dirty="0">
              <a:latin typeface="Oxygen" panose="02000503000000000000" pitchFamily="2" charset="77"/>
            </a:endParaRPr>
          </a:p>
        </p:txBody>
      </p:sp>
      <p:pic>
        <p:nvPicPr>
          <p:cNvPr id="8" name="Picture 7">
            <a:extLst>
              <a:ext uri="{FF2B5EF4-FFF2-40B4-BE49-F238E27FC236}">
                <a16:creationId xmlns:a16="http://schemas.microsoft.com/office/drawing/2014/main" id="{37C94FA7-0CE6-5FA8-1269-0F1D73BD08FD}"/>
              </a:ext>
            </a:extLst>
          </p:cNvPr>
          <p:cNvPicPr>
            <a:picLocks noChangeAspect="1"/>
          </p:cNvPicPr>
          <p:nvPr/>
        </p:nvPicPr>
        <p:blipFill rotWithShape="1">
          <a:blip r:embed="rId3"/>
          <a:srcRect l="17078" t="12090" r="15783" b="12790"/>
          <a:stretch/>
        </p:blipFill>
        <p:spPr>
          <a:xfrm>
            <a:off x="956242" y="2701364"/>
            <a:ext cx="2302185" cy="2575859"/>
          </a:xfrm>
          <a:prstGeom prst="rect">
            <a:avLst/>
          </a:prstGeom>
        </p:spPr>
      </p:pic>
    </p:spTree>
    <p:extLst>
      <p:ext uri="{BB962C8B-B14F-4D97-AF65-F5344CB8AC3E}">
        <p14:creationId xmlns:p14="http://schemas.microsoft.com/office/powerpoint/2010/main" val="36442402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3197F3D-D549-F644-9E84-4B6A96E775BA}"/>
              </a:ext>
            </a:extLst>
          </p:cNvPr>
          <p:cNvSpPr/>
          <p:nvPr/>
        </p:nvSpPr>
        <p:spPr>
          <a:xfrm>
            <a:off x="847442" y="3172574"/>
            <a:ext cx="2762398" cy="1657439"/>
          </a:xfrm>
          <a:custGeom>
            <a:avLst/>
            <a:gdLst>
              <a:gd name="connsiteX0" fmla="*/ 0 w 2762398"/>
              <a:gd name="connsiteY0" fmla="*/ 165744 h 1657439"/>
              <a:gd name="connsiteX1" fmla="*/ 165744 w 2762398"/>
              <a:gd name="connsiteY1" fmla="*/ 0 h 1657439"/>
              <a:gd name="connsiteX2" fmla="*/ 2596654 w 2762398"/>
              <a:gd name="connsiteY2" fmla="*/ 0 h 1657439"/>
              <a:gd name="connsiteX3" fmla="*/ 2762398 w 2762398"/>
              <a:gd name="connsiteY3" fmla="*/ 165744 h 1657439"/>
              <a:gd name="connsiteX4" fmla="*/ 2762398 w 2762398"/>
              <a:gd name="connsiteY4" fmla="*/ 1491695 h 1657439"/>
              <a:gd name="connsiteX5" fmla="*/ 2596654 w 2762398"/>
              <a:gd name="connsiteY5" fmla="*/ 1657439 h 1657439"/>
              <a:gd name="connsiteX6" fmla="*/ 165744 w 2762398"/>
              <a:gd name="connsiteY6" fmla="*/ 1657439 h 1657439"/>
              <a:gd name="connsiteX7" fmla="*/ 0 w 2762398"/>
              <a:gd name="connsiteY7" fmla="*/ 1491695 h 1657439"/>
              <a:gd name="connsiteX8" fmla="*/ 0 w 2762398"/>
              <a:gd name="connsiteY8" fmla="*/ 165744 h 165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398" h="1657439">
                <a:moveTo>
                  <a:pt x="0" y="165744"/>
                </a:moveTo>
                <a:cubicBezTo>
                  <a:pt x="0" y="74206"/>
                  <a:pt x="74206" y="0"/>
                  <a:pt x="165744" y="0"/>
                </a:cubicBezTo>
                <a:lnTo>
                  <a:pt x="2596654" y="0"/>
                </a:lnTo>
                <a:cubicBezTo>
                  <a:pt x="2688192" y="0"/>
                  <a:pt x="2762398" y="74206"/>
                  <a:pt x="2762398" y="165744"/>
                </a:cubicBezTo>
                <a:lnTo>
                  <a:pt x="2762398" y="1491695"/>
                </a:lnTo>
                <a:cubicBezTo>
                  <a:pt x="2762398" y="1583233"/>
                  <a:pt x="2688192" y="1657439"/>
                  <a:pt x="2596654" y="1657439"/>
                </a:cubicBezTo>
                <a:lnTo>
                  <a:pt x="165744" y="1657439"/>
                </a:lnTo>
                <a:cubicBezTo>
                  <a:pt x="74206" y="1657439"/>
                  <a:pt x="0" y="1583233"/>
                  <a:pt x="0" y="1491695"/>
                </a:cubicBezTo>
                <a:lnTo>
                  <a:pt x="0" y="165744"/>
                </a:lnTo>
                <a:close/>
              </a:path>
            </a:pathLst>
          </a:custGeom>
          <a:solidFill>
            <a:schemeClr val="accent6"/>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81895" tIns="181895" rIns="181895" bIns="181895"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1"/>
                </a:solidFill>
                <a:latin typeface="Oxygen" panose="02000503000000000000" pitchFamily="2" charset="77"/>
              </a:rPr>
              <a:t>Warning</a:t>
            </a:r>
          </a:p>
        </p:txBody>
      </p:sp>
      <p:sp>
        <p:nvSpPr>
          <p:cNvPr id="5" name="Freeform 4">
            <a:extLst>
              <a:ext uri="{FF2B5EF4-FFF2-40B4-BE49-F238E27FC236}">
                <a16:creationId xmlns:a16="http://schemas.microsoft.com/office/drawing/2014/main" id="{5355DCAE-847F-8B43-9EE0-96171937BBB8}"/>
              </a:ext>
            </a:extLst>
          </p:cNvPr>
          <p:cNvSpPr/>
          <p:nvPr/>
        </p:nvSpPr>
        <p:spPr>
          <a:xfrm>
            <a:off x="3886080" y="3658756"/>
            <a:ext cx="585628" cy="685074"/>
          </a:xfrm>
          <a:custGeom>
            <a:avLst/>
            <a:gdLst>
              <a:gd name="connsiteX0" fmla="*/ 0 w 585628"/>
              <a:gd name="connsiteY0" fmla="*/ 137015 h 685074"/>
              <a:gd name="connsiteX1" fmla="*/ 292814 w 585628"/>
              <a:gd name="connsiteY1" fmla="*/ 137015 h 685074"/>
              <a:gd name="connsiteX2" fmla="*/ 292814 w 585628"/>
              <a:gd name="connsiteY2" fmla="*/ 0 h 685074"/>
              <a:gd name="connsiteX3" fmla="*/ 585628 w 585628"/>
              <a:gd name="connsiteY3" fmla="*/ 342537 h 685074"/>
              <a:gd name="connsiteX4" fmla="*/ 292814 w 585628"/>
              <a:gd name="connsiteY4" fmla="*/ 685074 h 685074"/>
              <a:gd name="connsiteX5" fmla="*/ 292814 w 585628"/>
              <a:gd name="connsiteY5" fmla="*/ 548059 h 685074"/>
              <a:gd name="connsiteX6" fmla="*/ 0 w 585628"/>
              <a:gd name="connsiteY6" fmla="*/ 548059 h 685074"/>
              <a:gd name="connsiteX7" fmla="*/ 0 w 585628"/>
              <a:gd name="connsiteY7" fmla="*/ 137015 h 68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628" h="685074">
                <a:moveTo>
                  <a:pt x="0" y="137015"/>
                </a:moveTo>
                <a:lnTo>
                  <a:pt x="292814" y="137015"/>
                </a:lnTo>
                <a:lnTo>
                  <a:pt x="292814" y="0"/>
                </a:lnTo>
                <a:lnTo>
                  <a:pt x="585628" y="342537"/>
                </a:lnTo>
                <a:lnTo>
                  <a:pt x="292814" y="685074"/>
                </a:lnTo>
                <a:lnTo>
                  <a:pt x="292814" y="548059"/>
                </a:lnTo>
                <a:lnTo>
                  <a:pt x="0" y="548059"/>
                </a:lnTo>
                <a:lnTo>
                  <a:pt x="0" y="137015"/>
                </a:lnTo>
                <a:close/>
              </a:path>
            </a:pathLst>
          </a:custGeom>
          <a:noFill/>
          <a:ln>
            <a:solidFill>
              <a:schemeClr val="accent2"/>
            </a:solidFill>
          </a:ln>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137015" rIns="175688" bIns="137015"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
        <p:nvSpPr>
          <p:cNvPr id="8" name="Freeform 7">
            <a:extLst>
              <a:ext uri="{FF2B5EF4-FFF2-40B4-BE49-F238E27FC236}">
                <a16:creationId xmlns:a16="http://schemas.microsoft.com/office/drawing/2014/main" id="{E30787A3-2476-8042-9A79-66A5F75ED47C}"/>
              </a:ext>
            </a:extLst>
          </p:cNvPr>
          <p:cNvSpPr/>
          <p:nvPr/>
        </p:nvSpPr>
        <p:spPr>
          <a:xfrm>
            <a:off x="4714800" y="3172574"/>
            <a:ext cx="2762398" cy="1657439"/>
          </a:xfrm>
          <a:custGeom>
            <a:avLst/>
            <a:gdLst>
              <a:gd name="connsiteX0" fmla="*/ 0 w 2762398"/>
              <a:gd name="connsiteY0" fmla="*/ 165744 h 1657439"/>
              <a:gd name="connsiteX1" fmla="*/ 165744 w 2762398"/>
              <a:gd name="connsiteY1" fmla="*/ 0 h 1657439"/>
              <a:gd name="connsiteX2" fmla="*/ 2596654 w 2762398"/>
              <a:gd name="connsiteY2" fmla="*/ 0 h 1657439"/>
              <a:gd name="connsiteX3" fmla="*/ 2762398 w 2762398"/>
              <a:gd name="connsiteY3" fmla="*/ 165744 h 1657439"/>
              <a:gd name="connsiteX4" fmla="*/ 2762398 w 2762398"/>
              <a:gd name="connsiteY4" fmla="*/ 1491695 h 1657439"/>
              <a:gd name="connsiteX5" fmla="*/ 2596654 w 2762398"/>
              <a:gd name="connsiteY5" fmla="*/ 1657439 h 1657439"/>
              <a:gd name="connsiteX6" fmla="*/ 165744 w 2762398"/>
              <a:gd name="connsiteY6" fmla="*/ 1657439 h 1657439"/>
              <a:gd name="connsiteX7" fmla="*/ 0 w 2762398"/>
              <a:gd name="connsiteY7" fmla="*/ 1491695 h 1657439"/>
              <a:gd name="connsiteX8" fmla="*/ 0 w 2762398"/>
              <a:gd name="connsiteY8" fmla="*/ 165744 h 165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398" h="1657439">
                <a:moveTo>
                  <a:pt x="0" y="165744"/>
                </a:moveTo>
                <a:cubicBezTo>
                  <a:pt x="0" y="74206"/>
                  <a:pt x="74206" y="0"/>
                  <a:pt x="165744" y="0"/>
                </a:cubicBezTo>
                <a:lnTo>
                  <a:pt x="2596654" y="0"/>
                </a:lnTo>
                <a:cubicBezTo>
                  <a:pt x="2688192" y="0"/>
                  <a:pt x="2762398" y="74206"/>
                  <a:pt x="2762398" y="165744"/>
                </a:cubicBezTo>
                <a:lnTo>
                  <a:pt x="2762398" y="1491695"/>
                </a:lnTo>
                <a:cubicBezTo>
                  <a:pt x="2762398" y="1583233"/>
                  <a:pt x="2688192" y="1657439"/>
                  <a:pt x="2596654" y="1657439"/>
                </a:cubicBezTo>
                <a:lnTo>
                  <a:pt x="165744" y="1657439"/>
                </a:lnTo>
                <a:cubicBezTo>
                  <a:pt x="74206" y="1657439"/>
                  <a:pt x="0" y="1583233"/>
                  <a:pt x="0" y="1491695"/>
                </a:cubicBezTo>
                <a:lnTo>
                  <a:pt x="0" y="165744"/>
                </a:lnTo>
                <a:close/>
              </a:path>
            </a:pathLst>
          </a:custGeom>
          <a:solidFill>
            <a:srgbClr val="C00000"/>
          </a:solidFill>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81895" tIns="181895" rIns="181895" bIns="181895" numCol="1" spcCol="1270" anchor="ctr" anchorCtr="0">
            <a:noAutofit/>
          </a:bodyPr>
          <a:lstStyle/>
          <a:p>
            <a:pPr marL="0" lvl="0" indent="0" algn="ctr" defTabSz="1555750">
              <a:lnSpc>
                <a:spcPct val="90000"/>
              </a:lnSpc>
              <a:spcBef>
                <a:spcPct val="0"/>
              </a:spcBef>
              <a:spcAft>
                <a:spcPct val="35000"/>
              </a:spcAft>
              <a:buNone/>
            </a:pPr>
            <a:r>
              <a:rPr lang="en-US" sz="3500" kern="1200" dirty="0">
                <a:latin typeface="Oxygen" panose="02000503000000000000" pitchFamily="2" charset="77"/>
              </a:rPr>
              <a:t>Violation</a:t>
            </a:r>
          </a:p>
        </p:txBody>
      </p:sp>
      <p:sp>
        <p:nvSpPr>
          <p:cNvPr id="9" name="Freeform 8">
            <a:extLst>
              <a:ext uri="{FF2B5EF4-FFF2-40B4-BE49-F238E27FC236}">
                <a16:creationId xmlns:a16="http://schemas.microsoft.com/office/drawing/2014/main" id="{D96807E6-E598-004C-A70B-66F0A7BFA214}"/>
              </a:ext>
            </a:extLst>
          </p:cNvPr>
          <p:cNvSpPr/>
          <p:nvPr/>
        </p:nvSpPr>
        <p:spPr>
          <a:xfrm rot="20395768">
            <a:off x="7753441" y="3316220"/>
            <a:ext cx="585628" cy="685074"/>
          </a:xfrm>
          <a:custGeom>
            <a:avLst/>
            <a:gdLst>
              <a:gd name="connsiteX0" fmla="*/ 0 w 585628"/>
              <a:gd name="connsiteY0" fmla="*/ 137015 h 685074"/>
              <a:gd name="connsiteX1" fmla="*/ 292814 w 585628"/>
              <a:gd name="connsiteY1" fmla="*/ 137015 h 685074"/>
              <a:gd name="connsiteX2" fmla="*/ 292814 w 585628"/>
              <a:gd name="connsiteY2" fmla="*/ 0 h 685074"/>
              <a:gd name="connsiteX3" fmla="*/ 585628 w 585628"/>
              <a:gd name="connsiteY3" fmla="*/ 342537 h 685074"/>
              <a:gd name="connsiteX4" fmla="*/ 292814 w 585628"/>
              <a:gd name="connsiteY4" fmla="*/ 685074 h 685074"/>
              <a:gd name="connsiteX5" fmla="*/ 292814 w 585628"/>
              <a:gd name="connsiteY5" fmla="*/ 548059 h 685074"/>
              <a:gd name="connsiteX6" fmla="*/ 0 w 585628"/>
              <a:gd name="connsiteY6" fmla="*/ 548059 h 685074"/>
              <a:gd name="connsiteX7" fmla="*/ 0 w 585628"/>
              <a:gd name="connsiteY7" fmla="*/ 137015 h 68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628" h="685074">
                <a:moveTo>
                  <a:pt x="0" y="137015"/>
                </a:moveTo>
                <a:lnTo>
                  <a:pt x="292814" y="137015"/>
                </a:lnTo>
                <a:lnTo>
                  <a:pt x="292814" y="0"/>
                </a:lnTo>
                <a:lnTo>
                  <a:pt x="585628" y="342537"/>
                </a:lnTo>
                <a:lnTo>
                  <a:pt x="292814" y="685074"/>
                </a:lnTo>
                <a:lnTo>
                  <a:pt x="292814" y="548059"/>
                </a:lnTo>
                <a:lnTo>
                  <a:pt x="0" y="548059"/>
                </a:lnTo>
                <a:lnTo>
                  <a:pt x="0" y="137015"/>
                </a:lnTo>
                <a:close/>
              </a:path>
            </a:pathLst>
          </a:custGeom>
          <a:solidFill>
            <a:schemeClr val="accent5"/>
          </a:solidFill>
        </p:spPr>
        <p:style>
          <a:lnRef idx="0">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0" tIns="137015" rIns="175688" bIns="137015"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
        <p:nvSpPr>
          <p:cNvPr id="10" name="Freeform 9">
            <a:extLst>
              <a:ext uri="{FF2B5EF4-FFF2-40B4-BE49-F238E27FC236}">
                <a16:creationId xmlns:a16="http://schemas.microsoft.com/office/drawing/2014/main" id="{7C4AD688-3E0F-9843-9FE3-31F124F7EC24}"/>
              </a:ext>
            </a:extLst>
          </p:cNvPr>
          <p:cNvSpPr/>
          <p:nvPr/>
        </p:nvSpPr>
        <p:spPr>
          <a:xfrm>
            <a:off x="8615308" y="2246221"/>
            <a:ext cx="2762398" cy="1657439"/>
          </a:xfrm>
          <a:custGeom>
            <a:avLst/>
            <a:gdLst>
              <a:gd name="connsiteX0" fmla="*/ 0 w 2762398"/>
              <a:gd name="connsiteY0" fmla="*/ 165744 h 1657439"/>
              <a:gd name="connsiteX1" fmla="*/ 165744 w 2762398"/>
              <a:gd name="connsiteY1" fmla="*/ 0 h 1657439"/>
              <a:gd name="connsiteX2" fmla="*/ 2596654 w 2762398"/>
              <a:gd name="connsiteY2" fmla="*/ 0 h 1657439"/>
              <a:gd name="connsiteX3" fmla="*/ 2762398 w 2762398"/>
              <a:gd name="connsiteY3" fmla="*/ 165744 h 1657439"/>
              <a:gd name="connsiteX4" fmla="*/ 2762398 w 2762398"/>
              <a:gd name="connsiteY4" fmla="*/ 1491695 h 1657439"/>
              <a:gd name="connsiteX5" fmla="*/ 2596654 w 2762398"/>
              <a:gd name="connsiteY5" fmla="*/ 1657439 h 1657439"/>
              <a:gd name="connsiteX6" fmla="*/ 165744 w 2762398"/>
              <a:gd name="connsiteY6" fmla="*/ 1657439 h 1657439"/>
              <a:gd name="connsiteX7" fmla="*/ 0 w 2762398"/>
              <a:gd name="connsiteY7" fmla="*/ 1491695 h 1657439"/>
              <a:gd name="connsiteX8" fmla="*/ 0 w 2762398"/>
              <a:gd name="connsiteY8" fmla="*/ 165744 h 165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398" h="1657439">
                <a:moveTo>
                  <a:pt x="0" y="165744"/>
                </a:moveTo>
                <a:cubicBezTo>
                  <a:pt x="0" y="74206"/>
                  <a:pt x="74206" y="0"/>
                  <a:pt x="165744" y="0"/>
                </a:cubicBezTo>
                <a:lnTo>
                  <a:pt x="2596654" y="0"/>
                </a:lnTo>
                <a:cubicBezTo>
                  <a:pt x="2688192" y="0"/>
                  <a:pt x="2762398" y="74206"/>
                  <a:pt x="2762398" y="165744"/>
                </a:cubicBezTo>
                <a:lnTo>
                  <a:pt x="2762398" y="1491695"/>
                </a:lnTo>
                <a:cubicBezTo>
                  <a:pt x="2762398" y="1583233"/>
                  <a:pt x="2688192" y="1657439"/>
                  <a:pt x="2596654" y="1657439"/>
                </a:cubicBezTo>
                <a:lnTo>
                  <a:pt x="165744" y="1657439"/>
                </a:lnTo>
                <a:cubicBezTo>
                  <a:pt x="74206" y="1657439"/>
                  <a:pt x="0" y="1583233"/>
                  <a:pt x="0" y="1491695"/>
                </a:cubicBezTo>
                <a:lnTo>
                  <a:pt x="0" y="165744"/>
                </a:lnTo>
                <a:close/>
              </a:path>
            </a:pathLst>
          </a:custGeom>
          <a:solidFill>
            <a:schemeClr val="accent5"/>
          </a:solidFill>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81895" tIns="181895" rIns="181895" bIns="181895" numCol="1" spcCol="1270" anchor="ctr" anchorCtr="0">
            <a:noAutofit/>
          </a:bodyPr>
          <a:lstStyle/>
          <a:p>
            <a:pPr marL="0" lvl="0" indent="0" algn="ctr" defTabSz="1555750">
              <a:lnSpc>
                <a:spcPct val="90000"/>
              </a:lnSpc>
              <a:spcBef>
                <a:spcPct val="0"/>
              </a:spcBef>
              <a:spcAft>
                <a:spcPct val="35000"/>
              </a:spcAft>
              <a:buNone/>
            </a:pPr>
            <a:r>
              <a:rPr lang="en-US" sz="2800" kern="1200" dirty="0">
                <a:latin typeface="Oxygen" panose="02000503000000000000" pitchFamily="2" charset="77"/>
              </a:rPr>
              <a:t>No penalty (+100GB/day)</a:t>
            </a:r>
          </a:p>
        </p:txBody>
      </p:sp>
      <p:sp>
        <p:nvSpPr>
          <p:cNvPr id="6" name="Title 1"/>
          <p:cNvSpPr>
            <a:spLocks noGrp="1"/>
          </p:cNvSpPr>
          <p:nvPr>
            <p:ph type="title"/>
          </p:nvPr>
        </p:nvSpPr>
        <p:spPr/>
        <p:txBody>
          <a:bodyPr/>
          <a:lstStyle/>
          <a:p>
            <a:r>
              <a:rPr lang="en-US" dirty="0">
                <a:latin typeface="Stone Sans" charset="0"/>
                <a:ea typeface="Stone Sans" charset="0"/>
                <a:cs typeface="Stone Sans" charset="0"/>
              </a:rPr>
              <a:t>Splunk Volume-based Licensing</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2" name="Freeform 9">
            <a:extLst>
              <a:ext uri="{FF2B5EF4-FFF2-40B4-BE49-F238E27FC236}">
                <a16:creationId xmlns:a16="http://schemas.microsoft.com/office/drawing/2014/main" id="{479D76E7-80EA-C763-C3A6-3B56BCA4F7CD}"/>
              </a:ext>
            </a:extLst>
          </p:cNvPr>
          <p:cNvSpPr/>
          <p:nvPr/>
        </p:nvSpPr>
        <p:spPr>
          <a:xfrm>
            <a:off x="8591402" y="4459193"/>
            <a:ext cx="2762398" cy="1657439"/>
          </a:xfrm>
          <a:custGeom>
            <a:avLst/>
            <a:gdLst>
              <a:gd name="connsiteX0" fmla="*/ 0 w 2762398"/>
              <a:gd name="connsiteY0" fmla="*/ 165744 h 1657439"/>
              <a:gd name="connsiteX1" fmla="*/ 165744 w 2762398"/>
              <a:gd name="connsiteY1" fmla="*/ 0 h 1657439"/>
              <a:gd name="connsiteX2" fmla="*/ 2596654 w 2762398"/>
              <a:gd name="connsiteY2" fmla="*/ 0 h 1657439"/>
              <a:gd name="connsiteX3" fmla="*/ 2762398 w 2762398"/>
              <a:gd name="connsiteY3" fmla="*/ 165744 h 1657439"/>
              <a:gd name="connsiteX4" fmla="*/ 2762398 w 2762398"/>
              <a:gd name="connsiteY4" fmla="*/ 1491695 h 1657439"/>
              <a:gd name="connsiteX5" fmla="*/ 2596654 w 2762398"/>
              <a:gd name="connsiteY5" fmla="*/ 1657439 h 1657439"/>
              <a:gd name="connsiteX6" fmla="*/ 165744 w 2762398"/>
              <a:gd name="connsiteY6" fmla="*/ 1657439 h 1657439"/>
              <a:gd name="connsiteX7" fmla="*/ 0 w 2762398"/>
              <a:gd name="connsiteY7" fmla="*/ 1491695 h 1657439"/>
              <a:gd name="connsiteX8" fmla="*/ 0 w 2762398"/>
              <a:gd name="connsiteY8" fmla="*/ 165744 h 165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2398" h="1657439">
                <a:moveTo>
                  <a:pt x="0" y="165744"/>
                </a:moveTo>
                <a:cubicBezTo>
                  <a:pt x="0" y="74206"/>
                  <a:pt x="74206" y="0"/>
                  <a:pt x="165744" y="0"/>
                </a:cubicBezTo>
                <a:lnTo>
                  <a:pt x="2596654" y="0"/>
                </a:lnTo>
                <a:cubicBezTo>
                  <a:pt x="2688192" y="0"/>
                  <a:pt x="2762398" y="74206"/>
                  <a:pt x="2762398" y="165744"/>
                </a:cubicBezTo>
                <a:lnTo>
                  <a:pt x="2762398" y="1491695"/>
                </a:lnTo>
                <a:cubicBezTo>
                  <a:pt x="2762398" y="1583233"/>
                  <a:pt x="2688192" y="1657439"/>
                  <a:pt x="2596654" y="1657439"/>
                </a:cubicBezTo>
                <a:lnTo>
                  <a:pt x="165744" y="1657439"/>
                </a:lnTo>
                <a:cubicBezTo>
                  <a:pt x="74206" y="1657439"/>
                  <a:pt x="0" y="1583233"/>
                  <a:pt x="0" y="1491695"/>
                </a:cubicBezTo>
                <a:lnTo>
                  <a:pt x="0" y="165744"/>
                </a:lnTo>
                <a:close/>
              </a:path>
            </a:pathLst>
          </a:custGeom>
          <a:solidFill>
            <a:srgbClr val="C00000"/>
          </a:solidFill>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81895" tIns="181895" rIns="181895" bIns="181895" numCol="1" spcCol="1270" anchor="ctr" anchorCtr="0">
            <a:noAutofit/>
          </a:bodyPr>
          <a:lstStyle/>
          <a:p>
            <a:pPr marL="0" lvl="0" indent="0" algn="ctr" defTabSz="1555750">
              <a:lnSpc>
                <a:spcPct val="90000"/>
              </a:lnSpc>
              <a:spcBef>
                <a:spcPct val="0"/>
              </a:spcBef>
              <a:spcAft>
                <a:spcPct val="35000"/>
              </a:spcAft>
              <a:buNone/>
            </a:pPr>
            <a:r>
              <a:rPr lang="en-US" sz="2800" kern="1200" dirty="0">
                <a:latin typeface="Oxygen" panose="02000503000000000000" pitchFamily="2" charset="77"/>
              </a:rPr>
              <a:t>Search disabled (&lt;100GB/day)</a:t>
            </a:r>
          </a:p>
        </p:txBody>
      </p:sp>
      <p:sp>
        <p:nvSpPr>
          <p:cNvPr id="4" name="Freeform 8">
            <a:extLst>
              <a:ext uri="{FF2B5EF4-FFF2-40B4-BE49-F238E27FC236}">
                <a16:creationId xmlns:a16="http://schemas.microsoft.com/office/drawing/2014/main" id="{784DB7B9-CC54-FC08-4197-913A7F60FDCE}"/>
              </a:ext>
            </a:extLst>
          </p:cNvPr>
          <p:cNvSpPr/>
          <p:nvPr/>
        </p:nvSpPr>
        <p:spPr>
          <a:xfrm rot="2185905">
            <a:off x="7707016" y="4187927"/>
            <a:ext cx="585628" cy="685074"/>
          </a:xfrm>
          <a:custGeom>
            <a:avLst/>
            <a:gdLst>
              <a:gd name="connsiteX0" fmla="*/ 0 w 585628"/>
              <a:gd name="connsiteY0" fmla="*/ 137015 h 685074"/>
              <a:gd name="connsiteX1" fmla="*/ 292814 w 585628"/>
              <a:gd name="connsiteY1" fmla="*/ 137015 h 685074"/>
              <a:gd name="connsiteX2" fmla="*/ 292814 w 585628"/>
              <a:gd name="connsiteY2" fmla="*/ 0 h 685074"/>
              <a:gd name="connsiteX3" fmla="*/ 585628 w 585628"/>
              <a:gd name="connsiteY3" fmla="*/ 342537 h 685074"/>
              <a:gd name="connsiteX4" fmla="*/ 292814 w 585628"/>
              <a:gd name="connsiteY4" fmla="*/ 685074 h 685074"/>
              <a:gd name="connsiteX5" fmla="*/ 292814 w 585628"/>
              <a:gd name="connsiteY5" fmla="*/ 548059 h 685074"/>
              <a:gd name="connsiteX6" fmla="*/ 0 w 585628"/>
              <a:gd name="connsiteY6" fmla="*/ 548059 h 685074"/>
              <a:gd name="connsiteX7" fmla="*/ 0 w 585628"/>
              <a:gd name="connsiteY7" fmla="*/ 137015 h 68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628" h="685074">
                <a:moveTo>
                  <a:pt x="0" y="137015"/>
                </a:moveTo>
                <a:lnTo>
                  <a:pt x="292814" y="137015"/>
                </a:lnTo>
                <a:lnTo>
                  <a:pt x="292814" y="0"/>
                </a:lnTo>
                <a:lnTo>
                  <a:pt x="585628" y="342537"/>
                </a:lnTo>
                <a:lnTo>
                  <a:pt x="292814" y="685074"/>
                </a:lnTo>
                <a:lnTo>
                  <a:pt x="292814" y="548059"/>
                </a:lnTo>
                <a:lnTo>
                  <a:pt x="0" y="548059"/>
                </a:lnTo>
                <a:lnTo>
                  <a:pt x="0" y="137015"/>
                </a:lnTo>
                <a:close/>
              </a:path>
            </a:pathLst>
          </a:custGeom>
          <a:solidFill>
            <a:schemeClr val="accent5"/>
          </a:solidFill>
        </p:spPr>
        <p:style>
          <a:lnRef idx="0">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0" tIns="137015" rIns="175688" bIns="137015" numCol="1" spcCol="1270" anchor="ctr" anchorCtr="0">
            <a:noAutofit/>
          </a:bodyPr>
          <a:lstStyle/>
          <a:p>
            <a:pPr marL="0" lvl="0" indent="0" algn="ctr" defTabSz="1244600">
              <a:lnSpc>
                <a:spcPct val="90000"/>
              </a:lnSpc>
              <a:spcBef>
                <a:spcPct val="0"/>
              </a:spcBef>
              <a:spcAft>
                <a:spcPct val="35000"/>
              </a:spcAft>
              <a:buNone/>
            </a:pPr>
            <a:endParaRPr lang="en-US" sz="2800" kern="1200"/>
          </a:p>
        </p:txBody>
      </p:sp>
    </p:spTree>
    <p:extLst>
      <p:ext uri="{BB962C8B-B14F-4D97-AF65-F5344CB8AC3E}">
        <p14:creationId xmlns:p14="http://schemas.microsoft.com/office/powerpoint/2010/main" val="2295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2" presetClass="entr" presetSubtype="8"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500"/>
                                        <p:tgtEl>
                                          <p:spTgt spid="5"/>
                                        </p:tgtEl>
                                        <p:attrNameLst>
                                          <p:attrName>ppt_x</p:attrName>
                                        </p:attrNameLst>
                                      </p:cBhvr>
                                      <p:tavLst>
                                        <p:tav tm="0">
                                          <p:val>
                                            <p:strVal val="#ppt_x-#ppt_w*1.125000"/>
                                          </p:val>
                                        </p:tav>
                                        <p:tav tm="100000">
                                          <p:val>
                                            <p:strVal val="#ppt_x"/>
                                          </p:val>
                                        </p:tav>
                                      </p:tavLst>
                                    </p:anim>
                                    <p:animEffect transition="in" filter="wipe(right)">
                                      <p:cBhvr>
                                        <p:cTn id="10" dur="500"/>
                                        <p:tgtEl>
                                          <p:spTgt spid="5"/>
                                        </p:tgtEl>
                                      </p:cBhvr>
                                    </p:animEffect>
                                  </p:childTnLst>
                                </p:cTn>
                              </p:par>
                              <p:par>
                                <p:cTn id="11" presetID="1" presetClass="entr" presetSubtype="0"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childTnLst>
                                </p:cTn>
                              </p:par>
                              <p:par>
                                <p:cTn id="13" presetID="12" presetClass="entr" presetSubtype="8"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p:tgtEl>
                                          <p:spTgt spid="9"/>
                                        </p:tgtEl>
                                        <p:attrNameLst>
                                          <p:attrName>ppt_x</p:attrName>
                                        </p:attrNameLst>
                                      </p:cBhvr>
                                      <p:tavLst>
                                        <p:tav tm="0">
                                          <p:val>
                                            <p:strVal val="#ppt_x-#ppt_w*1.125000"/>
                                          </p:val>
                                        </p:tav>
                                        <p:tav tm="100000">
                                          <p:val>
                                            <p:strVal val="#ppt_x"/>
                                          </p:val>
                                        </p:tav>
                                      </p:tavLst>
                                    </p:anim>
                                    <p:animEffect transition="in" filter="wipe(right)">
                                      <p:cBhvr>
                                        <p:cTn id="16" dur="500"/>
                                        <p:tgtEl>
                                          <p:spTgt spid="9"/>
                                        </p:tgtEl>
                                      </p:cBhvr>
                                    </p:animEffect>
                                  </p:childTnLst>
                                </p:cTn>
                              </p:par>
                              <p:par>
                                <p:cTn id="17" presetID="1" presetClass="entr" presetSubtype="0" fill="hold" grpId="0" nodeType="withEffect">
                                  <p:stCondLst>
                                    <p:cond delay="50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childTnLst>
                                </p:cTn>
                              </p:par>
                              <p:par>
                                <p:cTn id="21" presetID="12" presetClass="entr" presetSubtype="8" fill="hold" grpId="0" nodeType="withEffect">
                                  <p:stCondLst>
                                    <p:cond delay="50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p:tgtEl>
                                          <p:spTgt spid="4"/>
                                        </p:tgtEl>
                                        <p:attrNameLst>
                                          <p:attrName>ppt_x</p:attrName>
                                        </p:attrNameLst>
                                      </p:cBhvr>
                                      <p:tavLst>
                                        <p:tav tm="0">
                                          <p:val>
                                            <p:strVal val="#ppt_x-#ppt_w*1.125000"/>
                                          </p:val>
                                        </p:tav>
                                        <p:tav tm="100000">
                                          <p:val>
                                            <p:strVal val="#ppt_x"/>
                                          </p:val>
                                        </p:tav>
                                      </p:tavLst>
                                    </p:anim>
                                    <p:animEffect transition="in" filter="wipe(right)">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9" grpId="0" animBg="1"/>
      <p:bldP spid="10" grpId="0" animBg="1"/>
      <p:bldP spid="2" grpId="0" animBg="1"/>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latin typeface="Stone Sans" charset="0"/>
                <a:ea typeface="Stone Sans" charset="0"/>
                <a:cs typeface="Stone Sans" charset="0"/>
              </a:rPr>
              <a:t>Which components need a license?</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890809" cy="369332"/>
          </a:xfrm>
          <a:prstGeom prst="rect">
            <a:avLst/>
          </a:prstGeom>
          <a:noFill/>
        </p:spPr>
        <p:txBody>
          <a:bodyPr wrap="none" rtlCol="0">
            <a:spAutoFit/>
          </a:bodyPr>
          <a:lstStyle/>
          <a:p>
            <a:r>
              <a:rPr lang="de-DE">
                <a:latin typeface="Oxygen" charset="0"/>
                <a:ea typeface="Oxygen" charset="0"/>
                <a:cs typeface="Oxygen" charset="0"/>
              </a:rPr>
              <a:t>© Adam Frisbee, adamfrisbee.com</a:t>
            </a:r>
            <a:endParaRPr lang="en-US" dirty="0">
              <a:latin typeface="Oxygen" charset="0"/>
              <a:ea typeface="Oxygen" charset="0"/>
              <a:cs typeface="Oxygen" charset="0"/>
            </a:endParaRPr>
          </a:p>
        </p:txBody>
      </p:sp>
      <p:pic>
        <p:nvPicPr>
          <p:cNvPr id="8" name="Picture 7">
            <a:extLst>
              <a:ext uri="{FF2B5EF4-FFF2-40B4-BE49-F238E27FC236}">
                <a16:creationId xmlns:a16="http://schemas.microsoft.com/office/drawing/2014/main" id="{091F64B2-0A24-C7EB-3B66-C3276BD4DDCB}"/>
              </a:ext>
            </a:extLst>
          </p:cNvPr>
          <p:cNvPicPr>
            <a:picLocks noChangeAspect="1"/>
          </p:cNvPicPr>
          <p:nvPr/>
        </p:nvPicPr>
        <p:blipFill>
          <a:blip r:embed="rId3"/>
          <a:stretch>
            <a:fillRect/>
          </a:stretch>
        </p:blipFill>
        <p:spPr>
          <a:xfrm>
            <a:off x="1800540" y="3640911"/>
            <a:ext cx="2057578" cy="2508721"/>
          </a:xfrm>
          <a:prstGeom prst="rect">
            <a:avLst/>
          </a:prstGeom>
        </p:spPr>
      </p:pic>
      <p:pic>
        <p:nvPicPr>
          <p:cNvPr id="11" name="Picture 10">
            <a:extLst>
              <a:ext uri="{FF2B5EF4-FFF2-40B4-BE49-F238E27FC236}">
                <a16:creationId xmlns:a16="http://schemas.microsoft.com/office/drawing/2014/main" id="{27DDB61E-98DD-2861-9C8B-15960FB4A2BC}"/>
              </a:ext>
            </a:extLst>
          </p:cNvPr>
          <p:cNvPicPr>
            <a:picLocks noChangeAspect="1"/>
          </p:cNvPicPr>
          <p:nvPr/>
        </p:nvPicPr>
        <p:blipFill>
          <a:blip r:embed="rId4"/>
          <a:stretch>
            <a:fillRect/>
          </a:stretch>
        </p:blipFill>
        <p:spPr>
          <a:xfrm>
            <a:off x="7653702" y="3811613"/>
            <a:ext cx="1563760" cy="2338019"/>
          </a:xfrm>
          <a:prstGeom prst="rect">
            <a:avLst/>
          </a:prstGeom>
        </p:spPr>
      </p:pic>
      <p:pic>
        <p:nvPicPr>
          <p:cNvPr id="19" name="Picture 18">
            <a:extLst>
              <a:ext uri="{FF2B5EF4-FFF2-40B4-BE49-F238E27FC236}">
                <a16:creationId xmlns:a16="http://schemas.microsoft.com/office/drawing/2014/main" id="{39977D76-8791-6716-CD3D-469E8F840BCF}"/>
              </a:ext>
            </a:extLst>
          </p:cNvPr>
          <p:cNvPicPr>
            <a:picLocks noChangeAspect="1"/>
          </p:cNvPicPr>
          <p:nvPr/>
        </p:nvPicPr>
        <p:blipFill>
          <a:blip r:embed="rId5"/>
          <a:stretch>
            <a:fillRect/>
          </a:stretch>
        </p:blipFill>
        <p:spPr>
          <a:xfrm>
            <a:off x="4771685" y="3928062"/>
            <a:ext cx="1533277" cy="2045385"/>
          </a:xfrm>
          <a:prstGeom prst="rect">
            <a:avLst/>
          </a:prstGeom>
        </p:spPr>
      </p:pic>
      <p:grpSp>
        <p:nvGrpSpPr>
          <p:cNvPr id="20" name="Group 19">
            <a:extLst>
              <a:ext uri="{FF2B5EF4-FFF2-40B4-BE49-F238E27FC236}">
                <a16:creationId xmlns:a16="http://schemas.microsoft.com/office/drawing/2014/main" id="{94A213C9-36E2-2A21-79AB-E927ED2CF83A}"/>
              </a:ext>
            </a:extLst>
          </p:cNvPr>
          <p:cNvGrpSpPr/>
          <p:nvPr/>
        </p:nvGrpSpPr>
        <p:grpSpPr>
          <a:xfrm>
            <a:off x="4729009" y="1416171"/>
            <a:ext cx="1623195" cy="1793448"/>
            <a:chOff x="9860328" y="2481623"/>
            <a:chExt cx="1623195" cy="1793448"/>
          </a:xfrm>
        </p:grpSpPr>
        <p:pic>
          <p:nvPicPr>
            <p:cNvPr id="21" name="Picture 20">
              <a:extLst>
                <a:ext uri="{FF2B5EF4-FFF2-40B4-BE49-F238E27FC236}">
                  <a16:creationId xmlns:a16="http://schemas.microsoft.com/office/drawing/2014/main" id="{C0234993-A7F5-E970-8A76-1C48265B63FA}"/>
                </a:ext>
              </a:extLst>
            </p:cNvPr>
            <p:cNvPicPr>
              <a:picLocks noChangeAspect="1"/>
            </p:cNvPicPr>
            <p:nvPr/>
          </p:nvPicPr>
          <p:blipFill>
            <a:blip r:embed="rId6"/>
            <a:srcRect b="24595"/>
            <a:stretch/>
          </p:blipFill>
          <p:spPr>
            <a:xfrm>
              <a:off x="9860328" y="2481623"/>
              <a:ext cx="1575953" cy="1654948"/>
            </a:xfrm>
            <a:prstGeom prst="rect">
              <a:avLst/>
            </a:prstGeom>
          </p:spPr>
        </p:pic>
        <p:sp>
          <p:nvSpPr>
            <p:cNvPr id="22" name="TextBox 21">
              <a:extLst>
                <a:ext uri="{FF2B5EF4-FFF2-40B4-BE49-F238E27FC236}">
                  <a16:creationId xmlns:a16="http://schemas.microsoft.com/office/drawing/2014/main" id="{59003235-68D1-633E-EDD8-3D50220BD10D}"/>
                </a:ext>
              </a:extLst>
            </p:cNvPr>
            <p:cNvSpPr txBox="1"/>
            <p:nvPr/>
          </p:nvSpPr>
          <p:spPr>
            <a:xfrm>
              <a:off x="9907129" y="3967294"/>
              <a:ext cx="1576394" cy="307777"/>
            </a:xfrm>
            <a:prstGeom prst="rect">
              <a:avLst/>
            </a:prstGeom>
            <a:noFill/>
          </p:spPr>
          <p:txBody>
            <a:bodyPr wrap="none" rtlCol="0">
              <a:spAutoFit/>
            </a:bodyPr>
            <a:lstStyle/>
            <a:p>
              <a:pPr algn="ctr"/>
              <a:r>
                <a:rPr lang="en-US" sz="1400" dirty="0">
                  <a:latin typeface="Stone Sans"/>
                </a:rPr>
                <a:t>License Manager</a:t>
              </a:r>
            </a:p>
          </p:txBody>
        </p:sp>
      </p:grpSp>
      <p:cxnSp>
        <p:nvCxnSpPr>
          <p:cNvPr id="25" name="Straight Arrow Connector 24">
            <a:extLst>
              <a:ext uri="{FF2B5EF4-FFF2-40B4-BE49-F238E27FC236}">
                <a16:creationId xmlns:a16="http://schemas.microsoft.com/office/drawing/2014/main" id="{15EC67FE-CD99-9A80-4CB9-7B7D9A3E69F3}"/>
              </a:ext>
            </a:extLst>
          </p:cNvPr>
          <p:cNvCxnSpPr>
            <a:cxnSpLocks/>
            <a:endCxn id="22" idx="2"/>
          </p:cNvCxnSpPr>
          <p:nvPr/>
        </p:nvCxnSpPr>
        <p:spPr>
          <a:xfrm flipV="1">
            <a:off x="2783604" y="3209619"/>
            <a:ext cx="2780403" cy="757581"/>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E179F28-BDA4-430C-D36B-97D923E053B5}"/>
              </a:ext>
            </a:extLst>
          </p:cNvPr>
          <p:cNvCxnSpPr>
            <a:cxnSpLocks/>
            <a:endCxn id="22" idx="2"/>
          </p:cNvCxnSpPr>
          <p:nvPr/>
        </p:nvCxnSpPr>
        <p:spPr>
          <a:xfrm flipH="1" flipV="1">
            <a:off x="5564007" y="3209619"/>
            <a:ext cx="2871575" cy="817374"/>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06A5CE5-34BB-69A1-610E-FB4C2A9D1838}"/>
              </a:ext>
            </a:extLst>
          </p:cNvPr>
          <p:cNvCxnSpPr>
            <a:cxnSpLocks/>
          </p:cNvCxnSpPr>
          <p:nvPr/>
        </p:nvCxnSpPr>
        <p:spPr>
          <a:xfrm flipV="1">
            <a:off x="5564007" y="3209619"/>
            <a:ext cx="0" cy="875570"/>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389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300" fill="hold"/>
                                        <p:tgtEl>
                                          <p:spTgt spid="8"/>
                                        </p:tgtEl>
                                        <p:attrNameLst>
                                          <p:attrName>ppt_w</p:attrName>
                                        </p:attrNameLst>
                                      </p:cBhvr>
                                      <p:tavLst>
                                        <p:tav tm="0">
                                          <p:val>
                                            <p:fltVal val="0"/>
                                          </p:val>
                                        </p:tav>
                                        <p:tav tm="100000">
                                          <p:val>
                                            <p:strVal val="#ppt_w"/>
                                          </p:val>
                                        </p:tav>
                                      </p:tavLst>
                                    </p:anim>
                                    <p:anim calcmode="lin" valueType="num">
                                      <p:cBhvr>
                                        <p:cTn id="8" dur="300" fill="hold"/>
                                        <p:tgtEl>
                                          <p:spTgt spid="8"/>
                                        </p:tgtEl>
                                        <p:attrNameLst>
                                          <p:attrName>ppt_h</p:attrName>
                                        </p:attrNameLst>
                                      </p:cBhvr>
                                      <p:tavLst>
                                        <p:tav tm="0">
                                          <p:val>
                                            <p:fltVal val="0"/>
                                          </p:val>
                                        </p:tav>
                                        <p:tav tm="100000">
                                          <p:val>
                                            <p:strVal val="#ppt_h"/>
                                          </p:val>
                                        </p:tav>
                                      </p:tavLst>
                                    </p:anim>
                                    <p:anim calcmode="lin" valueType="num">
                                      <p:cBhvr>
                                        <p:cTn id="9" dur="300" fill="hold"/>
                                        <p:tgtEl>
                                          <p:spTgt spid="8"/>
                                        </p:tgtEl>
                                        <p:attrNameLst>
                                          <p:attrName>style.rotation</p:attrName>
                                        </p:attrNameLst>
                                      </p:cBhvr>
                                      <p:tavLst>
                                        <p:tav tm="0">
                                          <p:val>
                                            <p:fltVal val="90"/>
                                          </p:val>
                                        </p:tav>
                                        <p:tav tm="100000">
                                          <p:val>
                                            <p:fltVal val="0"/>
                                          </p:val>
                                        </p:tav>
                                      </p:tavLst>
                                    </p:anim>
                                    <p:animEffect transition="in" filter="fade">
                                      <p:cBhvr>
                                        <p:cTn id="10" dur="300"/>
                                        <p:tgtEl>
                                          <p:spTgt spid="8"/>
                                        </p:tgtEl>
                                      </p:cBhvr>
                                    </p:animEffect>
                                  </p:childTnLst>
                                </p:cTn>
                              </p:par>
                            </p:childTnLst>
                          </p:cTn>
                        </p:par>
                        <p:par>
                          <p:cTn id="11" fill="hold">
                            <p:stCondLst>
                              <p:cond delay="300"/>
                            </p:stCondLst>
                            <p:childTnLst>
                              <p:par>
                                <p:cTn id="12" presetID="31" presetClass="entr" presetSubtype="0" fill="hold" nodeType="after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300" fill="hold"/>
                                        <p:tgtEl>
                                          <p:spTgt spid="19"/>
                                        </p:tgtEl>
                                        <p:attrNameLst>
                                          <p:attrName>ppt_w</p:attrName>
                                        </p:attrNameLst>
                                      </p:cBhvr>
                                      <p:tavLst>
                                        <p:tav tm="0">
                                          <p:val>
                                            <p:fltVal val="0"/>
                                          </p:val>
                                        </p:tav>
                                        <p:tav tm="100000">
                                          <p:val>
                                            <p:strVal val="#ppt_w"/>
                                          </p:val>
                                        </p:tav>
                                      </p:tavLst>
                                    </p:anim>
                                    <p:anim calcmode="lin" valueType="num">
                                      <p:cBhvr>
                                        <p:cTn id="15" dur="300" fill="hold"/>
                                        <p:tgtEl>
                                          <p:spTgt spid="19"/>
                                        </p:tgtEl>
                                        <p:attrNameLst>
                                          <p:attrName>ppt_h</p:attrName>
                                        </p:attrNameLst>
                                      </p:cBhvr>
                                      <p:tavLst>
                                        <p:tav tm="0">
                                          <p:val>
                                            <p:fltVal val="0"/>
                                          </p:val>
                                        </p:tav>
                                        <p:tav tm="100000">
                                          <p:val>
                                            <p:strVal val="#ppt_h"/>
                                          </p:val>
                                        </p:tav>
                                      </p:tavLst>
                                    </p:anim>
                                    <p:anim calcmode="lin" valueType="num">
                                      <p:cBhvr>
                                        <p:cTn id="16" dur="300" fill="hold"/>
                                        <p:tgtEl>
                                          <p:spTgt spid="19"/>
                                        </p:tgtEl>
                                        <p:attrNameLst>
                                          <p:attrName>style.rotation</p:attrName>
                                        </p:attrNameLst>
                                      </p:cBhvr>
                                      <p:tavLst>
                                        <p:tav tm="0">
                                          <p:val>
                                            <p:fltVal val="90"/>
                                          </p:val>
                                        </p:tav>
                                        <p:tav tm="100000">
                                          <p:val>
                                            <p:fltVal val="0"/>
                                          </p:val>
                                        </p:tav>
                                      </p:tavLst>
                                    </p:anim>
                                    <p:animEffect transition="in" filter="fade">
                                      <p:cBhvr>
                                        <p:cTn id="17" dur="300"/>
                                        <p:tgtEl>
                                          <p:spTgt spid="19"/>
                                        </p:tgtEl>
                                      </p:cBhvr>
                                    </p:animEffect>
                                  </p:childTnLst>
                                </p:cTn>
                              </p:par>
                            </p:childTnLst>
                          </p:cTn>
                        </p:par>
                        <p:par>
                          <p:cTn id="18" fill="hold">
                            <p:stCondLst>
                              <p:cond delay="600"/>
                            </p:stCondLst>
                            <p:childTnLst>
                              <p:par>
                                <p:cTn id="19" presetID="31" presetClass="entr" presetSubtype="0"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 calcmode="lin" valueType="num">
                                      <p:cBhvr>
                                        <p:cTn id="23" dur="300" fill="hold"/>
                                        <p:tgtEl>
                                          <p:spTgt spid="11"/>
                                        </p:tgtEl>
                                        <p:attrNameLst>
                                          <p:attrName>style.rotation</p:attrName>
                                        </p:attrNameLst>
                                      </p:cBhvr>
                                      <p:tavLst>
                                        <p:tav tm="0">
                                          <p:val>
                                            <p:fltVal val="90"/>
                                          </p:val>
                                        </p:tav>
                                        <p:tav tm="100000">
                                          <p:val>
                                            <p:fltVal val="0"/>
                                          </p:val>
                                        </p:tav>
                                      </p:tavLst>
                                    </p:anim>
                                    <p:animEffect transition="in" filter="fade">
                                      <p:cBhvr>
                                        <p:cTn id="24" dur="300"/>
                                        <p:tgtEl>
                                          <p:spTgt spid="11"/>
                                        </p:tgtEl>
                                      </p:cBhvr>
                                    </p:animEffect>
                                  </p:childTnLst>
                                </p:cTn>
                              </p:par>
                            </p:childTnLst>
                          </p:cTn>
                        </p:par>
                        <p:par>
                          <p:cTn id="25" fill="hold">
                            <p:stCondLst>
                              <p:cond delay="900"/>
                            </p:stCondLst>
                            <p:childTnLst>
                              <p:par>
                                <p:cTn id="26" presetID="31" presetClass="entr" presetSubtype="0" fill="hold" nodeType="after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300" fill="hold"/>
                                        <p:tgtEl>
                                          <p:spTgt spid="20"/>
                                        </p:tgtEl>
                                        <p:attrNameLst>
                                          <p:attrName>ppt_w</p:attrName>
                                        </p:attrNameLst>
                                      </p:cBhvr>
                                      <p:tavLst>
                                        <p:tav tm="0">
                                          <p:val>
                                            <p:fltVal val="0"/>
                                          </p:val>
                                        </p:tav>
                                        <p:tav tm="100000">
                                          <p:val>
                                            <p:strVal val="#ppt_w"/>
                                          </p:val>
                                        </p:tav>
                                      </p:tavLst>
                                    </p:anim>
                                    <p:anim calcmode="lin" valueType="num">
                                      <p:cBhvr>
                                        <p:cTn id="29" dur="300" fill="hold"/>
                                        <p:tgtEl>
                                          <p:spTgt spid="20"/>
                                        </p:tgtEl>
                                        <p:attrNameLst>
                                          <p:attrName>ppt_h</p:attrName>
                                        </p:attrNameLst>
                                      </p:cBhvr>
                                      <p:tavLst>
                                        <p:tav tm="0">
                                          <p:val>
                                            <p:fltVal val="0"/>
                                          </p:val>
                                        </p:tav>
                                        <p:tav tm="100000">
                                          <p:val>
                                            <p:strVal val="#ppt_h"/>
                                          </p:val>
                                        </p:tav>
                                      </p:tavLst>
                                    </p:anim>
                                    <p:anim calcmode="lin" valueType="num">
                                      <p:cBhvr>
                                        <p:cTn id="30" dur="300" fill="hold"/>
                                        <p:tgtEl>
                                          <p:spTgt spid="20"/>
                                        </p:tgtEl>
                                        <p:attrNameLst>
                                          <p:attrName>style.rotation</p:attrName>
                                        </p:attrNameLst>
                                      </p:cBhvr>
                                      <p:tavLst>
                                        <p:tav tm="0">
                                          <p:val>
                                            <p:fltVal val="90"/>
                                          </p:val>
                                        </p:tav>
                                        <p:tav tm="100000">
                                          <p:val>
                                            <p:fltVal val="0"/>
                                          </p:val>
                                        </p:tav>
                                      </p:tavLst>
                                    </p:anim>
                                    <p:animEffect transition="in" filter="fade">
                                      <p:cBhvr>
                                        <p:cTn id="31" dur="300"/>
                                        <p:tgtEl>
                                          <p:spTgt spid="20"/>
                                        </p:tgtEl>
                                      </p:cBhvr>
                                    </p:animEffect>
                                  </p:childTnLst>
                                </p:cTn>
                              </p:par>
                            </p:childTnLst>
                          </p:cTn>
                        </p:par>
                        <p:par>
                          <p:cTn id="32" fill="hold">
                            <p:stCondLst>
                              <p:cond delay="1200"/>
                            </p:stCondLst>
                            <p:childTnLst>
                              <p:par>
                                <p:cTn id="33" presetID="22" presetClass="entr" presetSubtype="4"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down)">
                                      <p:cBhvr>
                                        <p:cTn id="35" dur="500"/>
                                        <p:tgtEl>
                                          <p:spTgt spid="25"/>
                                        </p:tgtEl>
                                      </p:cBhvr>
                                    </p:animEffect>
                                  </p:childTnLst>
                                </p:cTn>
                              </p:par>
                            </p:childTnLst>
                          </p:cTn>
                        </p:par>
                        <p:par>
                          <p:cTn id="36" fill="hold">
                            <p:stCondLst>
                              <p:cond delay="1700"/>
                            </p:stCondLst>
                            <p:childTnLst>
                              <p:par>
                                <p:cTn id="37" presetID="22" presetClass="entr" presetSubtype="4" fill="hold"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down)">
                                      <p:cBhvr>
                                        <p:cTn id="39" dur="500"/>
                                        <p:tgtEl>
                                          <p:spTgt spid="31"/>
                                        </p:tgtEl>
                                      </p:cBhvr>
                                    </p:animEffect>
                                  </p:childTnLst>
                                </p:cTn>
                              </p:par>
                            </p:childTnLst>
                          </p:cTn>
                        </p:par>
                        <p:par>
                          <p:cTn id="40" fill="hold">
                            <p:stCondLst>
                              <p:cond delay="2200"/>
                            </p:stCondLst>
                            <p:childTnLst>
                              <p:par>
                                <p:cTn id="41" presetID="22" presetClass="entr" presetSubtype="4" fill="hold"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down)">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a:latin typeface="Stone Sans" charset="0"/>
                <a:ea typeface="Stone Sans" charset="0"/>
                <a:cs typeface="Stone Sans" charset="0"/>
              </a:rPr>
              <a:t>License Pooling</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890809"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pic>
        <p:nvPicPr>
          <p:cNvPr id="1026" name="Picture 2" descr="https://documents.lucidchart.com/documents/659090c6-2b8a-4bc7-aeb0-074179aabeff/pages/TEKAa87j1NDc?a=2188&amp;x=70&amp;y=824&amp;w=215&amp;h=341&amp;store=1&amp;accept=image%2F*&amp;auth=LCA%206343c797d279dd6e2fbc2185182e44c29e68b8b8-ts%3D1563593294">
            <a:extLst>
              <a:ext uri="{FF2B5EF4-FFF2-40B4-BE49-F238E27FC236}">
                <a16:creationId xmlns:a16="http://schemas.microsoft.com/office/drawing/2014/main" id="{0320B0E1-54AE-BD47-8CF8-EDD2E62AF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2037" y="2003477"/>
            <a:ext cx="2044700" cy="32512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3F3B7FEA-3484-BA4F-B841-D53F441EF24F}"/>
              </a:ext>
            </a:extLst>
          </p:cNvPr>
          <p:cNvCxnSpPr/>
          <p:nvPr/>
        </p:nvCxnSpPr>
        <p:spPr>
          <a:xfrm>
            <a:off x="6415790" y="1918741"/>
            <a:ext cx="0" cy="3420672"/>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CBB39D5-BACC-6D44-B9E4-0F6D760011C9}"/>
              </a:ext>
            </a:extLst>
          </p:cNvPr>
          <p:cNvSpPr txBox="1"/>
          <p:nvPr/>
        </p:nvSpPr>
        <p:spPr>
          <a:xfrm>
            <a:off x="989352" y="2128603"/>
            <a:ext cx="4916774"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Oxygen" panose="02000503000000000000" pitchFamily="2" charset="77"/>
              </a:rPr>
              <a:t>License pools are created from license </a:t>
            </a:r>
            <a:r>
              <a:rPr lang="en-US" sz="2400" i="1" dirty="0">
                <a:latin typeface="Oxygen" panose="02000503000000000000" pitchFamily="2" charset="77"/>
              </a:rPr>
              <a:t>stacks</a:t>
            </a:r>
          </a:p>
          <a:p>
            <a:pPr marL="285750" indent="-285750">
              <a:buFont typeface="Arial" panose="020B0604020202020204" pitchFamily="34" charset="0"/>
              <a:buChar char="•"/>
            </a:pPr>
            <a:r>
              <a:rPr lang="en-US" sz="2400" dirty="0">
                <a:latin typeface="Oxygen" panose="02000503000000000000" pitchFamily="2" charset="77"/>
              </a:rPr>
              <a:t>Pools are sized for specific purposes</a:t>
            </a:r>
          </a:p>
          <a:p>
            <a:pPr marL="285750" indent="-285750">
              <a:buFont typeface="Arial" panose="020B0604020202020204" pitchFamily="34" charset="0"/>
              <a:buChar char="•"/>
            </a:pPr>
            <a:r>
              <a:rPr lang="en-US" sz="2400" dirty="0">
                <a:latin typeface="Oxygen" panose="02000503000000000000" pitchFamily="2" charset="77"/>
              </a:rPr>
              <a:t>Managed by the license manager</a:t>
            </a:r>
          </a:p>
          <a:p>
            <a:pPr marL="285750" indent="-285750">
              <a:buFont typeface="Arial" panose="020B0604020202020204" pitchFamily="34" charset="0"/>
              <a:buChar char="•"/>
            </a:pPr>
            <a:r>
              <a:rPr lang="en-US" sz="2400" dirty="0">
                <a:latin typeface="Oxygen" panose="02000503000000000000" pitchFamily="2" charset="77"/>
              </a:rPr>
              <a:t>Indexers and other Splunk Enterprise components are assigned to a pool</a:t>
            </a:r>
          </a:p>
        </p:txBody>
      </p:sp>
    </p:spTree>
    <p:extLst>
      <p:ext uri="{BB962C8B-B14F-4D97-AF65-F5344CB8AC3E}">
        <p14:creationId xmlns:p14="http://schemas.microsoft.com/office/powerpoint/2010/main" val="255811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dirty="0">
                <a:latin typeface="Stone Sans" charset="0"/>
                <a:ea typeface="Stone Sans" charset="0"/>
                <a:cs typeface="Stone Sans" charset="0"/>
              </a:rPr>
              <a:t>Splunk Licensing</a:t>
            </a:r>
            <a:endParaRPr lang="en-US" sz="6000" b="1" dirty="0">
              <a:solidFill>
                <a:schemeClr val="accent6">
                  <a:lumMod val="75000"/>
                </a:schemeClr>
              </a:solidFill>
              <a:latin typeface="Stone Sans" charset="0"/>
              <a:ea typeface="Stone Sans" charset="0"/>
              <a:cs typeface="Stone Sans" charset="0"/>
            </a:endParaRPr>
          </a:p>
        </p:txBody>
      </p:sp>
      <p:sp>
        <p:nvSpPr>
          <p:cNvPr id="7" name="TextBox 6"/>
          <p:cNvSpPr txBox="1"/>
          <p:nvPr/>
        </p:nvSpPr>
        <p:spPr>
          <a:xfrm>
            <a:off x="838200" y="6399768"/>
            <a:ext cx="3890809"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pic>
        <p:nvPicPr>
          <p:cNvPr id="2050" name="Picture 2" descr="https://documents.lucidchart.com/documents/659090c6-2b8a-4bc7-aeb0-074179aabeff/pages/TEKAa87j1NDc?a=2570&amp;x=160&amp;y=1214&amp;w=880&amp;h=572&amp;store=1&amp;accept=image%2F*&amp;auth=LCA%20a9b32001f77eb50fdaee3c02462a8666b4b0d528-ts%3D1563593294">
            <a:extLst>
              <a:ext uri="{FF2B5EF4-FFF2-40B4-BE49-F238E27FC236}">
                <a16:creationId xmlns:a16="http://schemas.microsoft.com/office/drawing/2014/main" id="{DE3C6E4C-3BB3-614C-B70B-987691FB62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1" t="6047" r="5052" b="2333"/>
          <a:stretch/>
        </p:blipFill>
        <p:spPr bwMode="auto">
          <a:xfrm>
            <a:off x="2325973" y="1414335"/>
            <a:ext cx="7237752" cy="479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50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dissolv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514B0-89B9-77FD-65D6-9D63A234989A}"/>
              </a:ext>
            </a:extLst>
          </p:cNvPr>
          <p:cNvSpPr>
            <a:spLocks noGrp="1"/>
          </p:cNvSpPr>
          <p:nvPr>
            <p:ph type="ctrTitle"/>
          </p:nvPr>
        </p:nvSpPr>
        <p:spPr/>
        <p:txBody>
          <a:bodyPr/>
          <a:lstStyle/>
          <a:p>
            <a:r>
              <a:rPr lang="en-US" dirty="0"/>
              <a:t>Configuration Files and Apps</a:t>
            </a:r>
          </a:p>
        </p:txBody>
      </p:sp>
    </p:spTree>
    <p:extLst>
      <p:ext uri="{BB962C8B-B14F-4D97-AF65-F5344CB8AC3E}">
        <p14:creationId xmlns:p14="http://schemas.microsoft.com/office/powerpoint/2010/main" val="99449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C97A-1591-5A43-BB9D-9780B71EAB60}"/>
              </a:ext>
            </a:extLst>
          </p:cNvPr>
          <p:cNvSpPr>
            <a:spLocks noGrp="1"/>
          </p:cNvSpPr>
          <p:nvPr>
            <p:ph type="title"/>
          </p:nvPr>
        </p:nvSpPr>
        <p:spPr/>
        <p:txBody>
          <a:bodyPr/>
          <a:lstStyle/>
          <a:p>
            <a:r>
              <a:rPr lang="en-US" dirty="0"/>
              <a:t>A Note on Configuration Files</a:t>
            </a:r>
          </a:p>
        </p:txBody>
      </p:sp>
      <p:sp>
        <p:nvSpPr>
          <p:cNvPr id="3" name="Content Placeholder 2">
            <a:extLst>
              <a:ext uri="{FF2B5EF4-FFF2-40B4-BE49-F238E27FC236}">
                <a16:creationId xmlns:a16="http://schemas.microsoft.com/office/drawing/2014/main" id="{CEC0E818-B4F2-FB44-A206-3613761292E6}"/>
              </a:ext>
            </a:extLst>
          </p:cNvPr>
          <p:cNvSpPr>
            <a:spLocks noGrp="1"/>
          </p:cNvSpPr>
          <p:nvPr>
            <p:ph idx="1"/>
          </p:nvPr>
        </p:nvSpPr>
        <p:spPr/>
        <p:txBody>
          <a:bodyPr>
            <a:normAutofit lnSpcReduction="10000"/>
          </a:bodyPr>
          <a:lstStyle/>
          <a:p>
            <a:r>
              <a:rPr lang="en-US" dirty="0"/>
              <a:t>Everything Splunk does is governed by configuration files</a:t>
            </a:r>
          </a:p>
          <a:p>
            <a:r>
              <a:rPr lang="en-US" dirty="0"/>
              <a:t>Configuration files are stored in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etc</a:t>
            </a:r>
            <a:r>
              <a:rPr lang="en-US" dirty="0"/>
              <a:t>, and they have the </a:t>
            </a:r>
            <a:r>
              <a:rPr lang="en-US" dirty="0">
                <a:latin typeface="Courier New" panose="02070309020205020404" pitchFamily="49" charset="0"/>
                <a:cs typeface="Courier New" panose="02070309020205020404" pitchFamily="49" charset="0"/>
              </a:rPr>
              <a:t>.conf </a:t>
            </a:r>
            <a:r>
              <a:rPr lang="en-US" dirty="0"/>
              <a:t>extension</a:t>
            </a:r>
          </a:p>
          <a:p>
            <a:r>
              <a:rPr lang="en-US" dirty="0"/>
              <a:t>Configuration files are layered</a:t>
            </a:r>
          </a:p>
          <a:p>
            <a:pPr lvl="1"/>
            <a:r>
              <a:rPr lang="en-US" dirty="0"/>
              <a:t>You can have </a:t>
            </a:r>
            <a:r>
              <a:rPr lang="en-US" dirty="0">
                <a:latin typeface="Courier New" panose="02070309020205020404" pitchFamily="49" charset="0"/>
                <a:cs typeface="Courier New" panose="02070309020205020404" pitchFamily="49" charset="0"/>
              </a:rPr>
              <a:t>.conf </a:t>
            </a:r>
            <a:r>
              <a:rPr lang="en-US" dirty="0"/>
              <a:t>files that have the same name in different directories</a:t>
            </a:r>
          </a:p>
          <a:p>
            <a:pPr lvl="1"/>
            <a:r>
              <a:rPr lang="en-US" dirty="0"/>
              <a:t>Splunk determines which one to use based on the current app</a:t>
            </a:r>
          </a:p>
          <a:p>
            <a:r>
              <a:rPr lang="en-US" dirty="0"/>
              <a:t>The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/&lt;app&gt;/default </a:t>
            </a:r>
            <a:r>
              <a:rPr lang="en-US" dirty="0"/>
              <a:t>directory contains preconfigured versions of .conf files</a:t>
            </a:r>
          </a:p>
          <a:p>
            <a:r>
              <a:rPr lang="en-US" dirty="0"/>
              <a:t>The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etc</a:t>
            </a:r>
            <a:r>
              <a:rPr lang="en-US" dirty="0">
                <a:latin typeface="Courier New" panose="02070309020205020404" pitchFamily="49" charset="0"/>
                <a:cs typeface="Courier New" panose="02070309020205020404" pitchFamily="49" charset="0"/>
              </a:rPr>
              <a:t>/&lt;app&gt;/local </a:t>
            </a:r>
            <a:r>
              <a:rPr lang="en-US" dirty="0"/>
              <a:t>directory is where custom configurations are stored</a:t>
            </a:r>
          </a:p>
        </p:txBody>
      </p:sp>
    </p:spTree>
    <p:extLst>
      <p:ext uri="{BB962C8B-B14F-4D97-AF65-F5344CB8AC3E}">
        <p14:creationId xmlns:p14="http://schemas.microsoft.com/office/powerpoint/2010/main" val="1129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EB15-0732-954B-9784-2700F6ADE840}"/>
              </a:ext>
            </a:extLst>
          </p:cNvPr>
          <p:cNvSpPr>
            <a:spLocks noGrp="1"/>
          </p:cNvSpPr>
          <p:nvPr>
            <p:ph type="title"/>
          </p:nvPr>
        </p:nvSpPr>
        <p:spPr/>
        <p:txBody>
          <a:bodyPr/>
          <a:lstStyle/>
          <a:p>
            <a:r>
              <a:rPr lang="en-US" dirty="0"/>
              <a:t>Configuration File Structure</a:t>
            </a:r>
          </a:p>
        </p:txBody>
      </p:sp>
      <p:sp>
        <p:nvSpPr>
          <p:cNvPr id="4" name="TextBox 3">
            <a:extLst>
              <a:ext uri="{FF2B5EF4-FFF2-40B4-BE49-F238E27FC236}">
                <a16:creationId xmlns:a16="http://schemas.microsoft.com/office/drawing/2014/main" id="{98248AA5-36D0-0346-93B3-C9FAFEC9E29E}"/>
              </a:ext>
            </a:extLst>
          </p:cNvPr>
          <p:cNvSpPr txBox="1"/>
          <p:nvPr/>
        </p:nvSpPr>
        <p:spPr>
          <a:xfrm>
            <a:off x="2000250" y="2266950"/>
            <a:ext cx="5934638" cy="3477875"/>
          </a:xfrm>
          <a:prstGeom prst="rect">
            <a:avLst/>
          </a:prstGeom>
          <a:noFill/>
        </p:spPr>
        <p:txBody>
          <a:bodyPr wrap="none" rtlCol="0">
            <a:spAutoFit/>
          </a:bodyPr>
          <a:lstStyle/>
          <a:p>
            <a:r>
              <a:rPr lang="en-US" sz="4400" dirty="0">
                <a:latin typeface="Courier New" panose="02070309020205020404" pitchFamily="49" charset="0"/>
                <a:cs typeface="Courier New" panose="02070309020205020404" pitchFamily="49" charset="0"/>
              </a:rPr>
              <a:t>[Stanza]</a:t>
            </a:r>
          </a:p>
          <a:p>
            <a:r>
              <a:rPr lang="en-US" sz="4400" dirty="0">
                <a:latin typeface="Courier New" panose="02070309020205020404" pitchFamily="49" charset="0"/>
                <a:cs typeface="Courier New" panose="02070309020205020404" pitchFamily="49" charset="0"/>
              </a:rPr>
              <a:t>Attribute = Value</a:t>
            </a:r>
          </a:p>
          <a:p>
            <a:endParaRPr lang="en-US" sz="4400" dirty="0">
              <a:latin typeface="Courier New" panose="02070309020205020404" pitchFamily="49" charset="0"/>
              <a:cs typeface="Courier New" panose="02070309020205020404" pitchFamily="49" charset="0"/>
            </a:endParaRPr>
          </a:p>
          <a:p>
            <a:r>
              <a:rPr lang="en-US" sz="4400" dirty="0">
                <a:latin typeface="Courier New" panose="02070309020205020404" pitchFamily="49" charset="0"/>
                <a:cs typeface="Courier New" panose="02070309020205020404" pitchFamily="49" charset="0"/>
              </a:rPr>
              <a:t>[Stanza]</a:t>
            </a:r>
          </a:p>
          <a:p>
            <a:r>
              <a:rPr lang="en-US" sz="4400" dirty="0">
                <a:latin typeface="Courier New" panose="02070309020205020404" pitchFamily="49" charset="0"/>
                <a:cs typeface="Courier New" panose="02070309020205020404" pitchFamily="49" charset="0"/>
              </a:rPr>
              <a:t>Attribute = Value</a:t>
            </a:r>
          </a:p>
        </p:txBody>
      </p:sp>
      <p:sp>
        <p:nvSpPr>
          <p:cNvPr id="5" name="Folded Corner 4">
            <a:extLst>
              <a:ext uri="{FF2B5EF4-FFF2-40B4-BE49-F238E27FC236}">
                <a16:creationId xmlns:a16="http://schemas.microsoft.com/office/drawing/2014/main" id="{66867F0E-20DF-724C-8250-74DA43D3596F}"/>
              </a:ext>
            </a:extLst>
          </p:cNvPr>
          <p:cNvSpPr/>
          <p:nvPr/>
        </p:nvSpPr>
        <p:spPr>
          <a:xfrm>
            <a:off x="1676400" y="1866900"/>
            <a:ext cx="8686800" cy="4229100"/>
          </a:xfrm>
          <a:prstGeom prst="foldedCorner">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9446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Splunk Apps</a:t>
            </a:r>
          </a:p>
        </p:txBody>
      </p:sp>
      <p:sp>
        <p:nvSpPr>
          <p:cNvPr id="3" name="Content Placeholder 2"/>
          <p:cNvSpPr>
            <a:spLocks noGrp="1"/>
          </p:cNvSpPr>
          <p:nvPr>
            <p:ph idx="1"/>
          </p:nvPr>
        </p:nvSpPr>
        <p:spPr/>
        <p:txBody>
          <a:bodyPr/>
          <a:lstStyle/>
          <a:p>
            <a:endParaRPr lang="en-US" dirty="0">
              <a:latin typeface="Oxygen" panose="02000503000000000000" pitchFamily="2" charset="77"/>
            </a:endParaRPr>
          </a:p>
          <a:p>
            <a:pPr lvl="1"/>
            <a:endParaRPr lang="en-US" dirty="0">
              <a:latin typeface="Oxygen" panose="02000503000000000000" pitchFamily="2" charset="77"/>
            </a:endParaRPr>
          </a:p>
          <a:p>
            <a:endParaRPr lang="en-US" dirty="0">
              <a:latin typeface="Oxygen" panose="02000503000000000000" pitchFamily="2" charset="77"/>
            </a:endParaRPr>
          </a:p>
        </p:txBody>
      </p:sp>
      <p:sp>
        <p:nvSpPr>
          <p:cNvPr id="4" name="TextBox 3"/>
          <p:cNvSpPr txBox="1"/>
          <p:nvPr/>
        </p:nvSpPr>
        <p:spPr>
          <a:xfrm>
            <a:off x="838200" y="6399768"/>
            <a:ext cx="3890809"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7" name="Freeform 6">
            <a:extLst>
              <a:ext uri="{FF2B5EF4-FFF2-40B4-BE49-F238E27FC236}">
                <a16:creationId xmlns:a16="http://schemas.microsoft.com/office/drawing/2014/main" id="{AF94D0AE-884C-3A40-863C-BD8A380708BF}"/>
              </a:ext>
            </a:extLst>
          </p:cNvPr>
          <p:cNvSpPr/>
          <p:nvPr/>
        </p:nvSpPr>
        <p:spPr>
          <a:xfrm>
            <a:off x="839532" y="2240634"/>
            <a:ext cx="5194845" cy="596631"/>
          </a:xfrm>
          <a:custGeom>
            <a:avLst/>
            <a:gdLst>
              <a:gd name="connsiteX0" fmla="*/ 0 w 5194845"/>
              <a:gd name="connsiteY0" fmla="*/ 59663 h 596631"/>
              <a:gd name="connsiteX1" fmla="*/ 59663 w 5194845"/>
              <a:gd name="connsiteY1" fmla="*/ 0 h 596631"/>
              <a:gd name="connsiteX2" fmla="*/ 5135182 w 5194845"/>
              <a:gd name="connsiteY2" fmla="*/ 0 h 596631"/>
              <a:gd name="connsiteX3" fmla="*/ 5194845 w 5194845"/>
              <a:gd name="connsiteY3" fmla="*/ 59663 h 596631"/>
              <a:gd name="connsiteX4" fmla="*/ 5194845 w 5194845"/>
              <a:gd name="connsiteY4" fmla="*/ 536968 h 596631"/>
              <a:gd name="connsiteX5" fmla="*/ 5135182 w 5194845"/>
              <a:gd name="connsiteY5" fmla="*/ 596631 h 596631"/>
              <a:gd name="connsiteX6" fmla="*/ 59663 w 5194845"/>
              <a:gd name="connsiteY6" fmla="*/ 596631 h 596631"/>
              <a:gd name="connsiteX7" fmla="*/ 0 w 5194845"/>
              <a:gd name="connsiteY7" fmla="*/ 536968 h 596631"/>
              <a:gd name="connsiteX8" fmla="*/ 0 w 5194845"/>
              <a:gd name="connsiteY8" fmla="*/ 59663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4845" h="596631">
                <a:moveTo>
                  <a:pt x="0" y="59663"/>
                </a:moveTo>
                <a:cubicBezTo>
                  <a:pt x="0" y="26712"/>
                  <a:pt x="26712" y="0"/>
                  <a:pt x="59663" y="0"/>
                </a:cubicBezTo>
                <a:lnTo>
                  <a:pt x="5135182" y="0"/>
                </a:lnTo>
                <a:cubicBezTo>
                  <a:pt x="5168133" y="0"/>
                  <a:pt x="5194845" y="26712"/>
                  <a:pt x="5194845" y="59663"/>
                </a:cubicBezTo>
                <a:lnTo>
                  <a:pt x="5194845" y="536968"/>
                </a:lnTo>
                <a:cubicBezTo>
                  <a:pt x="5194845" y="569919"/>
                  <a:pt x="5168133" y="596631"/>
                  <a:pt x="5135182" y="596631"/>
                </a:cubicBezTo>
                <a:lnTo>
                  <a:pt x="59663" y="596631"/>
                </a:lnTo>
                <a:cubicBezTo>
                  <a:pt x="26712" y="596631"/>
                  <a:pt x="0" y="569919"/>
                  <a:pt x="0" y="536968"/>
                </a:cubicBezTo>
                <a:lnTo>
                  <a:pt x="0" y="59663"/>
                </a:lnTo>
                <a:close/>
              </a:path>
            </a:pathLst>
          </a:custGeom>
          <a:solidFill>
            <a:schemeClr val="accent2"/>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2245" tIns="60655" rIns="82245" bIns="60655" numCol="1" spcCol="1270" anchor="ctr" anchorCtr="0">
            <a:noAutofit/>
          </a:bodyPr>
          <a:lstStyle/>
          <a:p>
            <a:pPr marL="0" lvl="0" indent="0" algn="ctr" defTabSz="1511300">
              <a:lnSpc>
                <a:spcPct val="90000"/>
              </a:lnSpc>
              <a:spcBef>
                <a:spcPct val="0"/>
              </a:spcBef>
              <a:spcAft>
                <a:spcPct val="35000"/>
              </a:spcAft>
              <a:buNone/>
            </a:pPr>
            <a:r>
              <a:rPr lang="en-US" sz="3400" kern="1200" dirty="0">
                <a:latin typeface="Oxygen" panose="02000503000000000000" pitchFamily="2" charset="77"/>
              </a:rPr>
              <a:t>Apps</a:t>
            </a:r>
          </a:p>
        </p:txBody>
      </p:sp>
      <p:sp>
        <p:nvSpPr>
          <p:cNvPr id="11" name="Freeform 10">
            <a:extLst>
              <a:ext uri="{FF2B5EF4-FFF2-40B4-BE49-F238E27FC236}">
                <a16:creationId xmlns:a16="http://schemas.microsoft.com/office/drawing/2014/main" id="{3AC40884-941F-E540-A9BA-A929EEF1C3D2}"/>
              </a:ext>
            </a:extLst>
          </p:cNvPr>
          <p:cNvSpPr/>
          <p:nvPr/>
        </p:nvSpPr>
        <p:spPr>
          <a:xfrm>
            <a:off x="1471961" y="2944660"/>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Oxygen" panose="02000503000000000000" pitchFamily="2" charset="77"/>
              </a:rPr>
              <a:t>Visualization</a:t>
            </a:r>
          </a:p>
        </p:txBody>
      </p:sp>
      <p:sp>
        <p:nvSpPr>
          <p:cNvPr id="13" name="Freeform 12">
            <a:extLst>
              <a:ext uri="{FF2B5EF4-FFF2-40B4-BE49-F238E27FC236}">
                <a16:creationId xmlns:a16="http://schemas.microsoft.com/office/drawing/2014/main" id="{AFDDDD8C-F844-AB44-98D6-7A6B24BE1263}"/>
              </a:ext>
            </a:extLst>
          </p:cNvPr>
          <p:cNvSpPr/>
          <p:nvPr/>
        </p:nvSpPr>
        <p:spPr>
          <a:xfrm>
            <a:off x="1471961" y="3612887"/>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p:spPr>
        <p:style>
          <a:lnRef idx="2">
            <a:schemeClr val="lt1">
              <a:hueOff val="0"/>
              <a:satOff val="0"/>
              <a:lumOff val="0"/>
              <a:alphaOff val="0"/>
            </a:schemeClr>
          </a:lnRef>
          <a:fillRef idx="1">
            <a:schemeClr val="accent5">
              <a:hueOff val="-965506"/>
              <a:satOff val="-2488"/>
              <a:lumOff val="-1681"/>
              <a:alphaOff val="0"/>
            </a:schemeClr>
          </a:fillRef>
          <a:effectRef idx="0">
            <a:schemeClr val="accent5">
              <a:hueOff val="-965506"/>
              <a:satOff val="-2488"/>
              <a:lumOff val="-1681"/>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Oxygen" panose="02000503000000000000" pitchFamily="2" charset="77"/>
              </a:rPr>
              <a:t>Analysis</a:t>
            </a:r>
          </a:p>
        </p:txBody>
      </p:sp>
      <p:sp>
        <p:nvSpPr>
          <p:cNvPr id="15" name="Freeform 14">
            <a:extLst>
              <a:ext uri="{FF2B5EF4-FFF2-40B4-BE49-F238E27FC236}">
                <a16:creationId xmlns:a16="http://schemas.microsoft.com/office/drawing/2014/main" id="{184B4E4B-D704-7246-8188-62CAD482E69B}"/>
              </a:ext>
            </a:extLst>
          </p:cNvPr>
          <p:cNvSpPr/>
          <p:nvPr/>
        </p:nvSpPr>
        <p:spPr>
          <a:xfrm>
            <a:off x="1471961" y="4281114"/>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p:spPr>
        <p:style>
          <a:lnRef idx="2">
            <a:schemeClr val="lt1">
              <a:hueOff val="0"/>
              <a:satOff val="0"/>
              <a:lumOff val="0"/>
              <a:alphaOff val="0"/>
            </a:schemeClr>
          </a:lnRef>
          <a:fillRef idx="1">
            <a:schemeClr val="accent5">
              <a:hueOff val="-1931012"/>
              <a:satOff val="-4977"/>
              <a:lumOff val="-3361"/>
              <a:alphaOff val="0"/>
            </a:schemeClr>
          </a:fillRef>
          <a:effectRef idx="0">
            <a:schemeClr val="accent5">
              <a:hueOff val="-1931012"/>
              <a:satOff val="-4977"/>
              <a:lumOff val="-3361"/>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Oxygen" panose="02000503000000000000" pitchFamily="2" charset="77"/>
              </a:rPr>
              <a:t>Reports &amp; dashboards</a:t>
            </a:r>
          </a:p>
        </p:txBody>
      </p:sp>
      <p:sp>
        <p:nvSpPr>
          <p:cNvPr id="17" name="Freeform 16">
            <a:extLst>
              <a:ext uri="{FF2B5EF4-FFF2-40B4-BE49-F238E27FC236}">
                <a16:creationId xmlns:a16="http://schemas.microsoft.com/office/drawing/2014/main" id="{66E66D53-FD34-7246-B992-A729D87391EC}"/>
              </a:ext>
            </a:extLst>
          </p:cNvPr>
          <p:cNvSpPr/>
          <p:nvPr/>
        </p:nvSpPr>
        <p:spPr>
          <a:xfrm>
            <a:off x="1471961" y="4949341"/>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p:spPr>
        <p:style>
          <a:lnRef idx="2">
            <a:schemeClr val="lt1">
              <a:hueOff val="0"/>
              <a:satOff val="0"/>
              <a:lumOff val="0"/>
              <a:alphaOff val="0"/>
            </a:schemeClr>
          </a:lnRef>
          <a:fillRef idx="1">
            <a:schemeClr val="accent5">
              <a:hueOff val="-2896518"/>
              <a:satOff val="-7465"/>
              <a:lumOff val="-5042"/>
              <a:alphaOff val="0"/>
            </a:schemeClr>
          </a:fillRef>
          <a:effectRef idx="0">
            <a:schemeClr val="accent5">
              <a:hueOff val="-2896518"/>
              <a:satOff val="-7465"/>
              <a:lumOff val="-5042"/>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Oxygen" panose="02000503000000000000" pitchFamily="2" charset="77"/>
              </a:rPr>
              <a:t>User interface</a:t>
            </a:r>
          </a:p>
        </p:txBody>
      </p:sp>
      <p:sp>
        <p:nvSpPr>
          <p:cNvPr id="18" name="Freeform 17">
            <a:extLst>
              <a:ext uri="{FF2B5EF4-FFF2-40B4-BE49-F238E27FC236}">
                <a16:creationId xmlns:a16="http://schemas.microsoft.com/office/drawing/2014/main" id="{2AFA02B0-2AF7-1743-A9E6-562F8CA873F1}"/>
              </a:ext>
            </a:extLst>
          </p:cNvPr>
          <p:cNvSpPr/>
          <p:nvPr/>
        </p:nvSpPr>
        <p:spPr>
          <a:xfrm>
            <a:off x="6553862" y="2240634"/>
            <a:ext cx="5194845" cy="596631"/>
          </a:xfrm>
          <a:custGeom>
            <a:avLst/>
            <a:gdLst>
              <a:gd name="connsiteX0" fmla="*/ 0 w 5194845"/>
              <a:gd name="connsiteY0" fmla="*/ 59663 h 596631"/>
              <a:gd name="connsiteX1" fmla="*/ 59663 w 5194845"/>
              <a:gd name="connsiteY1" fmla="*/ 0 h 596631"/>
              <a:gd name="connsiteX2" fmla="*/ 5135182 w 5194845"/>
              <a:gd name="connsiteY2" fmla="*/ 0 h 596631"/>
              <a:gd name="connsiteX3" fmla="*/ 5194845 w 5194845"/>
              <a:gd name="connsiteY3" fmla="*/ 59663 h 596631"/>
              <a:gd name="connsiteX4" fmla="*/ 5194845 w 5194845"/>
              <a:gd name="connsiteY4" fmla="*/ 536968 h 596631"/>
              <a:gd name="connsiteX5" fmla="*/ 5135182 w 5194845"/>
              <a:gd name="connsiteY5" fmla="*/ 596631 h 596631"/>
              <a:gd name="connsiteX6" fmla="*/ 59663 w 5194845"/>
              <a:gd name="connsiteY6" fmla="*/ 596631 h 596631"/>
              <a:gd name="connsiteX7" fmla="*/ 0 w 5194845"/>
              <a:gd name="connsiteY7" fmla="*/ 536968 h 596631"/>
              <a:gd name="connsiteX8" fmla="*/ 0 w 5194845"/>
              <a:gd name="connsiteY8" fmla="*/ 59663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4845" h="596631">
                <a:moveTo>
                  <a:pt x="0" y="59663"/>
                </a:moveTo>
                <a:cubicBezTo>
                  <a:pt x="0" y="26712"/>
                  <a:pt x="26712" y="0"/>
                  <a:pt x="59663" y="0"/>
                </a:cubicBezTo>
                <a:lnTo>
                  <a:pt x="5135182" y="0"/>
                </a:lnTo>
                <a:cubicBezTo>
                  <a:pt x="5168133" y="0"/>
                  <a:pt x="5194845" y="26712"/>
                  <a:pt x="5194845" y="59663"/>
                </a:cubicBezTo>
                <a:lnTo>
                  <a:pt x="5194845" y="536968"/>
                </a:lnTo>
                <a:cubicBezTo>
                  <a:pt x="5194845" y="569919"/>
                  <a:pt x="5168133" y="596631"/>
                  <a:pt x="5135182" y="596631"/>
                </a:cubicBezTo>
                <a:lnTo>
                  <a:pt x="59663" y="596631"/>
                </a:lnTo>
                <a:cubicBezTo>
                  <a:pt x="26712" y="596631"/>
                  <a:pt x="0" y="569919"/>
                  <a:pt x="0" y="536968"/>
                </a:cubicBezTo>
                <a:lnTo>
                  <a:pt x="0" y="59663"/>
                </a:lnTo>
                <a:close/>
              </a:path>
            </a:pathLst>
          </a:custGeom>
          <a:solidFill>
            <a:schemeClr val="accent2"/>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2245" tIns="60655" rIns="82245" bIns="60655" numCol="1" spcCol="1270" anchor="ctr" anchorCtr="0">
            <a:noAutofit/>
          </a:bodyPr>
          <a:lstStyle/>
          <a:p>
            <a:pPr marL="0" lvl="0" indent="0" algn="ctr" defTabSz="1511300">
              <a:lnSpc>
                <a:spcPct val="90000"/>
              </a:lnSpc>
              <a:spcBef>
                <a:spcPct val="0"/>
              </a:spcBef>
              <a:spcAft>
                <a:spcPct val="35000"/>
              </a:spcAft>
              <a:buNone/>
            </a:pPr>
            <a:r>
              <a:rPr lang="en-US" sz="3400" kern="1200" dirty="0">
                <a:solidFill>
                  <a:schemeClr val="bg1"/>
                </a:solidFill>
                <a:latin typeface="Oxygen" panose="02000503000000000000" pitchFamily="2" charset="77"/>
              </a:rPr>
              <a:t>Add-ons</a:t>
            </a:r>
          </a:p>
        </p:txBody>
      </p:sp>
      <p:sp>
        <p:nvSpPr>
          <p:cNvPr id="20" name="Freeform 19">
            <a:extLst>
              <a:ext uri="{FF2B5EF4-FFF2-40B4-BE49-F238E27FC236}">
                <a16:creationId xmlns:a16="http://schemas.microsoft.com/office/drawing/2014/main" id="{E8A70D2F-282D-A64F-8BCC-E0B1F29F9242}"/>
              </a:ext>
            </a:extLst>
          </p:cNvPr>
          <p:cNvSpPr/>
          <p:nvPr/>
        </p:nvSpPr>
        <p:spPr>
          <a:xfrm>
            <a:off x="7186291" y="2944660"/>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a:ln>
            <a:solidFill>
              <a:schemeClr val="tx2"/>
            </a:solidFill>
          </a:ln>
        </p:spPr>
        <p:style>
          <a:lnRef idx="2">
            <a:schemeClr val="lt1">
              <a:hueOff val="0"/>
              <a:satOff val="0"/>
              <a:lumOff val="0"/>
              <a:alphaOff val="0"/>
            </a:schemeClr>
          </a:lnRef>
          <a:fillRef idx="1">
            <a:schemeClr val="accent5">
              <a:hueOff val="-3862025"/>
              <a:satOff val="-9954"/>
              <a:lumOff val="-6723"/>
              <a:alphaOff val="0"/>
            </a:schemeClr>
          </a:fillRef>
          <a:effectRef idx="0">
            <a:schemeClr val="accent5">
              <a:hueOff val="-3862025"/>
              <a:satOff val="-9954"/>
              <a:lumOff val="-6723"/>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latin typeface="Oxygen" panose="02000503000000000000" pitchFamily="2" charset="77"/>
              </a:rPr>
              <a:t>Data enrichment</a:t>
            </a:r>
          </a:p>
        </p:txBody>
      </p:sp>
      <p:sp>
        <p:nvSpPr>
          <p:cNvPr id="22" name="Freeform 21">
            <a:extLst>
              <a:ext uri="{FF2B5EF4-FFF2-40B4-BE49-F238E27FC236}">
                <a16:creationId xmlns:a16="http://schemas.microsoft.com/office/drawing/2014/main" id="{EBCE4B0B-7184-7A4C-8034-2683A036543A}"/>
              </a:ext>
            </a:extLst>
          </p:cNvPr>
          <p:cNvSpPr/>
          <p:nvPr/>
        </p:nvSpPr>
        <p:spPr>
          <a:xfrm>
            <a:off x="7186291" y="3612887"/>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a:ln>
            <a:solidFill>
              <a:schemeClr val="tx2"/>
            </a:solidFill>
          </a:ln>
        </p:spPr>
        <p:style>
          <a:lnRef idx="2">
            <a:schemeClr val="lt1">
              <a:hueOff val="0"/>
              <a:satOff val="0"/>
              <a:lumOff val="0"/>
              <a:alphaOff val="0"/>
            </a:schemeClr>
          </a:lnRef>
          <a:fillRef idx="1">
            <a:schemeClr val="accent5">
              <a:hueOff val="-4827531"/>
              <a:satOff val="-12442"/>
              <a:lumOff val="-8404"/>
              <a:alphaOff val="0"/>
            </a:schemeClr>
          </a:fillRef>
          <a:effectRef idx="0">
            <a:schemeClr val="accent5">
              <a:hueOff val="-4827531"/>
              <a:satOff val="-12442"/>
              <a:lumOff val="-8404"/>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latin typeface="Oxygen" panose="02000503000000000000" pitchFamily="2" charset="77"/>
              </a:rPr>
              <a:t>Tags</a:t>
            </a:r>
          </a:p>
        </p:txBody>
      </p:sp>
      <p:sp>
        <p:nvSpPr>
          <p:cNvPr id="24" name="Freeform 23">
            <a:extLst>
              <a:ext uri="{FF2B5EF4-FFF2-40B4-BE49-F238E27FC236}">
                <a16:creationId xmlns:a16="http://schemas.microsoft.com/office/drawing/2014/main" id="{1769793A-20CB-BB46-A8C6-6251577ADB01}"/>
              </a:ext>
            </a:extLst>
          </p:cNvPr>
          <p:cNvSpPr/>
          <p:nvPr/>
        </p:nvSpPr>
        <p:spPr>
          <a:xfrm>
            <a:off x="7186291" y="4281114"/>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a:ln>
            <a:solidFill>
              <a:schemeClr val="tx2"/>
            </a:solidFill>
          </a:ln>
        </p:spPr>
        <p:style>
          <a:lnRef idx="2">
            <a:schemeClr val="lt1">
              <a:hueOff val="0"/>
              <a:satOff val="0"/>
              <a:lumOff val="0"/>
              <a:alphaOff val="0"/>
            </a:schemeClr>
          </a:lnRef>
          <a:fillRef idx="1">
            <a:schemeClr val="accent5">
              <a:hueOff val="-5793037"/>
              <a:satOff val="-14931"/>
              <a:lumOff val="-10084"/>
              <a:alphaOff val="0"/>
            </a:schemeClr>
          </a:fillRef>
          <a:effectRef idx="0">
            <a:schemeClr val="accent5">
              <a:hueOff val="-5793037"/>
              <a:satOff val="-14931"/>
              <a:lumOff val="-10084"/>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latin typeface="Oxygen" panose="02000503000000000000" pitchFamily="2" charset="77"/>
              </a:rPr>
              <a:t>Data models</a:t>
            </a:r>
          </a:p>
        </p:txBody>
      </p:sp>
      <p:sp>
        <p:nvSpPr>
          <p:cNvPr id="26" name="Freeform 25">
            <a:extLst>
              <a:ext uri="{FF2B5EF4-FFF2-40B4-BE49-F238E27FC236}">
                <a16:creationId xmlns:a16="http://schemas.microsoft.com/office/drawing/2014/main" id="{F9749F45-D227-764E-9F4A-9C57CD8D58A1}"/>
              </a:ext>
            </a:extLst>
          </p:cNvPr>
          <p:cNvSpPr/>
          <p:nvPr/>
        </p:nvSpPr>
        <p:spPr>
          <a:xfrm>
            <a:off x="7186291" y="4949341"/>
            <a:ext cx="4562416" cy="596631"/>
          </a:xfrm>
          <a:custGeom>
            <a:avLst/>
            <a:gdLst>
              <a:gd name="connsiteX0" fmla="*/ 0 w 4562416"/>
              <a:gd name="connsiteY0" fmla="*/ 99458 h 596631"/>
              <a:gd name="connsiteX1" fmla="*/ 99458 w 4562416"/>
              <a:gd name="connsiteY1" fmla="*/ 0 h 596631"/>
              <a:gd name="connsiteX2" fmla="*/ 4462958 w 4562416"/>
              <a:gd name="connsiteY2" fmla="*/ 0 h 596631"/>
              <a:gd name="connsiteX3" fmla="*/ 4562416 w 4562416"/>
              <a:gd name="connsiteY3" fmla="*/ 99458 h 596631"/>
              <a:gd name="connsiteX4" fmla="*/ 4562416 w 4562416"/>
              <a:gd name="connsiteY4" fmla="*/ 497173 h 596631"/>
              <a:gd name="connsiteX5" fmla="*/ 4462958 w 4562416"/>
              <a:gd name="connsiteY5" fmla="*/ 596631 h 596631"/>
              <a:gd name="connsiteX6" fmla="*/ 99458 w 4562416"/>
              <a:gd name="connsiteY6" fmla="*/ 596631 h 596631"/>
              <a:gd name="connsiteX7" fmla="*/ 0 w 4562416"/>
              <a:gd name="connsiteY7" fmla="*/ 497173 h 596631"/>
              <a:gd name="connsiteX8" fmla="*/ 0 w 4562416"/>
              <a:gd name="connsiteY8" fmla="*/ 99458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416" h="596631">
                <a:moveTo>
                  <a:pt x="0" y="99458"/>
                </a:moveTo>
                <a:cubicBezTo>
                  <a:pt x="0" y="44529"/>
                  <a:pt x="44529" y="0"/>
                  <a:pt x="99458" y="0"/>
                </a:cubicBezTo>
                <a:lnTo>
                  <a:pt x="4462958" y="0"/>
                </a:lnTo>
                <a:cubicBezTo>
                  <a:pt x="4517887" y="0"/>
                  <a:pt x="4562416" y="44529"/>
                  <a:pt x="4562416" y="99458"/>
                </a:cubicBezTo>
                <a:lnTo>
                  <a:pt x="4562416" y="497173"/>
                </a:lnTo>
                <a:cubicBezTo>
                  <a:pt x="4562416" y="552102"/>
                  <a:pt x="4517887" y="596631"/>
                  <a:pt x="4462958" y="596631"/>
                </a:cubicBezTo>
                <a:lnTo>
                  <a:pt x="99458" y="596631"/>
                </a:lnTo>
                <a:cubicBezTo>
                  <a:pt x="44529" y="596631"/>
                  <a:pt x="0" y="552102"/>
                  <a:pt x="0" y="497173"/>
                </a:cubicBezTo>
                <a:lnTo>
                  <a:pt x="0" y="99458"/>
                </a:lnTo>
                <a:close/>
              </a:path>
            </a:pathLst>
          </a:custGeom>
          <a:solidFill>
            <a:schemeClr val="tx2"/>
          </a:solidFill>
          <a:ln>
            <a:solidFill>
              <a:schemeClr val="tx2"/>
            </a:solid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64258" tIns="164258" rIns="164258" bIns="16425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1"/>
                </a:solidFill>
                <a:latin typeface="Oxygen" panose="02000503000000000000" pitchFamily="2" charset="77"/>
              </a:rPr>
              <a:t>Datasets</a:t>
            </a:r>
          </a:p>
        </p:txBody>
      </p:sp>
    </p:spTree>
    <p:extLst>
      <p:ext uri="{BB962C8B-B14F-4D97-AF65-F5344CB8AC3E}">
        <p14:creationId xmlns:p14="http://schemas.microsoft.com/office/powerpoint/2010/main" val="109169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p:tgtEl>
                                          <p:spTgt spid="13"/>
                                        </p:tgtEl>
                                        <p:attrNameLst>
                                          <p:attrName>ppt_x</p:attrName>
                                        </p:attrNameLst>
                                      </p:cBhvr>
                                      <p:tavLst>
                                        <p:tav tm="0">
                                          <p:val>
                                            <p:strVal val="#ppt_x-#ppt_w*1.125000"/>
                                          </p:val>
                                        </p:tav>
                                        <p:tav tm="100000">
                                          <p:val>
                                            <p:strVal val="#ppt_x"/>
                                          </p:val>
                                        </p:tav>
                                      </p:tavLst>
                                    </p:anim>
                                    <p:animEffect transition="in" filter="wipe(right)">
                                      <p:cBhvr>
                                        <p:cTn id="16" dur="500"/>
                                        <p:tgtEl>
                                          <p:spTgt spid="13"/>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p:tgtEl>
                                          <p:spTgt spid="15"/>
                                        </p:tgtEl>
                                        <p:attrNameLst>
                                          <p:attrName>ppt_x</p:attrName>
                                        </p:attrNameLst>
                                      </p:cBhvr>
                                      <p:tavLst>
                                        <p:tav tm="0">
                                          <p:val>
                                            <p:strVal val="#ppt_x-#ppt_w*1.125000"/>
                                          </p:val>
                                        </p:tav>
                                        <p:tav tm="100000">
                                          <p:val>
                                            <p:strVal val="#ppt_x"/>
                                          </p:val>
                                        </p:tav>
                                      </p:tavLst>
                                    </p:anim>
                                    <p:animEffect transition="in" filter="wipe(right)">
                                      <p:cBhvr>
                                        <p:cTn id="20" dur="500"/>
                                        <p:tgtEl>
                                          <p:spTgt spid="15"/>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p:tgtEl>
                                          <p:spTgt spid="17"/>
                                        </p:tgtEl>
                                        <p:attrNameLst>
                                          <p:attrName>ppt_x</p:attrName>
                                        </p:attrNameLst>
                                      </p:cBhvr>
                                      <p:tavLst>
                                        <p:tav tm="0">
                                          <p:val>
                                            <p:strVal val="#ppt_x-#ppt_w*1.125000"/>
                                          </p:val>
                                        </p:tav>
                                        <p:tav tm="100000">
                                          <p:val>
                                            <p:strVal val="#ppt_x"/>
                                          </p:val>
                                        </p:tav>
                                      </p:tavLst>
                                    </p:anim>
                                    <p:animEffect transition="in" filter="wipe(right)">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2"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p:tgtEl>
                                          <p:spTgt spid="18"/>
                                        </p:tgtEl>
                                        <p:attrNameLst>
                                          <p:attrName>ppt_x</p:attrName>
                                        </p:attrNameLst>
                                      </p:cBhvr>
                                      <p:tavLst>
                                        <p:tav tm="0">
                                          <p:val>
                                            <p:strVal val="#ppt_x+#ppt_w*1.125000"/>
                                          </p:val>
                                        </p:tav>
                                        <p:tav tm="100000">
                                          <p:val>
                                            <p:strVal val="#ppt_x"/>
                                          </p:val>
                                        </p:tav>
                                      </p:tavLst>
                                    </p:anim>
                                    <p:animEffect transition="in" filter="wipe(left)">
                                      <p:cBhvr>
                                        <p:cTn id="30" dur="500"/>
                                        <p:tgtEl>
                                          <p:spTgt spid="18"/>
                                        </p:tgtEl>
                                      </p:cBhvr>
                                    </p:animEffect>
                                  </p:childTnLst>
                                </p:cTn>
                              </p:par>
                              <p:par>
                                <p:cTn id="31" presetID="12" presetClass="entr" presetSubtype="2"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p:tgtEl>
                                          <p:spTgt spid="20"/>
                                        </p:tgtEl>
                                        <p:attrNameLst>
                                          <p:attrName>ppt_x</p:attrName>
                                        </p:attrNameLst>
                                      </p:cBhvr>
                                      <p:tavLst>
                                        <p:tav tm="0">
                                          <p:val>
                                            <p:strVal val="#ppt_x+#ppt_w*1.125000"/>
                                          </p:val>
                                        </p:tav>
                                        <p:tav tm="100000">
                                          <p:val>
                                            <p:strVal val="#ppt_x"/>
                                          </p:val>
                                        </p:tav>
                                      </p:tavLst>
                                    </p:anim>
                                    <p:animEffect transition="in" filter="wipe(left)">
                                      <p:cBhvr>
                                        <p:cTn id="34" dur="500"/>
                                        <p:tgtEl>
                                          <p:spTgt spid="20"/>
                                        </p:tgtEl>
                                      </p:cBhvr>
                                    </p:animEffect>
                                  </p:childTnLst>
                                </p:cTn>
                              </p:par>
                              <p:par>
                                <p:cTn id="35" presetID="12" presetClass="entr" presetSubtype="2"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p:tgtEl>
                                          <p:spTgt spid="22"/>
                                        </p:tgtEl>
                                        <p:attrNameLst>
                                          <p:attrName>ppt_x</p:attrName>
                                        </p:attrNameLst>
                                      </p:cBhvr>
                                      <p:tavLst>
                                        <p:tav tm="0">
                                          <p:val>
                                            <p:strVal val="#ppt_x+#ppt_w*1.125000"/>
                                          </p:val>
                                        </p:tav>
                                        <p:tav tm="100000">
                                          <p:val>
                                            <p:strVal val="#ppt_x"/>
                                          </p:val>
                                        </p:tav>
                                      </p:tavLst>
                                    </p:anim>
                                    <p:animEffect transition="in" filter="wipe(left)">
                                      <p:cBhvr>
                                        <p:cTn id="38" dur="500"/>
                                        <p:tgtEl>
                                          <p:spTgt spid="22"/>
                                        </p:tgtEl>
                                      </p:cBhvr>
                                    </p:animEffect>
                                  </p:childTnLst>
                                </p:cTn>
                              </p:par>
                              <p:par>
                                <p:cTn id="39" presetID="12" presetClass="entr" presetSubtype="2"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p:tgtEl>
                                          <p:spTgt spid="24"/>
                                        </p:tgtEl>
                                        <p:attrNameLst>
                                          <p:attrName>ppt_x</p:attrName>
                                        </p:attrNameLst>
                                      </p:cBhvr>
                                      <p:tavLst>
                                        <p:tav tm="0">
                                          <p:val>
                                            <p:strVal val="#ppt_x+#ppt_w*1.125000"/>
                                          </p:val>
                                        </p:tav>
                                        <p:tav tm="100000">
                                          <p:val>
                                            <p:strVal val="#ppt_x"/>
                                          </p:val>
                                        </p:tav>
                                      </p:tavLst>
                                    </p:anim>
                                    <p:animEffect transition="in" filter="wipe(left)">
                                      <p:cBhvr>
                                        <p:cTn id="42" dur="500"/>
                                        <p:tgtEl>
                                          <p:spTgt spid="24"/>
                                        </p:tgtEl>
                                      </p:cBhvr>
                                    </p:animEffect>
                                  </p:childTnLst>
                                </p:cTn>
                              </p:par>
                              <p:par>
                                <p:cTn id="43" presetID="12" presetClass="entr" presetSubtype="2"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p:tgtEl>
                                          <p:spTgt spid="26"/>
                                        </p:tgtEl>
                                        <p:attrNameLst>
                                          <p:attrName>ppt_x</p:attrName>
                                        </p:attrNameLst>
                                      </p:cBhvr>
                                      <p:tavLst>
                                        <p:tav tm="0">
                                          <p:val>
                                            <p:strVal val="#ppt_x+#ppt_w*1.125000"/>
                                          </p:val>
                                        </p:tav>
                                        <p:tav tm="100000">
                                          <p:val>
                                            <p:strVal val="#ppt_x"/>
                                          </p:val>
                                        </p:tav>
                                      </p:tavLst>
                                    </p:anim>
                                    <p:animEffect transition="in" filter="wipe(left)">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Splunk Apps</a:t>
            </a:r>
          </a:p>
        </p:txBody>
      </p:sp>
      <p:sp>
        <p:nvSpPr>
          <p:cNvPr id="3" name="Content Placeholder 2"/>
          <p:cNvSpPr>
            <a:spLocks noGrp="1"/>
          </p:cNvSpPr>
          <p:nvPr>
            <p:ph idx="1"/>
          </p:nvPr>
        </p:nvSpPr>
        <p:spPr>
          <a:xfrm>
            <a:off x="838200" y="1825625"/>
            <a:ext cx="10515600" cy="4351338"/>
          </a:xfrm>
        </p:spPr>
        <p:txBody>
          <a:bodyPr/>
          <a:lstStyle/>
          <a:p>
            <a:pPr marL="0" indent="0">
              <a:buNone/>
            </a:pPr>
            <a:endParaRPr lang="en-US" dirty="0"/>
          </a:p>
          <a:p>
            <a:pPr lvl="1"/>
            <a:endParaRPr lang="en-US" dirty="0"/>
          </a:p>
          <a:p>
            <a:endParaRPr lang="en-US" dirty="0"/>
          </a:p>
        </p:txBody>
      </p:sp>
      <p:sp>
        <p:nvSpPr>
          <p:cNvPr id="4" name="TextBox 3"/>
          <p:cNvSpPr txBox="1"/>
          <p:nvPr/>
        </p:nvSpPr>
        <p:spPr>
          <a:xfrm>
            <a:off x="838200" y="6399768"/>
            <a:ext cx="657263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r>
              <a:rPr lang="de-DE" dirty="0">
                <a:latin typeface="Oxygen" charset="0"/>
                <a:ea typeface="Oxygen" charset="0"/>
                <a:cs typeface="Oxygen" charset="0"/>
              </a:rPr>
              <a:t>, Images </a:t>
            </a:r>
            <a:r>
              <a:rPr lang="de-DE" dirty="0" err="1">
                <a:latin typeface="Oxygen" charset="0"/>
                <a:ea typeface="Oxygen" charset="0"/>
                <a:cs typeface="Oxygen" charset="0"/>
              </a:rPr>
              <a:t>from</a:t>
            </a:r>
            <a:r>
              <a:rPr lang="de-DE" dirty="0">
                <a:latin typeface="Oxygen" charset="0"/>
                <a:ea typeface="Oxygen" charset="0"/>
                <a:cs typeface="Oxygen" charset="0"/>
              </a:rPr>
              <a:t> Open </a:t>
            </a:r>
            <a:r>
              <a:rPr lang="de-DE" dirty="0" err="1">
                <a:latin typeface="Oxygen" charset="0"/>
                <a:ea typeface="Oxygen" charset="0"/>
                <a:cs typeface="Oxygen" charset="0"/>
              </a:rPr>
              <a:t>Clipart</a:t>
            </a:r>
            <a:endParaRPr lang="en-US" dirty="0">
              <a:latin typeface="Oxygen" charset="0"/>
              <a:ea typeface="Oxygen" charset="0"/>
              <a:cs typeface="Oxygen" charset="0"/>
            </a:endParaRPr>
          </a:p>
        </p:txBody>
      </p:sp>
      <p:grpSp>
        <p:nvGrpSpPr>
          <p:cNvPr id="13" name="Group 12">
            <a:extLst>
              <a:ext uri="{FF2B5EF4-FFF2-40B4-BE49-F238E27FC236}">
                <a16:creationId xmlns:a16="http://schemas.microsoft.com/office/drawing/2014/main" id="{3FBC9D13-F6EF-AE43-A228-D34C0034DF34}"/>
              </a:ext>
            </a:extLst>
          </p:cNvPr>
          <p:cNvGrpSpPr/>
          <p:nvPr/>
        </p:nvGrpSpPr>
        <p:grpSpPr>
          <a:xfrm>
            <a:off x="2589076" y="1825625"/>
            <a:ext cx="4821757" cy="3979109"/>
            <a:chOff x="2589076" y="1825625"/>
            <a:chExt cx="4821757" cy="3979109"/>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516" y="1825625"/>
              <a:ext cx="711308" cy="1258301"/>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516" y="3252979"/>
              <a:ext cx="711308" cy="1258301"/>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516" y="4546433"/>
              <a:ext cx="711308" cy="1258301"/>
            </a:xfrm>
            <a:prstGeom prst="rect">
              <a:avLst/>
            </a:prstGeom>
          </p:spPr>
        </p:pic>
        <p:sp>
          <p:nvSpPr>
            <p:cNvPr id="18" name="Right Brace 17"/>
            <p:cNvSpPr/>
            <p:nvPr/>
          </p:nvSpPr>
          <p:spPr>
            <a:xfrm>
              <a:off x="5187996" y="1825625"/>
              <a:ext cx="699971" cy="3979109"/>
            </a:xfrm>
            <a:prstGeom prst="rightBrace">
              <a:avLst>
                <a:gd name="adj1" fmla="val 8333"/>
                <a:gd name="adj2" fmla="val 50741"/>
              </a:avLst>
            </a:prstGeom>
            <a:noFill/>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ube 4"/>
            <p:cNvSpPr/>
            <p:nvPr/>
          </p:nvSpPr>
          <p:spPr>
            <a:xfrm>
              <a:off x="6240139" y="3252979"/>
              <a:ext cx="1170694" cy="1074798"/>
            </a:xfrm>
            <a:prstGeom prst="cub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raphic 7" descr="Single gear">
              <a:extLst>
                <a:ext uri="{FF2B5EF4-FFF2-40B4-BE49-F238E27FC236}">
                  <a16:creationId xmlns:a16="http://schemas.microsoft.com/office/drawing/2014/main" id="{AABBDC6C-2FEA-F844-A678-1E0E7F79E27A}"/>
                </a:ext>
              </a:extLst>
            </p:cNvPr>
            <p:cNvSpPr/>
            <p:nvPr/>
          </p:nvSpPr>
          <p:spPr>
            <a:xfrm>
              <a:off x="6448406" y="3698888"/>
              <a:ext cx="493346" cy="477091"/>
            </a:xfrm>
            <a:custGeom>
              <a:avLst/>
              <a:gdLst>
                <a:gd name="connsiteX0" fmla="*/ 246673 w 493346"/>
                <a:gd name="connsiteY0" fmla="*/ 322738 h 477090"/>
                <a:gd name="connsiteX1" fmla="*/ 159612 w 493346"/>
                <a:gd name="connsiteY1" fmla="*/ 238545 h 477090"/>
                <a:gd name="connsiteX2" fmla="*/ 246673 w 493346"/>
                <a:gd name="connsiteY2" fmla="*/ 154353 h 477090"/>
                <a:gd name="connsiteX3" fmla="*/ 333734 w 493346"/>
                <a:gd name="connsiteY3" fmla="*/ 238545 h 477090"/>
                <a:gd name="connsiteX4" fmla="*/ 246673 w 493346"/>
                <a:gd name="connsiteY4" fmla="*/ 322738 h 477090"/>
                <a:gd name="connsiteX5" fmla="*/ 442561 w 493346"/>
                <a:gd name="connsiteY5" fmla="*/ 185925 h 477090"/>
                <a:gd name="connsiteX6" fmla="*/ 423698 w 493346"/>
                <a:gd name="connsiteY6" fmla="*/ 142426 h 477090"/>
                <a:gd name="connsiteX7" fmla="*/ 441835 w 493346"/>
                <a:gd name="connsiteY7" fmla="*/ 89805 h 477090"/>
                <a:gd name="connsiteX8" fmla="*/ 400481 w 493346"/>
                <a:gd name="connsiteY8" fmla="*/ 49814 h 477090"/>
                <a:gd name="connsiteX9" fmla="*/ 346068 w 493346"/>
                <a:gd name="connsiteY9" fmla="*/ 67354 h 477090"/>
                <a:gd name="connsiteX10" fmla="*/ 300361 w 493346"/>
                <a:gd name="connsiteY10" fmla="*/ 49112 h 477090"/>
                <a:gd name="connsiteX11" fmla="*/ 275694 w 493346"/>
                <a:gd name="connsiteY11" fmla="*/ 0 h 477090"/>
                <a:gd name="connsiteX12" fmla="*/ 217653 w 493346"/>
                <a:gd name="connsiteY12" fmla="*/ 0 h 477090"/>
                <a:gd name="connsiteX13" fmla="*/ 192260 w 493346"/>
                <a:gd name="connsiteY13" fmla="*/ 49112 h 477090"/>
                <a:gd name="connsiteX14" fmla="*/ 147278 w 493346"/>
                <a:gd name="connsiteY14" fmla="*/ 67354 h 477090"/>
                <a:gd name="connsiteX15" fmla="*/ 92865 w 493346"/>
                <a:gd name="connsiteY15" fmla="*/ 49814 h 477090"/>
                <a:gd name="connsiteX16" fmla="*/ 51511 w 493346"/>
                <a:gd name="connsiteY16" fmla="*/ 89805 h 477090"/>
                <a:gd name="connsiteX17" fmla="*/ 69649 w 493346"/>
                <a:gd name="connsiteY17" fmla="*/ 142426 h 477090"/>
                <a:gd name="connsiteX18" fmla="*/ 50786 w 493346"/>
                <a:gd name="connsiteY18" fmla="*/ 186627 h 477090"/>
                <a:gd name="connsiteX19" fmla="*/ 0 w 493346"/>
                <a:gd name="connsiteY19" fmla="*/ 210481 h 477090"/>
                <a:gd name="connsiteX20" fmla="*/ 0 w 493346"/>
                <a:gd name="connsiteY20" fmla="*/ 266610 h 477090"/>
                <a:gd name="connsiteX21" fmla="*/ 50786 w 493346"/>
                <a:gd name="connsiteY21" fmla="*/ 291166 h 477090"/>
                <a:gd name="connsiteX22" fmla="*/ 69649 w 493346"/>
                <a:gd name="connsiteY22" fmla="*/ 334665 h 477090"/>
                <a:gd name="connsiteX23" fmla="*/ 51511 w 493346"/>
                <a:gd name="connsiteY23" fmla="*/ 387285 h 477090"/>
                <a:gd name="connsiteX24" fmla="*/ 92865 w 493346"/>
                <a:gd name="connsiteY24" fmla="*/ 427277 h 477090"/>
                <a:gd name="connsiteX25" fmla="*/ 147278 w 493346"/>
                <a:gd name="connsiteY25" fmla="*/ 409737 h 477090"/>
                <a:gd name="connsiteX26" fmla="*/ 192985 w 493346"/>
                <a:gd name="connsiteY26" fmla="*/ 427979 h 477090"/>
                <a:gd name="connsiteX27" fmla="*/ 218378 w 493346"/>
                <a:gd name="connsiteY27" fmla="*/ 477091 h 477090"/>
                <a:gd name="connsiteX28" fmla="*/ 276419 w 493346"/>
                <a:gd name="connsiteY28" fmla="*/ 477091 h 477090"/>
                <a:gd name="connsiteX29" fmla="*/ 301812 w 493346"/>
                <a:gd name="connsiteY29" fmla="*/ 427979 h 477090"/>
                <a:gd name="connsiteX30" fmla="*/ 346793 w 493346"/>
                <a:gd name="connsiteY30" fmla="*/ 409737 h 477090"/>
                <a:gd name="connsiteX31" fmla="*/ 401207 w 493346"/>
                <a:gd name="connsiteY31" fmla="*/ 427277 h 477090"/>
                <a:gd name="connsiteX32" fmla="*/ 442561 w 493346"/>
                <a:gd name="connsiteY32" fmla="*/ 387285 h 477090"/>
                <a:gd name="connsiteX33" fmla="*/ 424423 w 493346"/>
                <a:gd name="connsiteY33" fmla="*/ 334665 h 477090"/>
                <a:gd name="connsiteX34" fmla="*/ 443286 w 493346"/>
                <a:gd name="connsiteY34" fmla="*/ 290464 h 477090"/>
                <a:gd name="connsiteX35" fmla="*/ 494072 w 493346"/>
                <a:gd name="connsiteY35" fmla="*/ 265908 h 477090"/>
                <a:gd name="connsiteX36" fmla="*/ 494072 w 493346"/>
                <a:gd name="connsiteY36" fmla="*/ 209780 h 477090"/>
                <a:gd name="connsiteX37" fmla="*/ 442561 w 493346"/>
                <a:gd name="connsiteY37" fmla="*/ 185925 h 47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3346" h="477090">
                  <a:moveTo>
                    <a:pt x="246673" y="322738"/>
                  </a:moveTo>
                  <a:cubicBezTo>
                    <a:pt x="198790" y="322738"/>
                    <a:pt x="159612" y="284851"/>
                    <a:pt x="159612" y="238545"/>
                  </a:cubicBezTo>
                  <a:cubicBezTo>
                    <a:pt x="159612" y="192240"/>
                    <a:pt x="198790" y="154353"/>
                    <a:pt x="246673" y="154353"/>
                  </a:cubicBezTo>
                  <a:cubicBezTo>
                    <a:pt x="294557" y="154353"/>
                    <a:pt x="333734" y="192240"/>
                    <a:pt x="333734" y="238545"/>
                  </a:cubicBezTo>
                  <a:cubicBezTo>
                    <a:pt x="333734" y="284851"/>
                    <a:pt x="294557" y="322738"/>
                    <a:pt x="246673" y="322738"/>
                  </a:cubicBezTo>
                  <a:close/>
                  <a:moveTo>
                    <a:pt x="442561" y="185925"/>
                  </a:moveTo>
                  <a:cubicBezTo>
                    <a:pt x="438208" y="170490"/>
                    <a:pt x="431678" y="155756"/>
                    <a:pt x="423698" y="142426"/>
                  </a:cubicBezTo>
                  <a:lnTo>
                    <a:pt x="441835" y="89805"/>
                  </a:lnTo>
                  <a:lnTo>
                    <a:pt x="400481" y="49814"/>
                  </a:lnTo>
                  <a:lnTo>
                    <a:pt x="346068" y="67354"/>
                  </a:lnTo>
                  <a:cubicBezTo>
                    <a:pt x="331558" y="59636"/>
                    <a:pt x="316322" y="53322"/>
                    <a:pt x="300361" y="49112"/>
                  </a:cubicBezTo>
                  <a:lnTo>
                    <a:pt x="275694" y="0"/>
                  </a:lnTo>
                  <a:lnTo>
                    <a:pt x="217653" y="0"/>
                  </a:lnTo>
                  <a:lnTo>
                    <a:pt x="192260" y="49112"/>
                  </a:lnTo>
                  <a:cubicBezTo>
                    <a:pt x="176299" y="53322"/>
                    <a:pt x="161063" y="59636"/>
                    <a:pt x="147278" y="67354"/>
                  </a:cubicBezTo>
                  <a:lnTo>
                    <a:pt x="92865" y="49814"/>
                  </a:lnTo>
                  <a:lnTo>
                    <a:pt x="51511" y="89805"/>
                  </a:lnTo>
                  <a:lnTo>
                    <a:pt x="69649" y="142426"/>
                  </a:lnTo>
                  <a:cubicBezTo>
                    <a:pt x="61668" y="156458"/>
                    <a:pt x="55139" y="171191"/>
                    <a:pt x="50786" y="186627"/>
                  </a:cubicBezTo>
                  <a:lnTo>
                    <a:pt x="0" y="210481"/>
                  </a:lnTo>
                  <a:lnTo>
                    <a:pt x="0" y="266610"/>
                  </a:lnTo>
                  <a:lnTo>
                    <a:pt x="50786" y="291166"/>
                  </a:lnTo>
                  <a:cubicBezTo>
                    <a:pt x="55139" y="306601"/>
                    <a:pt x="61668" y="321335"/>
                    <a:pt x="69649" y="334665"/>
                  </a:cubicBezTo>
                  <a:lnTo>
                    <a:pt x="51511" y="387285"/>
                  </a:lnTo>
                  <a:lnTo>
                    <a:pt x="92865" y="427277"/>
                  </a:lnTo>
                  <a:lnTo>
                    <a:pt x="147278" y="409737"/>
                  </a:lnTo>
                  <a:cubicBezTo>
                    <a:pt x="161789" y="417454"/>
                    <a:pt x="177024" y="423769"/>
                    <a:pt x="192985" y="427979"/>
                  </a:cubicBezTo>
                  <a:lnTo>
                    <a:pt x="218378" y="477091"/>
                  </a:lnTo>
                  <a:lnTo>
                    <a:pt x="276419" y="477091"/>
                  </a:lnTo>
                  <a:lnTo>
                    <a:pt x="301812" y="427979"/>
                  </a:lnTo>
                  <a:cubicBezTo>
                    <a:pt x="317773" y="423769"/>
                    <a:pt x="333009" y="417454"/>
                    <a:pt x="346793" y="409737"/>
                  </a:cubicBezTo>
                  <a:lnTo>
                    <a:pt x="401207" y="427277"/>
                  </a:lnTo>
                  <a:lnTo>
                    <a:pt x="442561" y="387285"/>
                  </a:lnTo>
                  <a:lnTo>
                    <a:pt x="424423" y="334665"/>
                  </a:lnTo>
                  <a:cubicBezTo>
                    <a:pt x="432404" y="320633"/>
                    <a:pt x="438933" y="305899"/>
                    <a:pt x="443286" y="290464"/>
                  </a:cubicBezTo>
                  <a:lnTo>
                    <a:pt x="494072" y="265908"/>
                  </a:lnTo>
                  <a:lnTo>
                    <a:pt x="494072" y="209780"/>
                  </a:lnTo>
                  <a:lnTo>
                    <a:pt x="442561" y="185925"/>
                  </a:lnTo>
                  <a:close/>
                </a:path>
              </a:pathLst>
            </a:custGeom>
            <a:solidFill>
              <a:schemeClr val="bg1"/>
            </a:solidFill>
            <a:ln w="7243" cap="flat">
              <a:solidFill>
                <a:schemeClr val="tx1"/>
              </a:solidFill>
              <a:prstDash val="solid"/>
              <a:miter/>
            </a:ln>
          </p:spPr>
          <p:txBody>
            <a:bodyPr rtlCol="0" anchor="ctr"/>
            <a:lstStyle/>
            <a:p>
              <a:endParaRPr lang="en-US"/>
            </a:p>
          </p:txBody>
        </p:sp>
        <p:sp>
          <p:nvSpPr>
            <p:cNvPr id="12" name="TextBox 11">
              <a:extLst>
                <a:ext uri="{FF2B5EF4-FFF2-40B4-BE49-F238E27FC236}">
                  <a16:creationId xmlns:a16="http://schemas.microsoft.com/office/drawing/2014/main" id="{CDDA59EF-112D-1F4C-B55B-61124977B54F}"/>
                </a:ext>
              </a:extLst>
            </p:cNvPr>
            <p:cNvSpPr txBox="1"/>
            <p:nvPr/>
          </p:nvSpPr>
          <p:spPr>
            <a:xfrm>
              <a:off x="2589076" y="2454775"/>
              <a:ext cx="1287532" cy="369332"/>
            </a:xfrm>
            <a:prstGeom prst="rect">
              <a:avLst/>
            </a:prstGeom>
            <a:noFill/>
          </p:spPr>
          <p:txBody>
            <a:bodyPr wrap="none" rtlCol="0">
              <a:spAutoFit/>
            </a:bodyPr>
            <a:lstStyle/>
            <a:p>
              <a:r>
                <a:rPr lang="en-US" dirty="0" err="1">
                  <a:latin typeface="Oxygen Mono" panose="02000509030000090004" pitchFamily="49" charset="77"/>
                </a:rPr>
                <a:t>foo.conf</a:t>
              </a:r>
              <a:endParaRPr lang="en-US" dirty="0">
                <a:latin typeface="Oxygen Mono" panose="02000509030000090004" pitchFamily="49" charset="77"/>
              </a:endParaRPr>
            </a:p>
          </p:txBody>
        </p:sp>
        <p:sp>
          <p:nvSpPr>
            <p:cNvPr id="17" name="TextBox 16">
              <a:extLst>
                <a:ext uri="{FF2B5EF4-FFF2-40B4-BE49-F238E27FC236}">
                  <a16:creationId xmlns:a16="http://schemas.microsoft.com/office/drawing/2014/main" id="{4C4D2D1E-0230-AB45-B0D2-B0EB46388D53}"/>
                </a:ext>
              </a:extLst>
            </p:cNvPr>
            <p:cNvSpPr txBox="1"/>
            <p:nvPr/>
          </p:nvSpPr>
          <p:spPr>
            <a:xfrm>
              <a:off x="2589076" y="3815179"/>
              <a:ext cx="1287532" cy="369332"/>
            </a:xfrm>
            <a:prstGeom prst="rect">
              <a:avLst/>
            </a:prstGeom>
            <a:noFill/>
          </p:spPr>
          <p:txBody>
            <a:bodyPr wrap="none" rtlCol="0">
              <a:spAutoFit/>
            </a:bodyPr>
            <a:lstStyle/>
            <a:p>
              <a:r>
                <a:rPr lang="en-US" dirty="0" err="1">
                  <a:latin typeface="Oxygen Mono" panose="02000509030000090004" pitchFamily="49" charset="77"/>
                </a:rPr>
                <a:t>bar.conf</a:t>
              </a:r>
              <a:endParaRPr lang="en-US" dirty="0">
                <a:latin typeface="Oxygen Mono" panose="02000509030000090004" pitchFamily="49" charset="77"/>
              </a:endParaRPr>
            </a:p>
          </p:txBody>
        </p:sp>
        <p:sp>
          <p:nvSpPr>
            <p:cNvPr id="19" name="TextBox 18">
              <a:extLst>
                <a:ext uri="{FF2B5EF4-FFF2-40B4-BE49-F238E27FC236}">
                  <a16:creationId xmlns:a16="http://schemas.microsoft.com/office/drawing/2014/main" id="{47DB09E1-D13F-2C47-B9A6-7D6B95767F4D}"/>
                </a:ext>
              </a:extLst>
            </p:cNvPr>
            <p:cNvSpPr txBox="1"/>
            <p:nvPr/>
          </p:nvSpPr>
          <p:spPr>
            <a:xfrm>
              <a:off x="2589076" y="4998992"/>
              <a:ext cx="1287532" cy="369332"/>
            </a:xfrm>
            <a:prstGeom prst="rect">
              <a:avLst/>
            </a:prstGeom>
            <a:noFill/>
          </p:spPr>
          <p:txBody>
            <a:bodyPr wrap="none" rtlCol="0">
              <a:spAutoFit/>
            </a:bodyPr>
            <a:lstStyle/>
            <a:p>
              <a:r>
                <a:rPr lang="en-US" dirty="0" err="1">
                  <a:latin typeface="Oxygen Mono" panose="02000509030000090004" pitchFamily="49" charset="77"/>
                </a:rPr>
                <a:t>baz.conf</a:t>
              </a:r>
              <a:endParaRPr lang="en-US" dirty="0">
                <a:latin typeface="Oxygen Mono" panose="02000509030000090004" pitchFamily="49" charset="77"/>
              </a:endParaRPr>
            </a:p>
          </p:txBody>
        </p:sp>
      </p:grpSp>
    </p:spTree>
    <p:extLst>
      <p:ext uri="{BB962C8B-B14F-4D97-AF65-F5344CB8AC3E}">
        <p14:creationId xmlns:p14="http://schemas.microsoft.com/office/powerpoint/2010/main" val="223996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Splunk Apps</a:t>
            </a:r>
          </a:p>
        </p:txBody>
      </p:sp>
      <p:sp>
        <p:nvSpPr>
          <p:cNvPr id="3" name="Content Placeholder 2"/>
          <p:cNvSpPr>
            <a:spLocks noGrp="1"/>
          </p:cNvSpPr>
          <p:nvPr>
            <p:ph idx="1"/>
          </p:nvPr>
        </p:nvSpPr>
        <p:spPr/>
        <p:txBody>
          <a:bodyPr/>
          <a:lstStyle/>
          <a:p>
            <a:endParaRPr lang="en-US" dirty="0"/>
          </a:p>
          <a:p>
            <a:pPr lvl="1"/>
            <a:endParaRPr lang="en-US" dirty="0"/>
          </a:p>
          <a:p>
            <a:endParaRPr lang="en-US" dirty="0"/>
          </a:p>
        </p:txBody>
      </p:sp>
      <p:sp>
        <p:nvSpPr>
          <p:cNvPr id="4" name="TextBox 3"/>
          <p:cNvSpPr txBox="1"/>
          <p:nvPr/>
        </p:nvSpPr>
        <p:spPr>
          <a:xfrm>
            <a:off x="838200" y="6399768"/>
            <a:ext cx="657263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r>
              <a:rPr lang="de-DE" dirty="0">
                <a:latin typeface="Oxygen" charset="0"/>
                <a:ea typeface="Oxygen" charset="0"/>
                <a:cs typeface="Oxygen" charset="0"/>
              </a:rPr>
              <a:t>, Images </a:t>
            </a:r>
            <a:r>
              <a:rPr lang="de-DE" dirty="0" err="1">
                <a:latin typeface="Oxygen" charset="0"/>
                <a:ea typeface="Oxygen" charset="0"/>
                <a:cs typeface="Oxygen" charset="0"/>
              </a:rPr>
              <a:t>from</a:t>
            </a:r>
            <a:r>
              <a:rPr lang="de-DE" dirty="0">
                <a:latin typeface="Oxygen" charset="0"/>
                <a:ea typeface="Oxygen" charset="0"/>
                <a:cs typeface="Oxygen" charset="0"/>
              </a:rPr>
              <a:t> Open </a:t>
            </a:r>
            <a:r>
              <a:rPr lang="de-DE" dirty="0" err="1">
                <a:latin typeface="Oxygen" charset="0"/>
                <a:ea typeface="Oxygen" charset="0"/>
                <a:cs typeface="Oxygen" charset="0"/>
              </a:rPr>
              <a:t>Clipart</a:t>
            </a:r>
            <a:endParaRPr lang="en-US" dirty="0">
              <a:latin typeface="Oxygen" charset="0"/>
              <a:ea typeface="Oxygen" charset="0"/>
              <a:cs typeface="Oxygen" charset="0"/>
            </a:endParaRPr>
          </a:p>
        </p:txBody>
      </p:sp>
      <p:grpSp>
        <p:nvGrpSpPr>
          <p:cNvPr id="6" name="Group 5">
            <a:extLst>
              <a:ext uri="{FF2B5EF4-FFF2-40B4-BE49-F238E27FC236}">
                <a16:creationId xmlns:a16="http://schemas.microsoft.com/office/drawing/2014/main" id="{C83F9886-8D96-6046-A412-0A4DB8E98FCC}"/>
              </a:ext>
            </a:extLst>
          </p:cNvPr>
          <p:cNvGrpSpPr/>
          <p:nvPr/>
        </p:nvGrpSpPr>
        <p:grpSpPr>
          <a:xfrm>
            <a:off x="3091180" y="1825625"/>
            <a:ext cx="5080000" cy="3526337"/>
            <a:chOff x="3091180" y="1825625"/>
            <a:chExt cx="5080000" cy="3526337"/>
          </a:xfrm>
        </p:grpSpPr>
        <p:sp>
          <p:nvSpPr>
            <p:cNvPr id="5" name="Cube 4"/>
            <p:cNvSpPr/>
            <p:nvPr/>
          </p:nvSpPr>
          <p:spPr>
            <a:xfrm>
              <a:off x="7167880" y="2683097"/>
              <a:ext cx="1003300" cy="952500"/>
            </a:xfrm>
            <a:prstGeom prst="cub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7280" y="1860634"/>
              <a:ext cx="609600" cy="1115122"/>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7280" y="2975756"/>
              <a:ext cx="609600" cy="1115122"/>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1180" y="3014091"/>
              <a:ext cx="609600" cy="1115122"/>
            </a:xfrm>
            <a:prstGeom prst="rect">
              <a:avLst/>
            </a:prstGeom>
          </p:spPr>
        </p:pic>
        <p:sp>
          <p:nvSpPr>
            <p:cNvPr id="18" name="Right Brace 17"/>
            <p:cNvSpPr/>
            <p:nvPr/>
          </p:nvSpPr>
          <p:spPr>
            <a:xfrm>
              <a:off x="6072696" y="1825625"/>
              <a:ext cx="599884" cy="3526337"/>
            </a:xfrm>
            <a:prstGeom prst="rightBrace">
              <a:avLst>
                <a:gd name="adj1" fmla="val 8333"/>
                <a:gd name="adj2" fmla="val 40297"/>
              </a:avLst>
            </a:prstGeom>
            <a:noFill/>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1180" y="4126971"/>
              <a:ext cx="609600" cy="1115122"/>
            </a:xfrm>
            <a:prstGeom prst="rect">
              <a:avLst/>
            </a:prstGeom>
          </p:spPr>
        </p:pic>
        <p:sp>
          <p:nvSpPr>
            <p:cNvPr id="11" name="Cube 10"/>
            <p:cNvSpPr/>
            <p:nvPr/>
          </p:nvSpPr>
          <p:spPr>
            <a:xfrm>
              <a:off x="4710430" y="4213420"/>
              <a:ext cx="1003300" cy="952500"/>
            </a:xfrm>
            <a:prstGeom prst="cub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p:cNvSpPr/>
            <p:nvPr/>
          </p:nvSpPr>
          <p:spPr>
            <a:xfrm>
              <a:off x="3812096" y="2975757"/>
              <a:ext cx="599884" cy="2264804"/>
            </a:xfrm>
            <a:prstGeom prst="rightBrace">
              <a:avLst>
                <a:gd name="adj1" fmla="val 8333"/>
                <a:gd name="adj2" fmla="val 76536"/>
              </a:avLst>
            </a:prstGeom>
            <a:noFill/>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Graphic 7" descr="Single gear">
              <a:extLst>
                <a:ext uri="{FF2B5EF4-FFF2-40B4-BE49-F238E27FC236}">
                  <a16:creationId xmlns:a16="http://schemas.microsoft.com/office/drawing/2014/main" id="{28CAAC20-4CD5-4249-BC8B-816D993920E8}"/>
                </a:ext>
              </a:extLst>
            </p:cNvPr>
            <p:cNvSpPr/>
            <p:nvPr/>
          </p:nvSpPr>
          <p:spPr>
            <a:xfrm>
              <a:off x="7276807" y="3031363"/>
              <a:ext cx="493346" cy="477091"/>
            </a:xfrm>
            <a:custGeom>
              <a:avLst/>
              <a:gdLst>
                <a:gd name="connsiteX0" fmla="*/ 246673 w 493346"/>
                <a:gd name="connsiteY0" fmla="*/ 322738 h 477090"/>
                <a:gd name="connsiteX1" fmla="*/ 159612 w 493346"/>
                <a:gd name="connsiteY1" fmla="*/ 238545 h 477090"/>
                <a:gd name="connsiteX2" fmla="*/ 246673 w 493346"/>
                <a:gd name="connsiteY2" fmla="*/ 154353 h 477090"/>
                <a:gd name="connsiteX3" fmla="*/ 333734 w 493346"/>
                <a:gd name="connsiteY3" fmla="*/ 238545 h 477090"/>
                <a:gd name="connsiteX4" fmla="*/ 246673 w 493346"/>
                <a:gd name="connsiteY4" fmla="*/ 322738 h 477090"/>
                <a:gd name="connsiteX5" fmla="*/ 442561 w 493346"/>
                <a:gd name="connsiteY5" fmla="*/ 185925 h 477090"/>
                <a:gd name="connsiteX6" fmla="*/ 423698 w 493346"/>
                <a:gd name="connsiteY6" fmla="*/ 142426 h 477090"/>
                <a:gd name="connsiteX7" fmla="*/ 441835 w 493346"/>
                <a:gd name="connsiteY7" fmla="*/ 89805 h 477090"/>
                <a:gd name="connsiteX8" fmla="*/ 400481 w 493346"/>
                <a:gd name="connsiteY8" fmla="*/ 49814 h 477090"/>
                <a:gd name="connsiteX9" fmla="*/ 346068 w 493346"/>
                <a:gd name="connsiteY9" fmla="*/ 67354 h 477090"/>
                <a:gd name="connsiteX10" fmla="*/ 300361 w 493346"/>
                <a:gd name="connsiteY10" fmla="*/ 49112 h 477090"/>
                <a:gd name="connsiteX11" fmla="*/ 275694 w 493346"/>
                <a:gd name="connsiteY11" fmla="*/ 0 h 477090"/>
                <a:gd name="connsiteX12" fmla="*/ 217653 w 493346"/>
                <a:gd name="connsiteY12" fmla="*/ 0 h 477090"/>
                <a:gd name="connsiteX13" fmla="*/ 192260 w 493346"/>
                <a:gd name="connsiteY13" fmla="*/ 49112 h 477090"/>
                <a:gd name="connsiteX14" fmla="*/ 147278 w 493346"/>
                <a:gd name="connsiteY14" fmla="*/ 67354 h 477090"/>
                <a:gd name="connsiteX15" fmla="*/ 92865 w 493346"/>
                <a:gd name="connsiteY15" fmla="*/ 49814 h 477090"/>
                <a:gd name="connsiteX16" fmla="*/ 51511 w 493346"/>
                <a:gd name="connsiteY16" fmla="*/ 89805 h 477090"/>
                <a:gd name="connsiteX17" fmla="*/ 69649 w 493346"/>
                <a:gd name="connsiteY17" fmla="*/ 142426 h 477090"/>
                <a:gd name="connsiteX18" fmla="*/ 50786 w 493346"/>
                <a:gd name="connsiteY18" fmla="*/ 186627 h 477090"/>
                <a:gd name="connsiteX19" fmla="*/ 0 w 493346"/>
                <a:gd name="connsiteY19" fmla="*/ 210481 h 477090"/>
                <a:gd name="connsiteX20" fmla="*/ 0 w 493346"/>
                <a:gd name="connsiteY20" fmla="*/ 266610 h 477090"/>
                <a:gd name="connsiteX21" fmla="*/ 50786 w 493346"/>
                <a:gd name="connsiteY21" fmla="*/ 291166 h 477090"/>
                <a:gd name="connsiteX22" fmla="*/ 69649 w 493346"/>
                <a:gd name="connsiteY22" fmla="*/ 334665 h 477090"/>
                <a:gd name="connsiteX23" fmla="*/ 51511 w 493346"/>
                <a:gd name="connsiteY23" fmla="*/ 387285 h 477090"/>
                <a:gd name="connsiteX24" fmla="*/ 92865 w 493346"/>
                <a:gd name="connsiteY24" fmla="*/ 427277 h 477090"/>
                <a:gd name="connsiteX25" fmla="*/ 147278 w 493346"/>
                <a:gd name="connsiteY25" fmla="*/ 409737 h 477090"/>
                <a:gd name="connsiteX26" fmla="*/ 192985 w 493346"/>
                <a:gd name="connsiteY26" fmla="*/ 427979 h 477090"/>
                <a:gd name="connsiteX27" fmla="*/ 218378 w 493346"/>
                <a:gd name="connsiteY27" fmla="*/ 477091 h 477090"/>
                <a:gd name="connsiteX28" fmla="*/ 276419 w 493346"/>
                <a:gd name="connsiteY28" fmla="*/ 477091 h 477090"/>
                <a:gd name="connsiteX29" fmla="*/ 301812 w 493346"/>
                <a:gd name="connsiteY29" fmla="*/ 427979 h 477090"/>
                <a:gd name="connsiteX30" fmla="*/ 346793 w 493346"/>
                <a:gd name="connsiteY30" fmla="*/ 409737 h 477090"/>
                <a:gd name="connsiteX31" fmla="*/ 401207 w 493346"/>
                <a:gd name="connsiteY31" fmla="*/ 427277 h 477090"/>
                <a:gd name="connsiteX32" fmla="*/ 442561 w 493346"/>
                <a:gd name="connsiteY32" fmla="*/ 387285 h 477090"/>
                <a:gd name="connsiteX33" fmla="*/ 424423 w 493346"/>
                <a:gd name="connsiteY33" fmla="*/ 334665 h 477090"/>
                <a:gd name="connsiteX34" fmla="*/ 443286 w 493346"/>
                <a:gd name="connsiteY34" fmla="*/ 290464 h 477090"/>
                <a:gd name="connsiteX35" fmla="*/ 494072 w 493346"/>
                <a:gd name="connsiteY35" fmla="*/ 265908 h 477090"/>
                <a:gd name="connsiteX36" fmla="*/ 494072 w 493346"/>
                <a:gd name="connsiteY36" fmla="*/ 209780 h 477090"/>
                <a:gd name="connsiteX37" fmla="*/ 442561 w 493346"/>
                <a:gd name="connsiteY37" fmla="*/ 185925 h 47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3346" h="477090">
                  <a:moveTo>
                    <a:pt x="246673" y="322738"/>
                  </a:moveTo>
                  <a:cubicBezTo>
                    <a:pt x="198790" y="322738"/>
                    <a:pt x="159612" y="284851"/>
                    <a:pt x="159612" y="238545"/>
                  </a:cubicBezTo>
                  <a:cubicBezTo>
                    <a:pt x="159612" y="192240"/>
                    <a:pt x="198790" y="154353"/>
                    <a:pt x="246673" y="154353"/>
                  </a:cubicBezTo>
                  <a:cubicBezTo>
                    <a:pt x="294557" y="154353"/>
                    <a:pt x="333734" y="192240"/>
                    <a:pt x="333734" y="238545"/>
                  </a:cubicBezTo>
                  <a:cubicBezTo>
                    <a:pt x="333734" y="284851"/>
                    <a:pt x="294557" y="322738"/>
                    <a:pt x="246673" y="322738"/>
                  </a:cubicBezTo>
                  <a:close/>
                  <a:moveTo>
                    <a:pt x="442561" y="185925"/>
                  </a:moveTo>
                  <a:cubicBezTo>
                    <a:pt x="438208" y="170490"/>
                    <a:pt x="431678" y="155756"/>
                    <a:pt x="423698" y="142426"/>
                  </a:cubicBezTo>
                  <a:lnTo>
                    <a:pt x="441835" y="89805"/>
                  </a:lnTo>
                  <a:lnTo>
                    <a:pt x="400481" y="49814"/>
                  </a:lnTo>
                  <a:lnTo>
                    <a:pt x="346068" y="67354"/>
                  </a:lnTo>
                  <a:cubicBezTo>
                    <a:pt x="331558" y="59636"/>
                    <a:pt x="316322" y="53322"/>
                    <a:pt x="300361" y="49112"/>
                  </a:cubicBezTo>
                  <a:lnTo>
                    <a:pt x="275694" y="0"/>
                  </a:lnTo>
                  <a:lnTo>
                    <a:pt x="217653" y="0"/>
                  </a:lnTo>
                  <a:lnTo>
                    <a:pt x="192260" y="49112"/>
                  </a:lnTo>
                  <a:cubicBezTo>
                    <a:pt x="176299" y="53322"/>
                    <a:pt x="161063" y="59636"/>
                    <a:pt x="147278" y="67354"/>
                  </a:cubicBezTo>
                  <a:lnTo>
                    <a:pt x="92865" y="49814"/>
                  </a:lnTo>
                  <a:lnTo>
                    <a:pt x="51511" y="89805"/>
                  </a:lnTo>
                  <a:lnTo>
                    <a:pt x="69649" y="142426"/>
                  </a:lnTo>
                  <a:cubicBezTo>
                    <a:pt x="61668" y="156458"/>
                    <a:pt x="55139" y="171191"/>
                    <a:pt x="50786" y="186627"/>
                  </a:cubicBezTo>
                  <a:lnTo>
                    <a:pt x="0" y="210481"/>
                  </a:lnTo>
                  <a:lnTo>
                    <a:pt x="0" y="266610"/>
                  </a:lnTo>
                  <a:lnTo>
                    <a:pt x="50786" y="291166"/>
                  </a:lnTo>
                  <a:cubicBezTo>
                    <a:pt x="55139" y="306601"/>
                    <a:pt x="61668" y="321335"/>
                    <a:pt x="69649" y="334665"/>
                  </a:cubicBezTo>
                  <a:lnTo>
                    <a:pt x="51511" y="387285"/>
                  </a:lnTo>
                  <a:lnTo>
                    <a:pt x="92865" y="427277"/>
                  </a:lnTo>
                  <a:lnTo>
                    <a:pt x="147278" y="409737"/>
                  </a:lnTo>
                  <a:cubicBezTo>
                    <a:pt x="161789" y="417454"/>
                    <a:pt x="177024" y="423769"/>
                    <a:pt x="192985" y="427979"/>
                  </a:cubicBezTo>
                  <a:lnTo>
                    <a:pt x="218378" y="477091"/>
                  </a:lnTo>
                  <a:lnTo>
                    <a:pt x="276419" y="477091"/>
                  </a:lnTo>
                  <a:lnTo>
                    <a:pt x="301812" y="427979"/>
                  </a:lnTo>
                  <a:cubicBezTo>
                    <a:pt x="317773" y="423769"/>
                    <a:pt x="333009" y="417454"/>
                    <a:pt x="346793" y="409737"/>
                  </a:cubicBezTo>
                  <a:lnTo>
                    <a:pt x="401207" y="427277"/>
                  </a:lnTo>
                  <a:lnTo>
                    <a:pt x="442561" y="387285"/>
                  </a:lnTo>
                  <a:lnTo>
                    <a:pt x="424423" y="334665"/>
                  </a:lnTo>
                  <a:cubicBezTo>
                    <a:pt x="432404" y="320633"/>
                    <a:pt x="438933" y="305899"/>
                    <a:pt x="443286" y="290464"/>
                  </a:cubicBezTo>
                  <a:lnTo>
                    <a:pt x="494072" y="265908"/>
                  </a:lnTo>
                  <a:lnTo>
                    <a:pt x="494072" y="209780"/>
                  </a:lnTo>
                  <a:lnTo>
                    <a:pt x="442561" y="185925"/>
                  </a:lnTo>
                  <a:close/>
                </a:path>
              </a:pathLst>
            </a:custGeom>
            <a:solidFill>
              <a:schemeClr val="bg1"/>
            </a:solidFill>
            <a:ln w="7243" cap="flat">
              <a:solidFill>
                <a:schemeClr val="tx1"/>
              </a:solidFill>
              <a:prstDash val="solid"/>
              <a:miter/>
            </a:ln>
          </p:spPr>
          <p:txBody>
            <a:bodyPr rtlCol="0" anchor="ctr"/>
            <a:lstStyle/>
            <a:p>
              <a:endParaRPr lang="en-US"/>
            </a:p>
          </p:txBody>
        </p:sp>
      </p:grpSp>
    </p:spTree>
    <p:extLst>
      <p:ext uri="{BB962C8B-B14F-4D97-AF65-F5344CB8AC3E}">
        <p14:creationId xmlns:p14="http://schemas.microsoft.com/office/powerpoint/2010/main" val="239209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E7B650-2445-E34F-932F-6C0F6C303849}"/>
              </a:ext>
            </a:extLst>
          </p:cNvPr>
          <p:cNvSpPr>
            <a:spLocks noGrp="1"/>
          </p:cNvSpPr>
          <p:nvPr>
            <p:ph type="body" sz="quarter" idx="10"/>
          </p:nvPr>
        </p:nvSpPr>
        <p:spPr/>
        <p:txBody>
          <a:bodyPr/>
          <a:lstStyle/>
          <a:p>
            <a:r>
              <a:rPr lang="en-US" dirty="0"/>
              <a:t>Index data</a:t>
            </a:r>
          </a:p>
          <a:p>
            <a:pPr lvl="1"/>
            <a:r>
              <a:rPr lang="en-US" dirty="0"/>
              <a:t>Look at the indexes-”buckets”-on disk</a:t>
            </a:r>
          </a:p>
          <a:p>
            <a:r>
              <a:rPr lang="en-US" dirty="0"/>
              <a:t>Explore </a:t>
            </a:r>
            <a:r>
              <a:rPr lang="en-US"/>
              <a:t>a license</a:t>
            </a:r>
            <a:endParaRPr lang="en-US" dirty="0"/>
          </a:p>
          <a:p>
            <a:r>
              <a:rPr lang="en-US" dirty="0"/>
              <a:t>Add the homework data set</a:t>
            </a:r>
          </a:p>
          <a:p>
            <a:r>
              <a:rPr lang="en-US" dirty="0"/>
              <a:t>Install an app</a:t>
            </a:r>
          </a:p>
          <a:p>
            <a:pPr lvl="1"/>
            <a:r>
              <a:rPr lang="en-US" dirty="0"/>
              <a:t>Download and install an app</a:t>
            </a:r>
          </a:p>
          <a:p>
            <a:pPr lvl="1"/>
            <a:r>
              <a:rPr lang="en-US" dirty="0"/>
              <a:t>Look at the </a:t>
            </a:r>
            <a:r>
              <a:rPr lang="en-US" dirty="0">
                <a:latin typeface="Courier New" panose="02070309020205020404" pitchFamily="49" charset="0"/>
                <a:cs typeface="Courier New" panose="02070309020205020404" pitchFamily="49" charset="0"/>
              </a:rPr>
              <a:t>.conf </a:t>
            </a:r>
            <a:r>
              <a:rPr lang="en-US" dirty="0"/>
              <a:t>files</a:t>
            </a:r>
          </a:p>
        </p:txBody>
      </p:sp>
    </p:spTree>
    <p:extLst>
      <p:ext uri="{BB962C8B-B14F-4D97-AF65-F5344CB8AC3E}">
        <p14:creationId xmlns:p14="http://schemas.microsoft.com/office/powerpoint/2010/main" val="4105369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BCFF2A-3991-6642-A763-519BF1602221}"/>
              </a:ext>
            </a:extLst>
          </p:cNvPr>
          <p:cNvSpPr>
            <a:spLocks noGrp="1"/>
          </p:cNvSpPr>
          <p:nvPr>
            <p:ph type="body" sz="quarter" idx="10"/>
          </p:nvPr>
        </p:nvSpPr>
        <p:spPr/>
        <p:txBody>
          <a:bodyPr/>
          <a:lstStyle/>
          <a:p>
            <a:r>
              <a:rPr lang="en-US" dirty="0"/>
              <a:t>Splunk deployment topologies and when to use them</a:t>
            </a:r>
          </a:p>
          <a:p>
            <a:r>
              <a:rPr lang="en-US" dirty="0"/>
              <a:t>Indexes and storing data</a:t>
            </a:r>
          </a:p>
          <a:p>
            <a:r>
              <a:rPr lang="en-US" dirty="0"/>
              <a:t>Licensing</a:t>
            </a:r>
          </a:p>
          <a:p>
            <a:r>
              <a:rPr lang="en-US" dirty="0"/>
              <a:t>Extending Splunk with apps and add-ons</a:t>
            </a:r>
          </a:p>
          <a:p>
            <a:endParaRPr lang="en-US" dirty="0"/>
          </a:p>
        </p:txBody>
      </p:sp>
    </p:spTree>
    <p:extLst>
      <p:ext uri="{BB962C8B-B14F-4D97-AF65-F5344CB8AC3E}">
        <p14:creationId xmlns:p14="http://schemas.microsoft.com/office/powerpoint/2010/main" val="3433649973"/>
      </p:ext>
    </p:extLst>
  </p:cSld>
  <p:clrMapOvr>
    <a:masterClrMapping/>
  </p:clrMapOvr>
</p:sld>
</file>

<file path=ppt/theme/theme1.xml><?xml version="1.0" encoding="utf-8"?>
<a:theme xmlns:a="http://schemas.openxmlformats.org/drawingml/2006/main" name="Office Theme">
  <a:themeElements>
    <a:clrScheme name="SplunkCourses">
      <a:dk1>
        <a:srgbClr val="000000"/>
      </a:dk1>
      <a:lt1>
        <a:srgbClr val="FFFFFF"/>
      </a:lt1>
      <a:dk2>
        <a:srgbClr val="44546A"/>
      </a:dk2>
      <a:lt2>
        <a:srgbClr val="E7E6E6"/>
      </a:lt2>
      <a:accent1>
        <a:srgbClr val="2AB67B"/>
      </a:accent1>
      <a:accent2>
        <a:srgbClr val="11A7BB"/>
      </a:accent2>
      <a:accent3>
        <a:srgbClr val="10BC10"/>
      </a:accent3>
      <a:accent4>
        <a:srgbClr val="30ED30"/>
      </a:accent4>
      <a:accent5>
        <a:srgbClr val="47A024"/>
      </a:accent5>
      <a:accent6>
        <a:srgbClr val="FFD53C"/>
      </a:accent6>
      <a:hlink>
        <a:srgbClr val="57A392"/>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Template" id="{26A0C1B6-715F-AC44-BCED-62087F6A59BD}" vid="{34A612B6-9B41-6346-AAFA-9D125A4274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4232</TotalTime>
  <Words>3908</Words>
  <Application>Microsoft Office PowerPoint</Application>
  <PresentationFormat>Widescreen</PresentationFormat>
  <Paragraphs>433</Paragraphs>
  <Slides>39</Slides>
  <Notes>34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.Lucida Grande UI Regular</vt:lpstr>
      <vt:lpstr>Arial</vt:lpstr>
      <vt:lpstr>Calibri</vt:lpstr>
      <vt:lpstr>Courier New</vt:lpstr>
      <vt:lpstr>Oxygen</vt:lpstr>
      <vt:lpstr>Oxygen Mono</vt:lpstr>
      <vt:lpstr>proxima_nova</vt:lpstr>
      <vt:lpstr>Stone Sans</vt:lpstr>
      <vt:lpstr>Stone Sans Semi Bold</vt:lpstr>
      <vt:lpstr>Office Theme</vt:lpstr>
      <vt:lpstr>Deploying Splunk</vt:lpstr>
      <vt:lpstr>The Splunk Data Pipeline</vt:lpstr>
      <vt:lpstr>The Splunk Data Pipeline</vt:lpstr>
      <vt:lpstr>Deployment Models</vt:lpstr>
      <vt:lpstr>The Splunk Platform</vt:lpstr>
      <vt:lpstr>Splunk Enterprise Components</vt:lpstr>
      <vt:lpstr>Splunk Enterprise S1 Architecture</vt:lpstr>
      <vt:lpstr>Splunk Enterprise</vt:lpstr>
      <vt:lpstr>Splunk Enterprise C1 Architecture</vt:lpstr>
      <vt:lpstr>Splunk Enterprise</vt:lpstr>
      <vt:lpstr>Splunk Enterprise C3 Architecture</vt:lpstr>
      <vt:lpstr>Splunk Enterprise C3 Architecture</vt:lpstr>
      <vt:lpstr>Splunk Cloud Platform</vt:lpstr>
      <vt:lpstr>Splunk Cloud Platform Architecture</vt:lpstr>
      <vt:lpstr>Splunk Cloud Platform Architecture</vt:lpstr>
      <vt:lpstr>Subscription Types</vt:lpstr>
      <vt:lpstr>Apps in Splunk Cloud</vt:lpstr>
      <vt:lpstr>How Splunk Stores Data</vt:lpstr>
      <vt:lpstr>How Splunk Stores Data</vt:lpstr>
      <vt:lpstr>How Splunk Stores Data</vt:lpstr>
      <vt:lpstr>How Splunk Stores Data</vt:lpstr>
      <vt:lpstr>How Splunk Stores Data</vt:lpstr>
      <vt:lpstr>SmartStore</vt:lpstr>
      <vt:lpstr>Splunk Enterprise Licensing</vt:lpstr>
      <vt:lpstr>PowerPoint Presentation</vt:lpstr>
      <vt:lpstr>Volume-based Licensing</vt:lpstr>
      <vt:lpstr>Infrastructure Licensing</vt:lpstr>
      <vt:lpstr>Splunk Volume-based Licensing</vt:lpstr>
      <vt:lpstr>Which components need a license?</vt:lpstr>
      <vt:lpstr>License Pooling</vt:lpstr>
      <vt:lpstr>Splunk Licensing</vt:lpstr>
      <vt:lpstr>Configuration Files and Apps</vt:lpstr>
      <vt:lpstr>A Note on Configuration Files</vt:lpstr>
      <vt:lpstr>Configuration File Structure</vt:lpstr>
      <vt:lpstr>Splunk Apps</vt:lpstr>
      <vt:lpstr>Splunk Apps</vt:lpstr>
      <vt:lpstr>Splunk Apps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dc:title>
  <dc:creator>Adam Frisbee</dc:creator>
  <cp:lastModifiedBy>Adam Frisbee</cp:lastModifiedBy>
  <cp:revision>44</cp:revision>
  <dcterms:created xsi:type="dcterms:W3CDTF">2020-10-11T23:02:39Z</dcterms:created>
  <dcterms:modified xsi:type="dcterms:W3CDTF">2025-06-03T21:33:33Z</dcterms:modified>
</cp:coreProperties>
</file>