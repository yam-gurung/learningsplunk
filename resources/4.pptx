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56" r:id="rId2"/>
    <p:sldId id="261" r:id="rId3"/>
    <p:sldId id="268" r:id="rId4"/>
    <p:sldId id="259" r:id="rId5"/>
    <p:sldId id="264" r:id="rId6"/>
    <p:sldId id="270" r:id="rId7"/>
    <p:sldId id="258" r:id="rId8"/>
    <p:sldId id="278" r:id="rId9"/>
    <p:sldId id="275" r:id="rId10"/>
    <p:sldId id="276" r:id="rId11"/>
    <p:sldId id="279" r:id="rId12"/>
    <p:sldId id="280" r:id="rId13"/>
    <p:sldId id="277" r:id="rId14"/>
    <p:sldId id="281" r:id="rId15"/>
    <p:sldId id="265" r:id="rId16"/>
    <p:sldId id="282" r:id="rId17"/>
    <p:sldId id="271" r:id="rId18"/>
    <p:sldId id="283" r:id="rId19"/>
    <p:sldId id="263" r:id="rId20"/>
    <p:sldId id="273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7D82B8"/>
    <a:srgbClr val="E0C5DE"/>
    <a:srgbClr val="6B0504"/>
    <a:srgbClr val="47A025"/>
    <a:srgbClr val="A3320B"/>
    <a:srgbClr val="EF798A"/>
    <a:srgbClr val="19381F"/>
    <a:srgbClr val="D5E68D"/>
    <a:srgbClr val="2410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066"/>
    <p:restoredTop sz="93447" autoAdjust="0"/>
  </p:normalViewPr>
  <p:slideViewPr>
    <p:cSldViewPr snapToGrid="0" snapToObjects="1">
      <p:cViewPr varScale="1">
        <p:scale>
          <a:sx n="110" d="100"/>
          <a:sy n="110" d="100"/>
        </p:scale>
        <p:origin x="921" y="6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4328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A8F43A4-FDC7-5048-9C55-B37BF188CCA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951E4B-6168-4F44-A996-155693893D9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75306E-17AE-FE4F-A068-D358FBAB85E5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7A9D0F-028A-334F-9C4C-34044767110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43DBB5-5C5E-F34D-A707-4CC7FB08891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92CC26-50D2-4C45-80DF-B9D66A1C40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3562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9278B8-FC04-7344-BEE2-7F64D4B08259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6F332B-523F-114C-9A8D-1E7C723DC1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75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My lab is local to my machine and is built using Oracle’s Virtual Box, which is a free virtualization platform. As you can see, I have 5 virtual machines that are turned on or off depending on the demo I am recording. I have two Linux (Ubuntu) virtual machines that act as a Splunk search head and forwarder, as well as two Windows virtual machines that act as a Splunk search head and forwarder. I have a third Windows machine that acts as my Splunk Cloud forwarder. It is not required to build a lab in this class for you to be successful; you can be successful with a Splunk cloud platform search head.</a:t>
            </a:r>
          </a:p>
          <a:p>
            <a:endParaRPr lang="en-US" dirty="0"/>
          </a:p>
          <a:p>
            <a:r>
              <a:rPr lang="en-US" dirty="0"/>
              <a:t>Virtual box is free and you can download it at virtualbox.org</a:t>
            </a:r>
          </a:p>
          <a:p>
            <a:r>
              <a:rPr lang="en-US" dirty="0"/>
              <a:t>Almost all Linux distributions are free, and you can download them at their respective sites. I selected Ubuntu server for my distribution and you can download the ISO at Ubuntu.com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6F332B-523F-114C-9A8D-1E7C723DC18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7734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xagon 5">
            <a:extLst>
              <a:ext uri="{FF2B5EF4-FFF2-40B4-BE49-F238E27FC236}">
                <a16:creationId xmlns:a16="http://schemas.microsoft.com/office/drawing/2014/main" id="{45185DFC-FD8D-2644-BCD7-7AF03C438FAA}"/>
              </a:ext>
            </a:extLst>
          </p:cNvPr>
          <p:cNvSpPr/>
          <p:nvPr userDrawn="1"/>
        </p:nvSpPr>
        <p:spPr>
          <a:xfrm>
            <a:off x="12236193" y="0"/>
            <a:ext cx="9337837" cy="6857999"/>
          </a:xfrm>
          <a:prstGeom prst="hexagon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5586" t="-18948" r="-15162" b="1"/>
            </a:stretch>
          </a:blipFill>
          <a:ln>
            <a:noFill/>
            <a:prstDash val="sysDot"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49B2FF-0BA9-1D49-BBE6-716088BF8A89}"/>
              </a:ext>
            </a:extLst>
          </p:cNvPr>
          <p:cNvSpPr/>
          <p:nvPr userDrawn="1"/>
        </p:nvSpPr>
        <p:spPr>
          <a:xfrm>
            <a:off x="6389512" y="365125"/>
            <a:ext cx="4964288" cy="1325562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838200" y="2134689"/>
            <a:ext cx="5257800" cy="4358186"/>
          </a:xfrm>
        </p:spPr>
        <p:txBody>
          <a:bodyPr>
            <a:normAutofit/>
          </a:bodyPr>
          <a:lstStyle>
            <a:lvl1pPr marL="457200" indent="-457200">
              <a:buClr>
                <a:schemeClr val="accent2"/>
              </a:buClr>
              <a:buFont typeface=".Lucida Grande UI Regular"/>
              <a:buChar char="⇢"/>
              <a:defRPr sz="2800" baseline="0"/>
            </a:lvl1pPr>
            <a:lvl2pPr marL="457200" indent="0">
              <a:buClr>
                <a:schemeClr val="accent5"/>
              </a:buClr>
              <a:buFont typeface=".Lucida Grande UI Regular"/>
              <a:buNone/>
              <a:defRPr sz="2400"/>
            </a:lvl2pPr>
            <a:lvl3pPr marL="914400" indent="0">
              <a:buClr>
                <a:schemeClr val="accent5"/>
              </a:buClr>
              <a:buFont typeface=".Lucida Grande UI Regular"/>
              <a:buNone/>
              <a:defRPr sz="2000"/>
            </a:lvl3pPr>
            <a:lvl4pPr marL="1371600" indent="0">
              <a:buClr>
                <a:schemeClr val="accent5"/>
              </a:buClr>
              <a:buFont typeface=".Lucida Grande UI Regular"/>
              <a:buNone/>
              <a:defRPr sz="1800"/>
            </a:lvl4pPr>
            <a:lvl5pPr marL="2057400" indent="-228600">
              <a:buClr>
                <a:schemeClr val="accent5"/>
              </a:buClr>
              <a:buFont typeface=".Lucida Grande UI Regular"/>
              <a:buChar char="⇢"/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We are going to cover this</a:t>
            </a:r>
          </a:p>
          <a:p>
            <a:pPr lvl="0"/>
            <a:r>
              <a:rPr lang="en-US" dirty="0"/>
              <a:t>Then this</a:t>
            </a:r>
          </a:p>
          <a:p>
            <a:pPr lvl="0"/>
            <a:r>
              <a:rPr lang="en-US" dirty="0"/>
              <a:t>Then this</a:t>
            </a:r>
          </a:p>
          <a:p>
            <a:pPr lvl="0"/>
            <a:r>
              <a:rPr lang="en-US" dirty="0"/>
              <a:t>Then this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EE5D464-C157-3D43-8895-C0F6CE99D3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Section Overview</a:t>
            </a:r>
          </a:p>
        </p:txBody>
      </p:sp>
    </p:spTree>
    <p:extLst>
      <p:ext uri="{BB962C8B-B14F-4D97-AF65-F5344CB8AC3E}">
        <p14:creationId xmlns:p14="http://schemas.microsoft.com/office/powerpoint/2010/main" val="3692893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path" presetSubtype="0" accel="50000" fill="hold" grpId="0" nodeType="withEffect" p14:presetBounceEnd="50000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1.45833E-6 0 L -0.46953 0 " pathEditMode="relative" rAng="0" ptsTypes="AA" p14:bounceEnd="50000">
                                          <p:cBhvr>
                                            <p:cTn id="6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3477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" fill="hold">
                          <p:stCondLst>
                            <p:cond delay="indefinite"/>
                          </p:stCondLst>
                          <p:childTnLst>
                            <p:par>
                              <p:cTn id="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" presetID="1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" fill="hold">
                          <p:stCondLst>
                            <p:cond delay="indefinite"/>
                          </p:stCondLst>
                          <p:childTnLst>
                            <p:par>
                              <p:cTn id="1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" presetID="1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5" fill="hold">
                          <p:stCondLst>
                            <p:cond delay="indefinite"/>
                          </p:stCondLst>
                          <p:childTnLst>
                            <p:par>
                              <p:cTn id="1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7" presetID="1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9" fill="hold">
                          <p:stCondLst>
                            <p:cond delay="indefinite"/>
                          </p:stCondLst>
                          <p:childTnLst>
                            <p:par>
                              <p:cTn id="2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1" presetID="1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" grpId="0" animBg="1"/>
          <p:bldP spid="3" grpId="0" build="p">
            <p:tmplLst>
              <p:tmpl lvl="1">
                <p:tnLst>
                  <p:par>
                    <p:cTn presetID="1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path" presetSubtype="0" accel="5000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1.45833E-6 0 L -0.46953 0 " pathEditMode="relative" rAng="0" ptsTypes="AA">
                                          <p:cBhvr>
                                            <p:cTn id="6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3477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" fill="hold">
                          <p:stCondLst>
                            <p:cond delay="indefinite"/>
                          </p:stCondLst>
                          <p:childTnLst>
                            <p:par>
                              <p:cTn id="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" presetID="1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" fill="hold">
                          <p:stCondLst>
                            <p:cond delay="indefinite"/>
                          </p:stCondLst>
                          <p:childTnLst>
                            <p:par>
                              <p:cTn id="1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" presetID="1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5" fill="hold">
                          <p:stCondLst>
                            <p:cond delay="indefinite"/>
                          </p:stCondLst>
                          <p:childTnLst>
                            <p:par>
                              <p:cTn id="1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7" presetID="1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9" fill="hold">
                          <p:stCondLst>
                            <p:cond delay="indefinite"/>
                          </p:stCondLst>
                          <p:childTnLst>
                            <p:par>
                              <p:cTn id="2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1" presetID="1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" grpId="0" animBg="1"/>
          <p:bldP spid="3" grpId="0" build="p">
            <p:tmplLst>
              <p:tmpl lvl="1">
                <p:tnLst>
                  <p:par>
                    <p:cTn presetID="1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524000" y="1477107"/>
            <a:ext cx="9144000" cy="872197"/>
          </a:xfrm>
          <a:prstGeom prst="rect">
            <a:avLst/>
          </a:prstGeo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 dirty="0"/>
              <a:t>Sub-Section Header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3A140E-EBF5-7A4B-8F26-78545DCFFAC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© Adam Frisbee | @adam_frisbee | adamfrisbee.com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B7F3FD1-DEDA-C94C-8CD8-6A2A4BB95ACB}"/>
              </a:ext>
            </a:extLst>
          </p:cNvPr>
          <p:cNvCxnSpPr/>
          <p:nvPr userDrawn="1"/>
        </p:nvCxnSpPr>
        <p:spPr>
          <a:xfrm>
            <a:off x="-9542417" y="3004923"/>
            <a:ext cx="9270609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0664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-4.44444E-6 L 0.90247 -4.44444E-6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511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c 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C4113B4-52E1-CD47-B59C-0EA8A03F8EB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20000"/>
          </a:blip>
          <a:srcRect l="39550" t="38830" r="26135" b="9006"/>
          <a:stretch/>
        </p:blipFill>
        <p:spPr>
          <a:xfrm>
            <a:off x="9052560" y="-568446"/>
            <a:ext cx="3529263" cy="3577389"/>
          </a:xfrm>
          <a:prstGeom prst="rect">
            <a:avLst/>
          </a:prstGeom>
          <a:effectLst>
            <a:glow>
              <a:schemeClr val="accent1">
                <a:alpha val="40000"/>
              </a:schemeClr>
            </a:glow>
            <a:softEdge rad="800100"/>
          </a:effec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2084832"/>
            <a:ext cx="6170604" cy="3776218"/>
          </a:xfrm>
        </p:spPr>
        <p:txBody>
          <a:bodyPr/>
          <a:lstStyle>
            <a:lvl1pPr marL="457200" indent="-457200">
              <a:buClr>
                <a:schemeClr val="accent2"/>
              </a:buClr>
              <a:buFont typeface=".Lucida Grande UI Regular"/>
              <a:buChar char="⇢"/>
              <a:defRPr sz="3200"/>
            </a:lvl1pPr>
            <a:lvl2pPr marL="685800" indent="-228600">
              <a:buClr>
                <a:schemeClr val="accent5"/>
              </a:buClr>
              <a:buFont typeface=".Lucida Grande UI Regular"/>
              <a:buChar char="⇢"/>
              <a:defRPr sz="2800"/>
            </a:lvl2pPr>
            <a:lvl3pPr marL="1143000" indent="-228600">
              <a:buClr>
                <a:schemeClr val="accent5"/>
              </a:buClr>
              <a:buFont typeface=".Lucida Grande UI Regular"/>
              <a:buChar char="⇢"/>
              <a:defRPr sz="2400"/>
            </a:lvl3pPr>
            <a:lvl4pPr marL="1600200" indent="-228600">
              <a:buClr>
                <a:schemeClr val="accent5"/>
              </a:buClr>
              <a:buFont typeface=".Lucida Grande UI Regular"/>
              <a:buChar char="⇢"/>
              <a:defRPr sz="2000"/>
            </a:lvl4pPr>
            <a:lvl5pPr marL="2057400" indent="-228600">
              <a:buClr>
                <a:schemeClr val="accent5"/>
              </a:buClr>
              <a:buFont typeface=".Lucida Grande UI Regular"/>
              <a:buChar char="⇢"/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A30A5B5-0020-BB42-893C-E6C37B5BE895}"/>
              </a:ext>
            </a:extLst>
          </p:cNvPr>
          <p:cNvCxnSpPr>
            <a:cxnSpLocks/>
          </p:cNvCxnSpPr>
          <p:nvPr userDrawn="1"/>
        </p:nvCxnSpPr>
        <p:spPr>
          <a:xfrm>
            <a:off x="4834725" y="2081655"/>
            <a:ext cx="0" cy="3776217"/>
          </a:xfrm>
          <a:prstGeom prst="line">
            <a:avLst/>
          </a:prstGeom>
          <a:ln w="76200" cmpd="sng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21000">
                  <a:schemeClr val="accent1">
                    <a:lumMod val="45000"/>
                    <a:lumOff val="55000"/>
                  </a:schemeClr>
                </a:gs>
                <a:gs pos="100000">
                  <a:schemeClr val="accent2"/>
                </a:gs>
              </a:gsLst>
              <a:lin ang="5400000" scaled="1"/>
            </a:gradFill>
            <a:prstDash val="soli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3342FF9-AE25-164E-B043-7DAD33F21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© Adam Frisbee | @</a:t>
            </a:r>
            <a:r>
              <a:rPr lang="en-US" dirty="0" err="1"/>
              <a:t>adam_frisbee</a:t>
            </a:r>
            <a:r>
              <a:rPr lang="en-US" dirty="0"/>
              <a:t> | </a:t>
            </a:r>
            <a:r>
              <a:rPr lang="en-US" dirty="0" err="1"/>
              <a:t>adamfrisbee.com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D821982-96DC-1E44-B64E-37D09C08D6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Static picture left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7D8DEB00-7129-344B-901E-14506450694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8199" y="2190750"/>
            <a:ext cx="3705629" cy="366712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620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C4113B4-52E1-CD47-B59C-0EA8A03F8EB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20000"/>
          </a:blip>
          <a:srcRect l="39550" t="38830" r="26135" b="9006"/>
          <a:stretch/>
        </p:blipFill>
        <p:spPr>
          <a:xfrm>
            <a:off x="9052560" y="-568446"/>
            <a:ext cx="3529263" cy="3577389"/>
          </a:xfrm>
          <a:prstGeom prst="rect">
            <a:avLst/>
          </a:prstGeom>
          <a:effectLst>
            <a:glow>
              <a:schemeClr val="accent1">
                <a:alpha val="40000"/>
              </a:schemeClr>
            </a:glow>
            <a:softEdge rad="800100"/>
          </a:effec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2084832"/>
            <a:ext cx="6170604" cy="3776218"/>
          </a:xfrm>
        </p:spPr>
        <p:txBody>
          <a:bodyPr/>
          <a:lstStyle>
            <a:lvl1pPr marL="457200" indent="-457200">
              <a:buClr>
                <a:schemeClr val="accent2"/>
              </a:buClr>
              <a:buFont typeface=".Lucida Grande UI Regular"/>
              <a:buChar char="⇢"/>
              <a:defRPr sz="3200"/>
            </a:lvl1pPr>
            <a:lvl2pPr marL="685800" indent="-228600">
              <a:buClr>
                <a:schemeClr val="accent5"/>
              </a:buClr>
              <a:buFont typeface=".Lucida Grande UI Regular"/>
              <a:buChar char="⇢"/>
              <a:defRPr sz="2800"/>
            </a:lvl2pPr>
            <a:lvl3pPr marL="1143000" indent="-228600">
              <a:buClr>
                <a:schemeClr val="accent5"/>
              </a:buClr>
              <a:buFont typeface=".Lucida Grande UI Regular"/>
              <a:buChar char="⇢"/>
              <a:defRPr sz="2400"/>
            </a:lvl3pPr>
            <a:lvl4pPr marL="1600200" indent="-228600">
              <a:buClr>
                <a:schemeClr val="accent5"/>
              </a:buClr>
              <a:buFont typeface=".Lucida Grande UI Regular"/>
              <a:buChar char="⇢"/>
              <a:defRPr sz="2000"/>
            </a:lvl4pPr>
            <a:lvl5pPr marL="2057400" indent="-228600">
              <a:buClr>
                <a:schemeClr val="accent5"/>
              </a:buClr>
              <a:buFont typeface=".Lucida Grande UI Regular"/>
              <a:buChar char="⇢"/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285E7E6C-DA8B-1741-B77B-3ADC92A3B8D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09405" y="2084832"/>
            <a:ext cx="3829184" cy="377621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A30A5B5-0020-BB42-893C-E6C37B5BE895}"/>
              </a:ext>
            </a:extLst>
          </p:cNvPr>
          <p:cNvCxnSpPr>
            <a:cxnSpLocks/>
          </p:cNvCxnSpPr>
          <p:nvPr userDrawn="1"/>
        </p:nvCxnSpPr>
        <p:spPr>
          <a:xfrm>
            <a:off x="4808943" y="2084832"/>
            <a:ext cx="0" cy="3776217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3342FF9-AE25-164E-B043-7DAD33F21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© Adam Frisbee | @</a:t>
            </a:r>
            <a:r>
              <a:rPr lang="en-US" dirty="0" err="1"/>
              <a:t>adam_frisbee</a:t>
            </a:r>
            <a:r>
              <a:rPr lang="en-US" dirty="0"/>
              <a:t> | </a:t>
            </a:r>
            <a:r>
              <a:rPr lang="en-US" dirty="0" err="1"/>
              <a:t>adamfrisbee.com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D821982-96DC-1E44-B64E-37D09C08D6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Animated picture left</a:t>
            </a:r>
          </a:p>
        </p:txBody>
      </p:sp>
    </p:spTree>
    <p:extLst>
      <p:ext uri="{BB962C8B-B14F-4D97-AF65-F5344CB8AC3E}">
        <p14:creationId xmlns:p14="http://schemas.microsoft.com/office/powerpoint/2010/main" val="3287984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animMotion origin="layout" path="M 1.25E-6 3.33333E-6 L 0.02995 -0.0007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97" y="-46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10" grpId="0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mpa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Compare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388556" cy="4351338"/>
          </a:xfrm>
        </p:spPr>
        <p:txBody>
          <a:bodyPr/>
          <a:lstStyle>
            <a:lvl1pPr marL="457200" indent="-457200">
              <a:buClr>
                <a:schemeClr val="accent2"/>
              </a:buClr>
              <a:buFont typeface=".Lucida Grande UI Regular"/>
              <a:buChar char="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65242" y="1825625"/>
            <a:ext cx="4388557" cy="4351338"/>
          </a:xfrm>
        </p:spPr>
        <p:txBody>
          <a:bodyPr/>
          <a:lstStyle>
            <a:lvl1pPr marL="457200" indent="-457200">
              <a:buClr>
                <a:schemeClr val="accent2"/>
              </a:buClr>
              <a:buFont typeface=".Lucida Grande UI Regular"/>
              <a:buChar char="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2C271-3C7A-CD46-9649-E18133BDF37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© Adam Frisbee | @adam_frisbee | adamfrisbee.com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270307A-3FDF-4C4B-BE9C-8873BC596B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19287151">
            <a:off x="5087055" y="2845241"/>
            <a:ext cx="2017889" cy="2017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030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4" grpId="0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xag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riangle 10">
            <a:extLst>
              <a:ext uri="{FF2B5EF4-FFF2-40B4-BE49-F238E27FC236}">
                <a16:creationId xmlns:a16="http://schemas.microsoft.com/office/drawing/2014/main" id="{E31902E0-7BD6-E64C-B861-0D19CC300851}"/>
              </a:ext>
            </a:extLst>
          </p:cNvPr>
          <p:cNvSpPr/>
          <p:nvPr userDrawn="1"/>
        </p:nvSpPr>
        <p:spPr>
          <a:xfrm rot="10800000">
            <a:off x="4648200" y="857955"/>
            <a:ext cx="2895600" cy="2489200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latin typeface="Oxygen" panose="02000503000000000000" pitchFamily="2" charset="77"/>
            </a:endParaRPr>
          </a:p>
        </p:txBody>
      </p:sp>
      <p:sp>
        <p:nvSpPr>
          <p:cNvPr id="12" name="Triangle 11">
            <a:extLst>
              <a:ext uri="{FF2B5EF4-FFF2-40B4-BE49-F238E27FC236}">
                <a16:creationId xmlns:a16="http://schemas.microsoft.com/office/drawing/2014/main" id="{EC3E15BB-D533-C447-A206-ED6D67B1552A}"/>
              </a:ext>
            </a:extLst>
          </p:cNvPr>
          <p:cNvSpPr/>
          <p:nvPr userDrawn="1"/>
        </p:nvSpPr>
        <p:spPr>
          <a:xfrm rot="14434340">
            <a:off x="5829670" y="1554324"/>
            <a:ext cx="2895600" cy="2489200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Oxygen" panose="02000503000000000000" pitchFamily="2" charset="77"/>
            </a:endParaRPr>
          </a:p>
        </p:txBody>
      </p:sp>
      <p:sp>
        <p:nvSpPr>
          <p:cNvPr id="13" name="Triangle 12">
            <a:extLst>
              <a:ext uri="{FF2B5EF4-FFF2-40B4-BE49-F238E27FC236}">
                <a16:creationId xmlns:a16="http://schemas.microsoft.com/office/drawing/2014/main" id="{4AB5DFD3-C62D-2B44-98B8-4D0E06BFDA6F}"/>
              </a:ext>
            </a:extLst>
          </p:cNvPr>
          <p:cNvSpPr/>
          <p:nvPr userDrawn="1"/>
        </p:nvSpPr>
        <p:spPr>
          <a:xfrm rot="18026298">
            <a:off x="5812233" y="2905467"/>
            <a:ext cx="2895600" cy="248920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Oxygen" panose="02000503000000000000" pitchFamily="2" charset="77"/>
            </a:endParaRPr>
          </a:p>
        </p:txBody>
      </p:sp>
      <p:sp>
        <p:nvSpPr>
          <p:cNvPr id="14" name="Triangle 13">
            <a:extLst>
              <a:ext uri="{FF2B5EF4-FFF2-40B4-BE49-F238E27FC236}">
                <a16:creationId xmlns:a16="http://schemas.microsoft.com/office/drawing/2014/main" id="{1CD1EF5B-5CEE-A845-A4CC-BD24DAE72678}"/>
              </a:ext>
            </a:extLst>
          </p:cNvPr>
          <p:cNvSpPr/>
          <p:nvPr userDrawn="1"/>
        </p:nvSpPr>
        <p:spPr>
          <a:xfrm rot="7213277">
            <a:off x="3474516" y="1538403"/>
            <a:ext cx="2895600" cy="2489200"/>
          </a:xfrm>
          <a:prstGeom prst="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Oxygen" panose="02000503000000000000" pitchFamily="2" charset="77"/>
            </a:endParaRPr>
          </a:p>
        </p:txBody>
      </p:sp>
      <p:sp>
        <p:nvSpPr>
          <p:cNvPr id="15" name="Triangle 14">
            <a:extLst>
              <a:ext uri="{FF2B5EF4-FFF2-40B4-BE49-F238E27FC236}">
                <a16:creationId xmlns:a16="http://schemas.microsoft.com/office/drawing/2014/main" id="{ECA4BCC2-29D1-3741-9082-F7C1C6BA377A}"/>
              </a:ext>
            </a:extLst>
          </p:cNvPr>
          <p:cNvSpPr/>
          <p:nvPr userDrawn="1"/>
        </p:nvSpPr>
        <p:spPr>
          <a:xfrm rot="3611414">
            <a:off x="3455140" y="2903473"/>
            <a:ext cx="2895600" cy="2489200"/>
          </a:xfrm>
          <a:prstGeom prst="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Oxygen" panose="02000503000000000000" pitchFamily="2" charset="77"/>
            </a:endParaRPr>
          </a:p>
        </p:txBody>
      </p:sp>
      <p:sp>
        <p:nvSpPr>
          <p:cNvPr id="16" name="Triangle 15">
            <a:extLst>
              <a:ext uri="{FF2B5EF4-FFF2-40B4-BE49-F238E27FC236}">
                <a16:creationId xmlns:a16="http://schemas.microsoft.com/office/drawing/2014/main" id="{61B32392-5EAE-5C45-A548-AC25E1E18AF8}"/>
              </a:ext>
            </a:extLst>
          </p:cNvPr>
          <p:cNvSpPr/>
          <p:nvPr userDrawn="1"/>
        </p:nvSpPr>
        <p:spPr>
          <a:xfrm>
            <a:off x="4639998" y="3577545"/>
            <a:ext cx="2895600" cy="248920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latin typeface="Oxygen" panose="02000503000000000000" pitchFamily="2" charset="77"/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B5D361C-2F7C-854F-8069-08C8387E9B9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122143" y="1901100"/>
            <a:ext cx="914400" cy="1369854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F78D4A3C-D5F6-1640-BF6A-CB80808526C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22143" y="3700790"/>
            <a:ext cx="914400" cy="1369853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5pPr marL="182880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86A80EF7-4966-9E42-92FC-7A4D5080893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649862" y="4574498"/>
            <a:ext cx="947695" cy="1370571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5pPr marL="182880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A8181D33-8BDF-5D44-8704-773A99FE97A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143453" y="3660764"/>
            <a:ext cx="967487" cy="1409879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</a:t>
            </a:r>
            <a:r>
              <a:rPr lang="en-US" dirty="0" err="1"/>
              <a:t>stylesdit</a:t>
            </a:r>
            <a:r>
              <a:rPr lang="en-US" dirty="0"/>
              <a:t> Master text styles</a:t>
            </a:r>
          </a:p>
        </p:txBody>
      </p:sp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12FEC077-8CF0-6C45-8D19-B683AAEE5A58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212049" y="1901100"/>
            <a:ext cx="914400" cy="136044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23">
            <a:extLst>
              <a:ext uri="{FF2B5EF4-FFF2-40B4-BE49-F238E27FC236}">
                <a16:creationId xmlns:a16="http://schemas.microsoft.com/office/drawing/2014/main" id="{22B58768-355B-E545-88F7-DEE066DFDF1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5646222" y="1061967"/>
            <a:ext cx="914400" cy="136044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03069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3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9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0" grpId="0" build="p">
        <p:tmplLst>
          <p:tmpl lvl="1">
            <p:tnLst>
              <p:par>
                <p:cTn presetID="1" presetClass="entr" presetSubtype="0" fill="hold" nodeType="withEffect">
                  <p:stCondLst>
                    <p:cond delay="1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1" presetClass="entr" presetSubtype="0" fill="hold" nodeType="withEffect">
                  <p:stCondLst>
                    <p:cond delay="1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1" presetClass="entr" presetSubtype="0" fill="hold" nodeType="withEffect">
                  <p:stCondLst>
                    <p:cond delay="1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1" presetClass="entr" presetSubtype="0" fill="hold" nodeType="withEffect">
                  <p:stCondLst>
                    <p:cond delay="1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24" grpId="0" build="p">
        <p:tmplLst>
          <p:tmpl lvl="1">
            <p:tnLst>
              <p:par>
                <p:cTn presetID="1" presetClass="entr" presetSubtype="0" fill="hold" nodeType="withEffect">
                  <p:stCondLst>
                    <p:cond delay="1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17" grpId="0" build="p">
        <p:tmplLst>
          <p:tmpl lvl="1">
            <p:tnLst>
              <p:par>
                <p:cTn presetID="1" presetClass="entr" presetSubtype="0" fill="hold" nodeType="withEffect">
                  <p:stCondLst>
                    <p:cond delay="1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r Important Statement"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38000">
              <a:schemeClr val="accent2"/>
            </a:gs>
            <a:gs pos="76000">
              <a:schemeClr val="accent2">
                <a:lumMod val="20000"/>
                <a:lumOff val="80000"/>
              </a:schemeClr>
            </a:gs>
            <a:gs pos="62000">
              <a:schemeClr val="accent2">
                <a:lumMod val="40000"/>
                <a:lumOff val="60000"/>
              </a:schemeClr>
            </a:gs>
            <a:gs pos="90000">
              <a:schemeClr val="accent2">
                <a:lumMod val="50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8C181E-68C2-674D-B0F7-27F515BB252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© Adam Frisbee | @adam_frisbee | adamfrisbee.com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5365446-4B13-6043-A402-9D36961BC5B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41248" y="987552"/>
            <a:ext cx="10351008" cy="4700015"/>
          </a:xfrm>
        </p:spPr>
        <p:txBody>
          <a:bodyPr>
            <a:normAutofit/>
          </a:bodyPr>
          <a:lstStyle>
            <a:lvl1pPr marL="0" indent="0" algn="ctr">
              <a:buNone/>
              <a:defRPr sz="5400" b="1" i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Stone Sans" pitchFamily="2" charset="0"/>
              </a:defRPr>
            </a:lvl1pPr>
            <a:lvl2pPr marL="457200" indent="0">
              <a:buNone/>
              <a:defRPr sz="4800" b="1" i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Stone Sans Semi Bold" pitchFamily="2" charset="0"/>
              </a:defRPr>
            </a:lvl2pPr>
            <a:lvl3pPr marL="914400" indent="0">
              <a:buNone/>
              <a:defRPr sz="4400" b="1" i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Stone Sans Semi Bold" pitchFamily="2" charset="0"/>
              </a:defRPr>
            </a:lvl3pPr>
            <a:lvl4pPr marL="1371600" indent="0">
              <a:buNone/>
              <a:defRPr sz="4000" b="1" i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Stone Sans Semi Bold" pitchFamily="2" charset="0"/>
              </a:defRPr>
            </a:lvl4pPr>
            <a:lvl5pPr marL="1828800" indent="0">
              <a:buNone/>
              <a:defRPr sz="4000" b="1" i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Stone Sans Semi Bold" pitchFamily="2" charset="0"/>
              </a:defRPr>
            </a:lvl5pPr>
          </a:lstStyle>
          <a:p>
            <a:pPr lvl="0"/>
            <a:r>
              <a:rPr lang="en-US" dirty="0"/>
              <a:t>Quote or important statement</a:t>
            </a:r>
          </a:p>
        </p:txBody>
      </p:sp>
    </p:spTree>
    <p:extLst>
      <p:ext uri="{BB962C8B-B14F-4D97-AF65-F5344CB8AC3E}">
        <p14:creationId xmlns:p14="http://schemas.microsoft.com/office/powerpoint/2010/main" val="3982752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lternate Process 4">
            <a:extLst>
              <a:ext uri="{FF2B5EF4-FFF2-40B4-BE49-F238E27FC236}">
                <a16:creationId xmlns:a16="http://schemas.microsoft.com/office/drawing/2014/main" id="{4666EEEB-C914-A74E-86A1-6D8990F4D36F}"/>
              </a:ext>
            </a:extLst>
          </p:cNvPr>
          <p:cNvSpPr/>
          <p:nvPr userDrawn="1"/>
        </p:nvSpPr>
        <p:spPr>
          <a:xfrm>
            <a:off x="2327562" y="850034"/>
            <a:ext cx="3373582" cy="2189018"/>
          </a:xfrm>
          <a:prstGeom prst="flowChartAlternateProcess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Oxygen" panose="02000503000000000000" pitchFamily="2" charset="77"/>
            </a:endParaRPr>
          </a:p>
        </p:txBody>
      </p:sp>
      <p:sp>
        <p:nvSpPr>
          <p:cNvPr id="6" name="Alternate Process 5">
            <a:extLst>
              <a:ext uri="{FF2B5EF4-FFF2-40B4-BE49-F238E27FC236}">
                <a16:creationId xmlns:a16="http://schemas.microsoft.com/office/drawing/2014/main" id="{F463DE26-BBA2-E949-B1DF-9FEAA575A61B}"/>
              </a:ext>
            </a:extLst>
          </p:cNvPr>
          <p:cNvSpPr/>
          <p:nvPr userDrawn="1"/>
        </p:nvSpPr>
        <p:spPr>
          <a:xfrm>
            <a:off x="6096000" y="850034"/>
            <a:ext cx="3373582" cy="2189018"/>
          </a:xfrm>
          <a:prstGeom prst="flowChartAlternateProcess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Oxygen" panose="02000503000000000000" pitchFamily="2" charset="77"/>
            </a:endParaRPr>
          </a:p>
        </p:txBody>
      </p:sp>
      <p:sp>
        <p:nvSpPr>
          <p:cNvPr id="7" name="Alternate Process 6">
            <a:extLst>
              <a:ext uri="{FF2B5EF4-FFF2-40B4-BE49-F238E27FC236}">
                <a16:creationId xmlns:a16="http://schemas.microsoft.com/office/drawing/2014/main" id="{AA7FC81F-033C-2F42-93DF-9E1DEC14944E}"/>
              </a:ext>
            </a:extLst>
          </p:cNvPr>
          <p:cNvSpPr/>
          <p:nvPr userDrawn="1"/>
        </p:nvSpPr>
        <p:spPr>
          <a:xfrm>
            <a:off x="2327562" y="3387436"/>
            <a:ext cx="3373582" cy="2189018"/>
          </a:xfrm>
          <a:prstGeom prst="flowChartAlternateProcess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Oxygen" panose="02000503000000000000" pitchFamily="2" charset="77"/>
            </a:endParaRPr>
          </a:p>
        </p:txBody>
      </p:sp>
      <p:sp>
        <p:nvSpPr>
          <p:cNvPr id="8" name="Alternate Process 7">
            <a:extLst>
              <a:ext uri="{FF2B5EF4-FFF2-40B4-BE49-F238E27FC236}">
                <a16:creationId xmlns:a16="http://schemas.microsoft.com/office/drawing/2014/main" id="{BA435837-85DE-2540-8C77-CD287F6E3F4B}"/>
              </a:ext>
            </a:extLst>
          </p:cNvPr>
          <p:cNvSpPr/>
          <p:nvPr userDrawn="1"/>
        </p:nvSpPr>
        <p:spPr>
          <a:xfrm>
            <a:off x="6096000" y="3429000"/>
            <a:ext cx="3373582" cy="2189018"/>
          </a:xfrm>
          <a:prstGeom prst="flowChartAlternateProcess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Oxygen" panose="02000503000000000000" pitchFamily="2" charset="77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C91DAC-3F4A-494B-A6AB-8E9DFAB9D3A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667125" y="986172"/>
            <a:ext cx="2742949" cy="1829217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C76BA22-3F87-DD49-B688-5E68CE02A06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414826" y="1006836"/>
            <a:ext cx="2735930" cy="187541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1BCAA612-59BE-5E45-98CB-F57F83E71DE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642816" y="3604563"/>
            <a:ext cx="2743074" cy="1837891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B9939F36-7AC5-974D-953E-FEEC0B20B31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414826" y="3636092"/>
            <a:ext cx="2743074" cy="1837891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28289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4" grpId="0" build="p">
        <p:tmplLst>
          <p:tmpl lvl="1">
            <p:tnLst>
              <p:par>
                <p:cTn presetID="1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1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12" grpId="0" build="p">
        <p:tmplLst>
          <p:tmpl lvl="1">
            <p:tnLst>
              <p:par>
                <p:cTn presetID="1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13" grpId="0" build="p">
        <p:tmplLst>
          <p:tmpl lvl="1">
            <p:tnLst>
              <p:par>
                <p:cTn presetID="1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lternate Process 4">
            <a:extLst>
              <a:ext uri="{FF2B5EF4-FFF2-40B4-BE49-F238E27FC236}">
                <a16:creationId xmlns:a16="http://schemas.microsoft.com/office/drawing/2014/main" id="{94528BF1-24A0-084B-8165-8471852AE3DD}"/>
              </a:ext>
            </a:extLst>
          </p:cNvPr>
          <p:cNvSpPr/>
          <p:nvPr userDrawn="1"/>
        </p:nvSpPr>
        <p:spPr>
          <a:xfrm>
            <a:off x="2303315" y="1040356"/>
            <a:ext cx="3373582" cy="2189018"/>
          </a:xfrm>
          <a:prstGeom prst="flowChartAlternateProcess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Font typeface="Arial" panose="020B0604020202020204" pitchFamily="34" charset="0"/>
              <a:buNone/>
            </a:pPr>
            <a:endParaRPr lang="en-US" dirty="0">
              <a:solidFill>
                <a:schemeClr val="bg1"/>
              </a:solidFill>
              <a:latin typeface="Oxygen" panose="02000503000000000000" pitchFamily="2" charset="77"/>
            </a:endParaRPr>
          </a:p>
        </p:txBody>
      </p:sp>
      <p:sp>
        <p:nvSpPr>
          <p:cNvPr id="6" name="Alternate Process 5">
            <a:extLst>
              <a:ext uri="{FF2B5EF4-FFF2-40B4-BE49-F238E27FC236}">
                <a16:creationId xmlns:a16="http://schemas.microsoft.com/office/drawing/2014/main" id="{A1D83379-1D56-6647-B550-DA8F051CA50A}"/>
              </a:ext>
            </a:extLst>
          </p:cNvPr>
          <p:cNvSpPr/>
          <p:nvPr userDrawn="1"/>
        </p:nvSpPr>
        <p:spPr>
          <a:xfrm>
            <a:off x="6199787" y="1017938"/>
            <a:ext cx="3373582" cy="2189018"/>
          </a:xfrm>
          <a:prstGeom prst="flowChartAlternateProcess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Font typeface="Arial" panose="020B0604020202020204" pitchFamily="34" charset="0"/>
              <a:buNone/>
            </a:pPr>
            <a:endParaRPr lang="en-US" dirty="0">
              <a:solidFill>
                <a:schemeClr val="tx1"/>
              </a:solidFill>
              <a:latin typeface="Oxygen" panose="02000503000000000000" pitchFamily="2" charset="77"/>
            </a:endParaRPr>
          </a:p>
        </p:txBody>
      </p:sp>
      <p:sp>
        <p:nvSpPr>
          <p:cNvPr id="8" name="Alternate Process 7">
            <a:extLst>
              <a:ext uri="{FF2B5EF4-FFF2-40B4-BE49-F238E27FC236}">
                <a16:creationId xmlns:a16="http://schemas.microsoft.com/office/drawing/2014/main" id="{0D5EAA7C-6739-4D4C-992C-FA10EB2F4BFB}"/>
              </a:ext>
            </a:extLst>
          </p:cNvPr>
          <p:cNvSpPr/>
          <p:nvPr userDrawn="1"/>
        </p:nvSpPr>
        <p:spPr>
          <a:xfrm>
            <a:off x="616524" y="3583421"/>
            <a:ext cx="3373582" cy="2189018"/>
          </a:xfrm>
          <a:prstGeom prst="flowChartAlternateProcess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Font typeface="Arial" panose="020B0604020202020204" pitchFamily="34" charset="0"/>
              <a:buNone/>
            </a:pPr>
            <a:endParaRPr lang="en-US" dirty="0">
              <a:latin typeface="Oxygen" panose="02000503000000000000" pitchFamily="2" charset="77"/>
            </a:endParaRPr>
          </a:p>
        </p:txBody>
      </p:sp>
      <p:sp>
        <p:nvSpPr>
          <p:cNvPr id="9" name="Alternate Process 8">
            <a:extLst>
              <a:ext uri="{FF2B5EF4-FFF2-40B4-BE49-F238E27FC236}">
                <a16:creationId xmlns:a16="http://schemas.microsoft.com/office/drawing/2014/main" id="{B4155194-9C9D-F442-B65D-B730CB78CA9C}"/>
              </a:ext>
            </a:extLst>
          </p:cNvPr>
          <p:cNvSpPr/>
          <p:nvPr userDrawn="1"/>
        </p:nvSpPr>
        <p:spPr>
          <a:xfrm>
            <a:off x="4384962" y="3624985"/>
            <a:ext cx="3373582" cy="2189018"/>
          </a:xfrm>
          <a:prstGeom prst="flowChartAlternateProcess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Font typeface="Arial" panose="020B0604020202020204" pitchFamily="34" charset="0"/>
              <a:buNone/>
            </a:pPr>
            <a:endParaRPr lang="en-US" dirty="0">
              <a:latin typeface="Oxygen" panose="02000503000000000000" pitchFamily="2" charset="77"/>
            </a:endParaRPr>
          </a:p>
        </p:txBody>
      </p:sp>
      <p:sp>
        <p:nvSpPr>
          <p:cNvPr id="10" name="Alternate Process 9">
            <a:extLst>
              <a:ext uri="{FF2B5EF4-FFF2-40B4-BE49-F238E27FC236}">
                <a16:creationId xmlns:a16="http://schemas.microsoft.com/office/drawing/2014/main" id="{AB548219-D065-ED4C-9301-CC61B321533C}"/>
              </a:ext>
            </a:extLst>
          </p:cNvPr>
          <p:cNvSpPr/>
          <p:nvPr userDrawn="1"/>
        </p:nvSpPr>
        <p:spPr>
          <a:xfrm>
            <a:off x="8153400" y="3646777"/>
            <a:ext cx="3373582" cy="2189018"/>
          </a:xfrm>
          <a:prstGeom prst="flowChartAlternateProcess">
            <a:avLst/>
          </a:prstGeom>
          <a:solidFill>
            <a:srgbClr val="7D82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Font typeface="Arial" panose="020B0604020202020204" pitchFamily="34" charset="0"/>
              <a:buNone/>
            </a:pPr>
            <a:endParaRPr lang="en-US" dirty="0">
              <a:solidFill>
                <a:schemeClr val="bg1"/>
              </a:solidFill>
              <a:latin typeface="Oxygen" panose="02000503000000000000" pitchFamily="2" charset="77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E35B505-D991-4043-AB16-9BFDB178D57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© Adam Frisbee | @adam_frisbee | adamfrisbee.com</a:t>
            </a:r>
            <a:endParaRPr lang="en-US" dirty="0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61C857C5-2E6E-CA45-8BAC-A34FD78F1BB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618631" y="1201471"/>
            <a:ext cx="2742949" cy="1829217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2DEE0D91-43F7-6A4E-BF91-92630B0E521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515103" y="1202851"/>
            <a:ext cx="2742949" cy="1829217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D670588A-10CD-E446-B90D-10F9497865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18963" y="3802864"/>
            <a:ext cx="2742949" cy="1829217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096BF265-C4FA-6B4D-9936-A99B910A7E7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00277" y="3827312"/>
            <a:ext cx="2742949" cy="1829217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57EA36B0-A5DC-E14B-8B5C-72944CEF1A48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456810" y="3826677"/>
            <a:ext cx="2742949" cy="1829217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25689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9" grpId="0" animBg="1"/>
      <p:bldP spid="10" grpId="0" animBg="1"/>
      <p:bldP spid="11" grpId="0" build="p">
        <p:tmplLst>
          <p:tmpl lvl="1">
            <p:tnLst>
              <p:par>
                <p:cTn presetID="1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12" grpId="0" build="p">
        <p:tmplLst>
          <p:tmpl lvl="1">
            <p:tnLst>
              <p:par>
                <p:cTn presetID="1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14" grpId="0" build="p">
        <p:tmplLst>
          <p:tmpl lvl="1">
            <p:tnLst>
              <p:par>
                <p:cTn presetID="1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1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16" grpId="0" build="p">
        <p:tmplLst>
          <p:tmpl lvl="1">
            <p:tnLst>
              <p:par>
                <p:cTn presetID="1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lternate Process 4">
            <a:extLst>
              <a:ext uri="{FF2B5EF4-FFF2-40B4-BE49-F238E27FC236}">
                <a16:creationId xmlns:a16="http://schemas.microsoft.com/office/drawing/2014/main" id="{94528BF1-24A0-084B-8165-8471852AE3DD}"/>
              </a:ext>
            </a:extLst>
          </p:cNvPr>
          <p:cNvSpPr/>
          <p:nvPr userDrawn="1"/>
        </p:nvSpPr>
        <p:spPr>
          <a:xfrm>
            <a:off x="616524" y="1046019"/>
            <a:ext cx="3373582" cy="2189018"/>
          </a:xfrm>
          <a:prstGeom prst="flowChartAlternateProcess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Font typeface="Arial" panose="020B0604020202020204" pitchFamily="34" charset="0"/>
              <a:buNone/>
            </a:pPr>
            <a:endParaRPr lang="en-US" dirty="0">
              <a:solidFill>
                <a:schemeClr val="bg1"/>
              </a:solidFill>
              <a:latin typeface="Oxygen" panose="02000503000000000000" pitchFamily="2" charset="77"/>
            </a:endParaRPr>
          </a:p>
        </p:txBody>
      </p:sp>
      <p:sp>
        <p:nvSpPr>
          <p:cNvPr id="6" name="Alternate Process 5">
            <a:extLst>
              <a:ext uri="{FF2B5EF4-FFF2-40B4-BE49-F238E27FC236}">
                <a16:creationId xmlns:a16="http://schemas.microsoft.com/office/drawing/2014/main" id="{A1D83379-1D56-6647-B550-DA8F051CA50A}"/>
              </a:ext>
            </a:extLst>
          </p:cNvPr>
          <p:cNvSpPr/>
          <p:nvPr userDrawn="1"/>
        </p:nvSpPr>
        <p:spPr>
          <a:xfrm>
            <a:off x="4384962" y="1046019"/>
            <a:ext cx="3373582" cy="2189018"/>
          </a:xfrm>
          <a:prstGeom prst="flowChartAlternateProcess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Font typeface="Arial" panose="020B0604020202020204" pitchFamily="34" charset="0"/>
              <a:buNone/>
            </a:pPr>
            <a:endParaRPr lang="en-US" dirty="0">
              <a:solidFill>
                <a:schemeClr val="tx1"/>
              </a:solidFill>
              <a:latin typeface="Oxygen" panose="02000503000000000000" pitchFamily="2" charset="77"/>
            </a:endParaRPr>
          </a:p>
        </p:txBody>
      </p:sp>
      <p:sp>
        <p:nvSpPr>
          <p:cNvPr id="7" name="Alternate Process 6">
            <a:extLst>
              <a:ext uri="{FF2B5EF4-FFF2-40B4-BE49-F238E27FC236}">
                <a16:creationId xmlns:a16="http://schemas.microsoft.com/office/drawing/2014/main" id="{1DC68079-980D-2D49-84FF-E58DD0653228}"/>
              </a:ext>
            </a:extLst>
          </p:cNvPr>
          <p:cNvSpPr/>
          <p:nvPr userDrawn="1"/>
        </p:nvSpPr>
        <p:spPr>
          <a:xfrm>
            <a:off x="8153400" y="1046019"/>
            <a:ext cx="3373582" cy="2189018"/>
          </a:xfrm>
          <a:prstGeom prst="flowChartAlternateProcess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Font typeface="Arial" panose="020B0604020202020204" pitchFamily="34" charset="0"/>
              <a:buNone/>
            </a:pPr>
            <a:endParaRPr lang="en-US" dirty="0">
              <a:solidFill>
                <a:schemeClr val="tx1"/>
              </a:solidFill>
              <a:latin typeface="Oxygen" panose="02000503000000000000" pitchFamily="2" charset="77"/>
            </a:endParaRPr>
          </a:p>
        </p:txBody>
      </p:sp>
      <p:sp>
        <p:nvSpPr>
          <p:cNvPr id="8" name="Alternate Process 7">
            <a:extLst>
              <a:ext uri="{FF2B5EF4-FFF2-40B4-BE49-F238E27FC236}">
                <a16:creationId xmlns:a16="http://schemas.microsoft.com/office/drawing/2014/main" id="{0D5EAA7C-6739-4D4C-992C-FA10EB2F4BFB}"/>
              </a:ext>
            </a:extLst>
          </p:cNvPr>
          <p:cNvSpPr/>
          <p:nvPr userDrawn="1"/>
        </p:nvSpPr>
        <p:spPr>
          <a:xfrm>
            <a:off x="616524" y="3583421"/>
            <a:ext cx="3373582" cy="2189018"/>
          </a:xfrm>
          <a:prstGeom prst="flowChartAlternateProcess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Font typeface="Arial" panose="020B0604020202020204" pitchFamily="34" charset="0"/>
              <a:buNone/>
            </a:pPr>
            <a:endParaRPr lang="en-US" dirty="0">
              <a:latin typeface="Oxygen" panose="02000503000000000000" pitchFamily="2" charset="77"/>
            </a:endParaRPr>
          </a:p>
        </p:txBody>
      </p:sp>
      <p:sp>
        <p:nvSpPr>
          <p:cNvPr id="9" name="Alternate Process 8">
            <a:extLst>
              <a:ext uri="{FF2B5EF4-FFF2-40B4-BE49-F238E27FC236}">
                <a16:creationId xmlns:a16="http://schemas.microsoft.com/office/drawing/2014/main" id="{B4155194-9C9D-F442-B65D-B730CB78CA9C}"/>
              </a:ext>
            </a:extLst>
          </p:cNvPr>
          <p:cNvSpPr/>
          <p:nvPr userDrawn="1"/>
        </p:nvSpPr>
        <p:spPr>
          <a:xfrm>
            <a:off x="4384962" y="3624985"/>
            <a:ext cx="3373582" cy="2189018"/>
          </a:xfrm>
          <a:prstGeom prst="flowChartAlternateProcess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Font typeface="Arial" panose="020B0604020202020204" pitchFamily="34" charset="0"/>
              <a:buNone/>
            </a:pPr>
            <a:endParaRPr lang="en-US" dirty="0">
              <a:latin typeface="Oxygen" panose="02000503000000000000" pitchFamily="2" charset="77"/>
            </a:endParaRPr>
          </a:p>
        </p:txBody>
      </p:sp>
      <p:sp>
        <p:nvSpPr>
          <p:cNvPr id="10" name="Alternate Process 9">
            <a:extLst>
              <a:ext uri="{FF2B5EF4-FFF2-40B4-BE49-F238E27FC236}">
                <a16:creationId xmlns:a16="http://schemas.microsoft.com/office/drawing/2014/main" id="{AB548219-D065-ED4C-9301-CC61B321533C}"/>
              </a:ext>
            </a:extLst>
          </p:cNvPr>
          <p:cNvSpPr/>
          <p:nvPr userDrawn="1"/>
        </p:nvSpPr>
        <p:spPr>
          <a:xfrm>
            <a:off x="8153400" y="3646777"/>
            <a:ext cx="3373582" cy="2189018"/>
          </a:xfrm>
          <a:prstGeom prst="flowChartAlternateProcess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Font typeface="Arial" panose="020B0604020202020204" pitchFamily="34" charset="0"/>
              <a:buNone/>
            </a:pPr>
            <a:endParaRPr lang="en-US" dirty="0">
              <a:solidFill>
                <a:schemeClr val="bg1"/>
              </a:solidFill>
              <a:latin typeface="Oxygen" panose="02000503000000000000" pitchFamily="2" charset="77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E35B505-D991-4043-AB16-9BFDB178D57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© Adam Frisbee | @adam_frisbee | adamfrisbee.com</a:t>
            </a:r>
            <a:endParaRPr lang="en-US" dirty="0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61C857C5-2E6E-CA45-8BAC-A34FD78F1BB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31840" y="1225919"/>
            <a:ext cx="2742949" cy="1829217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2DEE0D91-43F7-6A4E-BF91-92630B0E521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00278" y="1225919"/>
            <a:ext cx="2742949" cy="1829217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63793AE6-AD07-F145-8E5E-7F61BE48EA8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68716" y="1225918"/>
            <a:ext cx="2742949" cy="1829217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D670588A-10CD-E446-B90D-10F9497865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18963" y="3802864"/>
            <a:ext cx="2742949" cy="1829217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096BF265-C4FA-6B4D-9936-A99B910A7E7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00277" y="3827312"/>
            <a:ext cx="2742949" cy="1829217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57EA36B0-A5DC-E14B-8B5C-72944CEF1A48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456810" y="3826677"/>
            <a:ext cx="2742949" cy="1829217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54308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build="p">
        <p:tmplLst>
          <p:tmpl lvl="1">
            <p:tnLst>
              <p:par>
                <p:cTn presetID="1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12" grpId="0" build="p">
        <p:tmplLst>
          <p:tmpl lvl="1">
            <p:tnLst>
              <p:par>
                <p:cTn presetID="1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13" grpId="0" build="p">
        <p:tmplLst>
          <p:tmpl lvl="1">
            <p:tnLst>
              <p:par>
                <p:cTn presetID="1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14" grpId="0" build="p">
        <p:tmplLst>
          <p:tmpl lvl="1">
            <p:tnLst>
              <p:par>
                <p:cTn presetID="1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1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16" grpId="0" build="p">
        <p:tmplLst>
          <p:tmpl lvl="1">
            <p:tnLst>
              <p:par>
                <p:cTn presetID="1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40993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7DAB57A-5E76-4046-B847-5471D0283A8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85714" y="5084118"/>
            <a:ext cx="1050776" cy="15116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266A70D-49CF-084A-801F-3D7D157C7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31982" y="588513"/>
            <a:ext cx="9329614" cy="5113788"/>
          </a:xfrm>
          <a:prstGeom prst="rect">
            <a:avLst/>
          </a:prstGeom>
        </p:spPr>
      </p:pic>
      <p:sp>
        <p:nvSpPr>
          <p:cNvPr id="12" name="Right Arrow 11">
            <a:extLst>
              <a:ext uri="{FF2B5EF4-FFF2-40B4-BE49-F238E27FC236}">
                <a16:creationId xmlns:a16="http://schemas.microsoft.com/office/drawing/2014/main" id="{AC669AC9-358B-6F43-95BF-4C1B76F4AD42}"/>
              </a:ext>
            </a:extLst>
          </p:cNvPr>
          <p:cNvSpPr/>
          <p:nvPr userDrawn="1"/>
        </p:nvSpPr>
        <p:spPr>
          <a:xfrm rot="14242546">
            <a:off x="6937534" y="4067166"/>
            <a:ext cx="641131" cy="484632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02EA07-87FF-8342-BF5D-2C4CA89A01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89099" y="1117600"/>
            <a:ext cx="6751516" cy="3708400"/>
          </a:xfrm>
        </p:spPr>
        <p:txBody>
          <a:bodyPr/>
          <a:lstStyle/>
          <a:p>
            <a:pPr lvl="0"/>
            <a:r>
              <a:rPr lang="en-US" dirty="0"/>
              <a:t>In this demo, we will</a:t>
            </a:r>
          </a:p>
          <a:p>
            <a:pPr lvl="1"/>
            <a:r>
              <a:rPr lang="en-US" dirty="0"/>
              <a:t>Do this</a:t>
            </a:r>
          </a:p>
          <a:p>
            <a:pPr lvl="1"/>
            <a:r>
              <a:rPr lang="en-US" dirty="0"/>
              <a:t>Then we will do this</a:t>
            </a:r>
          </a:p>
          <a:p>
            <a:pPr lvl="1"/>
            <a:r>
              <a:rPr lang="en-US" dirty="0"/>
              <a:t>Then we will do this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C263BEA-0CAD-9B41-9F53-790FCB1C0629}"/>
              </a:ext>
            </a:extLst>
          </p:cNvPr>
          <p:cNvSpPr txBox="1"/>
          <p:nvPr userDrawn="1"/>
        </p:nvSpPr>
        <p:spPr>
          <a:xfrm>
            <a:off x="9314289" y="-1107996"/>
            <a:ext cx="2877711" cy="1107996"/>
          </a:xfrm>
          <a:prstGeom prst="rect">
            <a:avLst/>
          </a:prstGeom>
          <a:noFill/>
          <a:effectLst>
            <a:outerShdw blurRad="50800" dist="114300" dir="7020000" algn="t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1" i="0" u="none" strike="noStrike" kern="1200" cap="none" spc="0" normalizeH="0" baseline="0" noProof="0" dirty="0">
                <a:ln w="38100"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Stone Sans" pitchFamily="2" charset="0"/>
                <a:ea typeface="+mn-ea"/>
                <a:cs typeface="+mn-cs"/>
              </a:rPr>
              <a:t>Demo</a:t>
            </a:r>
            <a:endParaRPr lang="en-US" b="1" dirty="0">
              <a:ln w="38100">
                <a:solidFill>
                  <a:sysClr val="windowText" lastClr="000000"/>
                </a:solidFill>
              </a:ln>
              <a:solidFill>
                <a:schemeClr val="bg1"/>
              </a:solidFill>
              <a:latin typeface="Stone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2492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25 -0.01273 C -0.03086 -0.06296 -0.06485 -0.11319 -0.07604 -0.16643 C -0.08711 -0.21991 -0.06354 -0.3331 -0.06354 -0.3331 L -0.06354 -0.3331 " pathEditMode="relative" ptsTypes="AAAA">
                                      <p:cBhvr>
                                        <p:cTn id="14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-2.96296E-6 L -0.0862 0.29607 " pathEditMode="relative" rAng="0" ptsTypes="AA">
                                      <p:cBhvr>
                                        <p:cTn id="1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10" y="14792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7.40741E-7 C -0.1108 -0.00208 -0.22148 -0.00417 -0.29218 -0.05995 C -0.36302 -0.11597 -0.42474 -0.33565 -0.42474 -0.33542 L -0.42474 -0.33565 L -0.43073 -0.34491 " pathEditMode="relative" rAng="0" ptsTypes="AAAAA">
                                      <p:cBhvr>
                                        <p:cTn id="18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536" y="-1724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  <p:bldP spid="12" grpId="2" animBg="1"/>
      <p:bldP spid="15" grpId="0" build="p">
        <p:tmplLst>
          <p:tmpl lvl="1">
            <p:tnLst>
              <p:par>
                <p:cTn presetID="9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9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9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9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9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/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DDA3064-0BC5-6341-8693-FA38D47F55EF}"/>
              </a:ext>
            </a:extLst>
          </p:cNvPr>
          <p:cNvSpPr/>
          <p:nvPr userDrawn="1"/>
        </p:nvSpPr>
        <p:spPr>
          <a:xfrm>
            <a:off x="7260771" y="-6858000"/>
            <a:ext cx="493122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1AF0E62-349B-044C-9C39-448784C3EF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0932" y="1429521"/>
            <a:ext cx="6352382" cy="3253661"/>
          </a:xfrm>
        </p:spPr>
        <p:txBody>
          <a:bodyPr/>
          <a:lstStyle>
            <a:lvl1pPr marL="457200" indent="-457200">
              <a:buClr>
                <a:schemeClr val="accent2"/>
              </a:buClr>
              <a:buFont typeface=".Lucida Grande UI Regular"/>
              <a:buChar char="⇢"/>
              <a:defRPr/>
            </a:lvl1pPr>
            <a:lvl6pPr marL="2286000" indent="0">
              <a:buNone/>
              <a:defRPr/>
            </a:lvl6pPr>
          </a:lstStyle>
          <a:p>
            <a:pPr lvl="0"/>
            <a:r>
              <a:rPr lang="en-US" dirty="0"/>
              <a:t>We did this</a:t>
            </a:r>
          </a:p>
          <a:p>
            <a:pPr lvl="1"/>
            <a:r>
              <a:rPr lang="en-US" dirty="0"/>
              <a:t>You learned this</a:t>
            </a:r>
          </a:p>
          <a:p>
            <a:pPr lvl="1"/>
            <a:r>
              <a:rPr lang="en-US" dirty="0"/>
              <a:t>And this</a:t>
            </a:r>
          </a:p>
          <a:p>
            <a:pPr lvl="1"/>
            <a:r>
              <a:rPr lang="en-US" dirty="0"/>
              <a:t>And this</a:t>
            </a:r>
          </a:p>
          <a:p>
            <a:pPr lvl="0"/>
            <a:r>
              <a:rPr lang="en-US" dirty="0"/>
              <a:t>Then we did this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4DAB06-EA61-1C4D-A7BF-71FBA7E00114}"/>
              </a:ext>
            </a:extLst>
          </p:cNvPr>
          <p:cNvSpPr txBox="1"/>
          <p:nvPr userDrawn="1"/>
        </p:nvSpPr>
        <p:spPr>
          <a:xfrm>
            <a:off x="570932" y="529389"/>
            <a:ext cx="242085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Stone Sans" pitchFamily="2" charset="0"/>
              </a:rPr>
              <a:t>Summary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10A892F-3493-CB44-922C-0256F802AD6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biLevel thresh="25000"/>
          </a:blip>
          <a:srcRect l="16200" t="6888" r="19901" b="6517"/>
          <a:stretch/>
        </p:blipFill>
        <p:spPr>
          <a:xfrm>
            <a:off x="7928126" y="883332"/>
            <a:ext cx="3596517" cy="4874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537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0 L 0.00221 1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4" y="500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uiExpand="1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F9B55F9A-D3D4-D042-B158-D3D578A5A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9443153-ACD1-A540-900E-174F275D55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© Adam Frisbee, </a:t>
            </a:r>
            <a:r>
              <a:rPr lang="en-US" dirty="0" err="1"/>
              <a:t>adamfrisbee.com</a:t>
            </a:r>
            <a:r>
              <a:rPr lang="en-US" dirty="0"/>
              <a:t>, @</a:t>
            </a:r>
            <a:r>
              <a:rPr lang="en-US" dirty="0" err="1"/>
              <a:t>adam_frisbee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1239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49" r:id="rId2"/>
    <p:sldLayoutId id="2147483666" r:id="rId3"/>
    <p:sldLayoutId id="2147483659" r:id="rId4"/>
    <p:sldLayoutId id="2147483652" r:id="rId5"/>
    <p:sldLayoutId id="2147483655" r:id="rId6"/>
    <p:sldLayoutId id="2147483662" r:id="rId7"/>
    <p:sldLayoutId id="2147483658" r:id="rId8"/>
    <p:sldLayoutId id="2147483667" r:id="rId9"/>
    <p:sldLayoutId id="2147483657" r:id="rId10"/>
    <p:sldLayoutId id="2147483660" r:id="rId11"/>
    <p:sldLayoutId id="2147483664" r:id="rId12"/>
    <p:sldLayoutId id="2147483665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Stone Sans" pitchFamily="2" charset="0"/>
          <a:ea typeface="+mj-ea"/>
          <a:cs typeface="+mj-cs"/>
        </a:defRPr>
      </a:lvl1pPr>
    </p:titleStyle>
    <p:bodyStyle>
      <a:lvl1pPr marL="457200" indent="-4572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.Lucida Grande UI Regular"/>
        <a:buChar char="⇢"/>
        <a:defRPr sz="2800" kern="1200">
          <a:solidFill>
            <a:schemeClr val="tx1"/>
          </a:solidFill>
          <a:latin typeface="Oxygen" panose="02000503000000000000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5"/>
        </a:buClr>
        <a:buFont typeface=".Lucida Grande UI Regular"/>
        <a:buChar char="⇢"/>
        <a:defRPr sz="2400" kern="1200">
          <a:solidFill>
            <a:schemeClr val="tx1"/>
          </a:solidFill>
          <a:latin typeface="Oxygen" panose="02000503000000000000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5"/>
        </a:buClr>
        <a:buFont typeface=".Lucida Grande UI Regular"/>
        <a:buChar char="⇢"/>
        <a:defRPr sz="2000" kern="1200">
          <a:solidFill>
            <a:schemeClr val="tx1"/>
          </a:solidFill>
          <a:latin typeface="Oxygen" panose="02000503000000000000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5"/>
        </a:buClr>
        <a:buFont typeface=".Lucida Grande UI Regular"/>
        <a:buChar char="⇢"/>
        <a:defRPr sz="1800" kern="1200">
          <a:solidFill>
            <a:schemeClr val="tx1"/>
          </a:solidFill>
          <a:latin typeface="Oxygen" panose="02000503000000000000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5"/>
        </a:buClr>
        <a:buFont typeface=".Lucida Grande UI Regular"/>
        <a:buChar char="⇢"/>
        <a:defRPr sz="1800" kern="1200">
          <a:solidFill>
            <a:schemeClr val="tx1"/>
          </a:solidFill>
          <a:latin typeface="Oxygen" panose="02000503000000000000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splunk.com/Documentation/Splunk/latest/Installation/InstallonLinux" TargetMode="Externa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splunk.com/Documentation/Splunk/9.4.2/Installation/InstallonMacOS" TargetMode="Externa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splunk.com/Documentation/Forwarder/latest/Forwarder/Installanixuniversalforwarder" TargetMode="Externa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splunk.com/Documentation/Forwarder/9.4.0/Forwarder/InstallaWindowsuniversalforwarderfromaninstaller" TargetMode="Externa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splunk.com/Documentation/Forwarder/9.2.1/Forwarder/ConfigSCUFCredentials" TargetMode="Externa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A7C5485-6A45-8D49-97A1-B99133C9CF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Create a lab with me!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Download and install a </a:t>
            </a:r>
            <a:r>
              <a:rPr lang="en-US" i="1" dirty="0"/>
              <a:t>hypervisor</a:t>
            </a:r>
            <a:r>
              <a:rPr lang="en-US" dirty="0"/>
              <a:t> (Virtual Box)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Download a Linux image (Ubuntu Server)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Install and configure Ubuntu on the virtual machine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Download and install Putty (for Windows users)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Clone the virtual machine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Download a Microsoft Windows image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Create a Windows virtual machine</a:t>
            </a:r>
          </a:p>
          <a:p>
            <a:r>
              <a:rPr lang="en-US" dirty="0"/>
              <a:t>Download and install Splunk on the virtual machines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The first Linux machine will act as the Search Head / Indexer combination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The second Linux (cloned) machine will act as a Heavy Forwarder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The third machine (Windows) will serve various purposes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We will also install Splunk on a Mac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1A7BB"/>
              </a:buClr>
              <a:buSzTx/>
              <a:buFont typeface=".Lucida Grande UI Regular"/>
              <a:buChar char="⇢"/>
              <a:tabLst/>
              <a:defRPr/>
            </a:pPr>
            <a:r>
              <a:rPr lang="en-US" sz="2700" dirty="0">
                <a:solidFill>
                  <a:srgbClr val="000000"/>
                </a:solidFill>
              </a:rPr>
              <a:t>Heavy forwarders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1A7BB"/>
              </a:buClr>
              <a:buSzTx/>
              <a:buFont typeface=".Lucida Grande UI Regular"/>
              <a:buChar char="⇢"/>
              <a:tabLst/>
              <a:defRPr/>
            </a:pP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xygen" panose="02000503000000000000" pitchFamily="2" charset="77"/>
                <a:ea typeface="+mn-ea"/>
                <a:cs typeface="+mn-cs"/>
              </a:rPr>
              <a:t>Universal forwarders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8C57CE4-C061-0543-AB12-F7C496D36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Installing Splunk</a:t>
            </a:r>
          </a:p>
        </p:txBody>
      </p:sp>
    </p:spTree>
    <p:extLst>
      <p:ext uri="{BB962C8B-B14F-4D97-AF65-F5344CB8AC3E}">
        <p14:creationId xmlns:p14="http://schemas.microsoft.com/office/powerpoint/2010/main" val="10462598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D0BA2384-2B65-2AC2-176C-7B3794AF46C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Stone Sans" pitchFamily="2" charset="0"/>
                <a:ea typeface="+mj-ea"/>
                <a:cs typeface="+mj-cs"/>
              </a:defRPr>
            </a:lvl1pPr>
          </a:lstStyle>
          <a:p>
            <a:r>
              <a:rPr lang="en-US"/>
              <a:t>My Lab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AEFD99-D2E8-DF71-1B85-3654D99357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338265"/>
            <a:ext cx="10034337" cy="5043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016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1D294-72B6-6725-26C7-082D5797BA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Installing Splunk in Linux</a:t>
            </a:r>
          </a:p>
        </p:txBody>
      </p:sp>
    </p:spTree>
    <p:extLst>
      <p:ext uri="{BB962C8B-B14F-4D97-AF65-F5344CB8AC3E}">
        <p14:creationId xmlns:p14="http://schemas.microsoft.com/office/powerpoint/2010/main" val="126531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5AC31D9-72FE-5845-BDB6-6A66951072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Splunk offers a few Linux install options</a:t>
            </a:r>
          </a:p>
          <a:p>
            <a:r>
              <a:rPr lang="en-US" dirty="0">
                <a:latin typeface="Oxygen" panose="02000503000000000000" pitchFamily="2" charset="0"/>
                <a:cs typeface="Courier New" panose="02070309020205020404" pitchFamily="49" charset="0"/>
              </a:rPr>
              <a:t>We will be using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tgz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Oxygen" panose="02000503000000000000" pitchFamily="2" charset="0"/>
                <a:cs typeface="Courier New" panose="02070309020205020404" pitchFamily="49" charset="0"/>
              </a:rPr>
              <a:t>file and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wget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Oxygen" panose="02000503000000000000" pitchFamily="2" charset="0"/>
                <a:cs typeface="Courier New" panose="02070309020205020404" pitchFamily="49" charset="0"/>
              </a:rPr>
              <a:t>Extract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tgz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Oxygen" panose="02000503000000000000" pitchFamily="2" charset="0"/>
                <a:cs typeface="Courier New" panose="02070309020205020404" pitchFamily="49" charset="0"/>
              </a:rPr>
              <a:t>into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/opt</a:t>
            </a:r>
          </a:p>
          <a:p>
            <a:pPr lvl="1"/>
            <a:r>
              <a:rPr lang="en-US" dirty="0">
                <a:latin typeface="Oxygen" panose="02000503000000000000" pitchFamily="2" charset="0"/>
                <a:cs typeface="Courier New" panose="02070309020205020404" pitchFamily="49" charset="0"/>
              </a:rPr>
              <a:t>Start Splunk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A84FB6E-0B37-A742-9FAC-69B8C8C9E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Linux Search Head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329C9C2E-758C-1149-9623-EE34A81EAC48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2"/>
          <a:srcRect l="19326" t="17798" r="13725" b="15942"/>
          <a:stretch/>
        </p:blipFill>
        <p:spPr>
          <a:xfrm>
            <a:off x="838199" y="2190750"/>
            <a:ext cx="3705629" cy="3667122"/>
          </a:xfrm>
        </p:spPr>
      </p:pic>
    </p:spTree>
    <p:extLst>
      <p:ext uri="{BB962C8B-B14F-4D97-AF65-F5344CB8AC3E}">
        <p14:creationId xmlns:p14="http://schemas.microsoft.com/office/powerpoint/2010/main" val="2532093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D209AE0D-609D-9589-1C5E-5E66C0D446E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Stone Sans" pitchFamily="2" charset="0"/>
                <a:ea typeface="+mj-ea"/>
                <a:cs typeface="+mj-cs"/>
              </a:defRPr>
            </a:lvl1pPr>
          </a:lstStyle>
          <a:p>
            <a:r>
              <a:rPr lang="en-US" sz="4000" dirty="0"/>
              <a:t>Splunk Linux Search Head Details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ED6016-8BEF-80D6-04CE-1768258CFC04}"/>
              </a:ext>
            </a:extLst>
          </p:cNvPr>
          <p:cNvSpPr txBox="1"/>
          <p:nvPr/>
        </p:nvSpPr>
        <p:spPr>
          <a:xfrm>
            <a:off x="920706" y="1608083"/>
            <a:ext cx="10380017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400" dirty="0">
                <a:latin typeface="Oxygen" panose="02000503000000000000" pitchFamily="2" charset="0"/>
              </a:rPr>
              <a:t>Visit Splunk.com and click on “Trials and Downloads.” Log in with your account or create a new one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latin typeface="Oxygen" panose="02000503000000000000" pitchFamily="2" charset="0"/>
              </a:rPr>
              <a:t>Under “Splunk Enterprise” select “Get My Free Trial”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latin typeface="Oxygen" panose="02000503000000000000" pitchFamily="2" charset="0"/>
              </a:rPr>
              <a:t>Select the Linux tab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latin typeface="Oxygen" panose="02000503000000000000" pitchFamily="2" charset="0"/>
              </a:rPr>
              <a:t>Select “copy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wget</a:t>
            </a:r>
            <a:r>
              <a:rPr lang="en-US" sz="1400" dirty="0">
                <a:latin typeface="Oxygen" panose="02000503000000000000" pitchFamily="2" charset="0"/>
              </a:rPr>
              <a:t> link” for the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.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tgz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latin typeface="Oxygen" panose="02000503000000000000" pitchFamily="2" charset="0"/>
              </a:rPr>
              <a:t>file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latin typeface="Oxygen" panose="02000503000000000000" pitchFamily="2" charset="0"/>
              </a:rPr>
              <a:t>Paste the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wget</a:t>
            </a:r>
            <a:r>
              <a:rPr lang="en-US" sz="1400" dirty="0">
                <a:latin typeface="Oxygen" panose="02000503000000000000" pitchFamily="2" charset="0"/>
              </a:rPr>
              <a:t> string into your Linux command line, adding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sudo</a:t>
            </a:r>
            <a:r>
              <a:rPr lang="en-US" sz="1400" dirty="0">
                <a:latin typeface="Oxygen" panose="02000503000000000000" pitchFamily="2" charset="0"/>
              </a:rPr>
              <a:t> before it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sudo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wget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–O …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latin typeface="Oxygen" panose="02000503000000000000" pitchFamily="2" charset="0"/>
              </a:rPr>
              <a:t>Check whether the file was successfully downloaded using the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ls</a:t>
            </a:r>
            <a:r>
              <a:rPr lang="en-US" sz="1400" dirty="0">
                <a:latin typeface="Oxygen" panose="02000503000000000000" pitchFamily="2" charset="0"/>
              </a:rPr>
              <a:t> command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latin typeface="Oxygen" panose="02000503000000000000" pitchFamily="2" charset="0"/>
                <a:cs typeface="Courier New" panose="02070309020205020404" pitchFamily="49" charset="0"/>
              </a:rPr>
              <a:t>The default Splunk home directory is /opt/</a:t>
            </a:r>
            <a:r>
              <a:rPr lang="en-US" sz="1400" dirty="0" err="1">
                <a:latin typeface="Oxygen" panose="02000503000000000000" pitchFamily="2" charset="0"/>
                <a:cs typeface="Courier New" panose="02070309020205020404" pitchFamily="49" charset="0"/>
              </a:rPr>
              <a:t>splunk</a:t>
            </a:r>
            <a:r>
              <a:rPr lang="en-US" sz="1400" dirty="0">
                <a:latin typeface="Oxygen" panose="02000503000000000000" pitchFamily="2" charset="0"/>
                <a:cs typeface="Courier New" panose="02070309020205020404" pitchFamily="49" charset="0"/>
              </a:rPr>
              <a:t>, so let’s </a:t>
            </a:r>
            <a:r>
              <a:rPr lang="en-US" sz="1400" i="1" dirty="0" err="1">
                <a:latin typeface="Oxygen" panose="02000503000000000000" pitchFamily="2" charset="0"/>
                <a:cs typeface="Courier New" panose="02070309020205020404" pitchFamily="49" charset="0"/>
              </a:rPr>
              <a:t>untar</a:t>
            </a:r>
            <a:r>
              <a:rPr lang="en-US" sz="1400" dirty="0">
                <a:latin typeface="Oxygen" panose="02000503000000000000" pitchFamily="2" charset="0"/>
                <a:cs typeface="Courier New" panose="02070309020205020404" pitchFamily="49" charset="0"/>
              </a:rPr>
              <a:t> the file into the opt directory. We can do this with one command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sudo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tar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xvzf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&lt;splunk_package_name.tgz&gt; -C /opt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latin typeface="Oxygen" panose="02000503000000000000" pitchFamily="2" charset="0"/>
                <a:cs typeface="Courier New" panose="02070309020205020404" pitchFamily="49" charset="0"/>
              </a:rPr>
              <a:t>Go to the Splunk home directory: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cd /opt/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splunk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/bin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latin typeface="Oxygen" panose="02000503000000000000" pitchFamily="2" charset="0"/>
                <a:cs typeface="Courier New" panose="02070309020205020404" pitchFamily="49" charset="0"/>
              </a:rPr>
              <a:t>Start Splunk for the first time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Sudo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./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splunk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start --accept-license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latin typeface="Oxygen" panose="02000503000000000000" pitchFamily="2" charset="0"/>
                <a:cs typeface="Courier New" panose="02070309020205020404" pitchFamily="49" charset="0"/>
              </a:rPr>
              <a:t>Create a username and password as prompted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latin typeface="Oxygen" panose="02000503000000000000" pitchFamily="2" charset="0"/>
                <a:cs typeface="Courier New" panose="02070309020205020404" pitchFamily="49" charset="0"/>
              </a:rPr>
              <a:t>Wait for the web server to be online, get the IP address of this machine, and visit your Splunk search head web interface at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https://&lt;ip-address&gt;:8000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Oxygen" panose="02000503000000000000" pitchFamily="2" charset="0"/>
                <a:cs typeface="Courier New" panose="02070309020205020404" pitchFamily="49" charset="0"/>
              </a:rPr>
              <a:t>Relevant Splunk Doc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  <a:hlinkClick r:id="rId2"/>
              </a:rPr>
              <a:t>https://docs.splunk.com/Documentation/Splunk/latest/Installation/InstallonLinux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Oxygen" panose="02000503000000000000" pitchFamily="2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7026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1D294-72B6-6725-26C7-082D5797BA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Installing Splunk in Windows</a:t>
            </a:r>
          </a:p>
        </p:txBody>
      </p:sp>
    </p:spTree>
    <p:extLst>
      <p:ext uri="{BB962C8B-B14F-4D97-AF65-F5344CB8AC3E}">
        <p14:creationId xmlns:p14="http://schemas.microsoft.com/office/powerpoint/2010/main" val="28706637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5B7E0AD-1828-FA42-8F73-467A593B9D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Download the Splunk installer for Windows</a:t>
            </a:r>
          </a:p>
          <a:p>
            <a:r>
              <a:rPr lang="en-US" dirty="0"/>
              <a:t>Use the Wizard to install and configure the search head</a:t>
            </a:r>
          </a:p>
          <a:p>
            <a:r>
              <a:rPr lang="en-US" dirty="0"/>
              <a:t>Use a Local account unless you’re in a Microsoft Domain and using AD or Entra</a:t>
            </a:r>
          </a:p>
          <a:p>
            <a:r>
              <a:rPr lang="en-US" dirty="0"/>
              <a:t>Open ports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9997</a:t>
            </a:r>
            <a:r>
              <a:rPr lang="en-US" dirty="0"/>
              <a:t> 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8089</a:t>
            </a:r>
            <a:r>
              <a:rPr lang="en-US" dirty="0"/>
              <a:t> on the Windows Firewall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575CFD0-195C-2F43-98F8-B509D17F1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Windows Search Head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CFEC4015-6702-504F-A6AD-73BE773515B7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2"/>
          <a:srcRect l="10760" t="13523" r="13132" b="11152"/>
          <a:stretch/>
        </p:blipFill>
        <p:spPr>
          <a:xfrm>
            <a:off x="838199" y="2190750"/>
            <a:ext cx="3705629" cy="3667122"/>
          </a:xfrm>
        </p:spPr>
      </p:pic>
    </p:spTree>
    <p:extLst>
      <p:ext uri="{BB962C8B-B14F-4D97-AF65-F5344CB8AC3E}">
        <p14:creationId xmlns:p14="http://schemas.microsoft.com/office/powerpoint/2010/main" val="2059222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735DD-DF78-E29B-955C-205398916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0B9E6-5511-2E62-1995-C37D571128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Installing Splunk in MacOS</a:t>
            </a:r>
          </a:p>
        </p:txBody>
      </p:sp>
    </p:spTree>
    <p:extLst>
      <p:ext uri="{BB962C8B-B14F-4D97-AF65-F5344CB8AC3E}">
        <p14:creationId xmlns:p14="http://schemas.microsoft.com/office/powerpoint/2010/main" val="13200878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D489D-A481-DAED-B6B9-482435966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5945C50-729E-0C86-49FE-4DE88FBB1B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Download the Splunk installer for Mac</a:t>
            </a:r>
          </a:p>
          <a:p>
            <a:r>
              <a:rPr lang="en-US" dirty="0"/>
              <a:t>Use the Mac installer to install and configure the search head</a:t>
            </a:r>
          </a:p>
          <a:p>
            <a:r>
              <a:rPr lang="en-US" dirty="0"/>
              <a:t>A bit more involved than Windows</a:t>
            </a:r>
          </a:p>
          <a:p>
            <a:r>
              <a:rPr lang="en-US" dirty="0"/>
              <a:t>Like Linux + Windows install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84B0856-E93E-8E65-9481-078FC4579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683B8C16-DABE-338A-5949-1C4F49C4FBC4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/>
          <a:srcRect l="-12430" t="-485" r="-16616" b="-3395"/>
          <a:stretch>
            <a:fillRect/>
          </a:stretch>
        </p:blipFill>
        <p:spPr>
          <a:xfrm>
            <a:off x="838199" y="2190750"/>
            <a:ext cx="3705629" cy="3667122"/>
          </a:xfrm>
        </p:spPr>
      </p:pic>
    </p:spTree>
    <p:extLst>
      <p:ext uri="{BB962C8B-B14F-4D97-AF65-F5344CB8AC3E}">
        <p14:creationId xmlns:p14="http://schemas.microsoft.com/office/powerpoint/2010/main" val="2862522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97F6D5B-C1E1-224D-CB70-8AB5185C1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CBF5B040-BEAD-2E2C-F71E-548383C15EED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Stone Sans" pitchFamily="2" charset="0"/>
                <a:ea typeface="+mj-ea"/>
                <a:cs typeface="+mj-cs"/>
              </a:defRPr>
            </a:lvl1pPr>
          </a:lstStyle>
          <a:p>
            <a:r>
              <a:rPr lang="en-US" sz="4000" dirty="0"/>
              <a:t>Splunk Mac Search Head Details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7839B9-3CF4-6523-8D05-B09DBC0CE3EC}"/>
              </a:ext>
            </a:extLst>
          </p:cNvPr>
          <p:cNvSpPr txBox="1"/>
          <p:nvPr/>
        </p:nvSpPr>
        <p:spPr>
          <a:xfrm>
            <a:off x="920706" y="1608083"/>
            <a:ext cx="1038001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400" dirty="0">
                <a:latin typeface="Oxygen" panose="02000503000000000000" pitchFamily="2" charset="0"/>
              </a:rPr>
              <a:t>Visit Splunk.com and click on “Trials and Downloads.” Log in with your account or create a new one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latin typeface="Oxygen" panose="02000503000000000000" pitchFamily="2" charset="0"/>
              </a:rPr>
              <a:t>Under “Splunk Enterprise” select “Get My Free Trial”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latin typeface="Oxygen" panose="02000503000000000000" pitchFamily="2" charset="0"/>
              </a:rPr>
              <a:t>Select the Mac tab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latin typeface="Oxygen" panose="02000503000000000000" pitchFamily="2" charset="0"/>
              </a:rPr>
              <a:t>Select the DMG install file (advanced users can use the .</a:t>
            </a:r>
            <a:r>
              <a:rPr lang="en-US" sz="1400" dirty="0" err="1">
                <a:latin typeface="Oxygen" panose="02000503000000000000" pitchFamily="2" charset="0"/>
              </a:rPr>
              <a:t>tgz</a:t>
            </a:r>
            <a:r>
              <a:rPr lang="en-US" sz="1400" dirty="0">
                <a:latin typeface="Oxygen" panose="02000503000000000000" pitchFamily="2" charset="0"/>
              </a:rPr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latin typeface="Oxygen" panose="02000503000000000000" pitchFamily="2" charset="0"/>
              </a:rPr>
              <a:t>Double-click the DMG file, a Finder window that contains the </a:t>
            </a:r>
            <a:r>
              <a:rPr lang="en-US" sz="1400" dirty="0" err="1">
                <a:latin typeface="Oxygen" panose="02000503000000000000" pitchFamily="2" charset="0"/>
              </a:rPr>
              <a:t>splunk.pkg</a:t>
            </a:r>
            <a:r>
              <a:rPr lang="en-US" sz="1400" dirty="0">
                <a:latin typeface="Oxygen" panose="02000503000000000000" pitchFamily="2" charset="0"/>
              </a:rPr>
              <a:t> opens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latin typeface="Oxygen" panose="02000503000000000000" pitchFamily="2" charset="0"/>
              </a:rPr>
              <a:t>Double-click the Install Splunk icon to start the installer.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latin typeface="Oxygen" panose="02000503000000000000" pitchFamily="2" charset="0"/>
              </a:rPr>
              <a:t>In the Installation Type panel, click Install. This installs Splunk Enterprise in the default directory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/Applications/Splunk</a:t>
            </a:r>
            <a:endParaRPr lang="en-US" sz="1400" dirty="0">
              <a:latin typeface="Oxygen" panose="02000503000000000000" pitchFamily="2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latin typeface="Oxygen" panose="02000503000000000000" pitchFamily="2" charset="0"/>
              </a:rPr>
              <a:t>When the installation finishes, a popup informs you that an initialization must be performed.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latin typeface="Oxygen" panose="02000503000000000000" pitchFamily="2" charset="0"/>
              </a:rPr>
              <a:t>A terminal window appears and you are prompted to specify a </a:t>
            </a:r>
            <a:r>
              <a:rPr lang="en-US" sz="1400" dirty="0" err="1">
                <a:latin typeface="Oxygen" panose="02000503000000000000" pitchFamily="2" charset="0"/>
              </a:rPr>
              <a:t>userid</a:t>
            </a:r>
            <a:r>
              <a:rPr lang="en-US" sz="1400" dirty="0">
                <a:latin typeface="Oxygen" panose="02000503000000000000" pitchFamily="2" charset="0"/>
              </a:rPr>
              <a:t> and password to use with Splunk Enterprise.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latin typeface="Oxygen" panose="02000503000000000000" pitchFamily="2" charset="0"/>
              </a:rPr>
              <a:t>A popup appears asking what you would like to do. Click Start and Show Splunk. The login page for Splunk Enterprise opens in your browser window.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Oxygen" panose="02000503000000000000" pitchFamily="2" charset="0"/>
                <a:cs typeface="Courier New" panose="02070309020205020404" pitchFamily="49" charset="0"/>
              </a:rPr>
              <a:t>Relevant Splunk Doc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  <a:hlinkClick r:id="rId2"/>
              </a:rPr>
              <a:t>https://docs.splunk.com/Documentation/Splunk/latest/Installation/InstallonMacOS</a:t>
            </a:r>
            <a:endParaRPr lang="en-US" dirty="0">
              <a:latin typeface="Oxygen" panose="02000503000000000000" pitchFamily="2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78332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34815-1B06-1678-F48B-24245AF65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C8395-7FFF-2200-B069-4C513F8CFB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Installing Heavy Forwarders</a:t>
            </a:r>
          </a:p>
        </p:txBody>
      </p:sp>
    </p:spTree>
    <p:extLst>
      <p:ext uri="{BB962C8B-B14F-4D97-AF65-F5344CB8AC3E}">
        <p14:creationId xmlns:p14="http://schemas.microsoft.com/office/powerpoint/2010/main" val="20857635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8B7FD77-694B-3FE3-DBC8-19037391C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Same process as installing Splunk Enterprise</a:t>
            </a:r>
          </a:p>
          <a:p>
            <a:r>
              <a:rPr lang="en-US" dirty="0"/>
              <a:t>Configure receiving on the Search Head or Indexer</a:t>
            </a:r>
          </a:p>
          <a:p>
            <a:r>
              <a:rPr lang="en-US" dirty="0"/>
              <a:t>Configure as a forwarder in settings</a:t>
            </a:r>
          </a:p>
          <a:p>
            <a:r>
              <a:rPr lang="en-US" dirty="0"/>
              <a:t>Point the forwarder to the IP or DNS name of the Search Head or Indexer</a:t>
            </a:r>
          </a:p>
          <a:p>
            <a:r>
              <a:rPr lang="en-US" dirty="0"/>
              <a:t>Port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9997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52374675-2D77-E099-D8AC-5200E10ADCF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9553" b="9553"/>
          <a:stretch>
            <a:fillRect/>
          </a:stretch>
        </p:blipFill>
        <p:spPr/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8FFAC3F6-5187-A29C-C913-5FF243395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Heavy Forwarders</a:t>
            </a:r>
          </a:p>
        </p:txBody>
      </p:sp>
    </p:spTree>
    <p:extLst>
      <p:ext uri="{BB962C8B-B14F-4D97-AF65-F5344CB8AC3E}">
        <p14:creationId xmlns:p14="http://schemas.microsoft.com/office/powerpoint/2010/main" val="25058336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1373F-7990-F155-8304-840818843A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Installing Universal Forwarders</a:t>
            </a:r>
          </a:p>
        </p:txBody>
      </p:sp>
    </p:spTree>
    <p:extLst>
      <p:ext uri="{BB962C8B-B14F-4D97-AF65-F5344CB8AC3E}">
        <p14:creationId xmlns:p14="http://schemas.microsoft.com/office/powerpoint/2010/main" val="17307447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34985-B9AF-3C44-EECC-FB6F75FFF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A1B56E7-9CE4-F195-58A0-3C6B371704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>
                <a:latin typeface="Oxygen" panose="02000503000000000000" pitchFamily="2" charset="0"/>
                <a:cs typeface="Courier New" panose="02070309020205020404" pitchFamily="49" charset="0"/>
              </a:rPr>
              <a:t>Enable receiving on the Search Head/Indexer</a:t>
            </a:r>
          </a:p>
          <a:p>
            <a:r>
              <a:rPr lang="en-US" dirty="0">
                <a:latin typeface="Oxygen" panose="02000503000000000000" pitchFamily="2" charset="0"/>
                <a:cs typeface="Courier New" panose="02070309020205020404" pitchFamily="49" charset="0"/>
              </a:rPr>
              <a:t>Download the Splunk Universal Forwarder for Linux, create a dedicated user 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splunkfwd</a:t>
            </a:r>
            <a:r>
              <a:rPr lang="en-US" dirty="0">
                <a:latin typeface="Oxygen" panose="02000503000000000000" pitchFamily="2" charset="0"/>
                <a:cs typeface="Courier New" panose="02070309020205020404" pitchFamily="49" charset="0"/>
              </a:rPr>
              <a:t>), and extract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tgz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Oxygen" panose="02000503000000000000" pitchFamily="2" charset="0"/>
                <a:cs typeface="Courier New" panose="02070309020205020404" pitchFamily="49" charset="0"/>
              </a:rPr>
              <a:t>into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/opt</a:t>
            </a:r>
          </a:p>
          <a:p>
            <a:r>
              <a:rPr lang="en-US" dirty="0">
                <a:latin typeface="Oxygen" panose="02000503000000000000" pitchFamily="2" charset="0"/>
                <a:cs typeface="Courier New" panose="02070309020205020404" pitchFamily="49" charset="0"/>
              </a:rPr>
              <a:t>Set up user permissions, start Splunk, create credentials, and configure the receiving port (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9997</a:t>
            </a:r>
            <a:r>
              <a:rPr lang="en-US" dirty="0">
                <a:latin typeface="Oxygen" panose="02000503000000000000" pitchFamily="2" charset="0"/>
                <a:cs typeface="Courier New" panose="02070309020205020404" pitchFamily="49" charset="0"/>
              </a:rPr>
              <a:t>).</a:t>
            </a:r>
          </a:p>
          <a:p>
            <a:r>
              <a:rPr lang="en-US" dirty="0">
                <a:latin typeface="Oxygen" panose="02000503000000000000" pitchFamily="2" charset="0"/>
                <a:cs typeface="Courier New" panose="02070309020205020404" pitchFamily="49" charset="0"/>
              </a:rPr>
              <a:t>Enable boot-start, add the indexer as a target, and begin monitoring data from specified locations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2C648F0-7F58-496B-41D2-6749B9CAC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Universal Forwarders - Linux</a:t>
            </a:r>
          </a:p>
        </p:txBody>
      </p:sp>
      <p:pic>
        <p:nvPicPr>
          <p:cNvPr id="8" name="Picture Placeholder 7" descr="A black and white image of a book&#10;&#10;AI-generated content may be incorrect.">
            <a:extLst>
              <a:ext uri="{FF2B5EF4-FFF2-40B4-BE49-F238E27FC236}">
                <a16:creationId xmlns:a16="http://schemas.microsoft.com/office/drawing/2014/main" id="{F6267D6D-0F6A-62EE-C953-AA11D29A256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-11256" t="-914" r="-18837" b="3706"/>
          <a:stretch>
            <a:fillRect/>
          </a:stretch>
        </p:blipFill>
        <p:spPr>
          <a:xfrm>
            <a:off x="209405" y="2084832"/>
            <a:ext cx="3829184" cy="3776217"/>
          </a:xfrm>
        </p:spPr>
      </p:pic>
    </p:spTree>
    <p:extLst>
      <p:ext uri="{BB962C8B-B14F-4D97-AF65-F5344CB8AC3E}">
        <p14:creationId xmlns:p14="http://schemas.microsoft.com/office/powerpoint/2010/main" val="10235270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D209AE0D-609D-9589-1C5E-5E66C0D446E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Stone Sans" pitchFamily="2" charset="0"/>
                <a:ea typeface="+mj-ea"/>
                <a:cs typeface="+mj-cs"/>
              </a:defRPr>
            </a:lvl1pPr>
          </a:lstStyle>
          <a:p>
            <a:r>
              <a:rPr lang="en-US" sz="4000" dirty="0"/>
              <a:t>Splunk Linux Universal Forwarder Details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ED6016-8BEF-80D6-04CE-1768258CFC04}"/>
              </a:ext>
            </a:extLst>
          </p:cNvPr>
          <p:cNvSpPr txBox="1"/>
          <p:nvPr/>
        </p:nvSpPr>
        <p:spPr>
          <a:xfrm>
            <a:off x="905991" y="1327346"/>
            <a:ext cx="10380017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900" dirty="0">
                <a:latin typeface="Oxygen" panose="02000503000000000000" pitchFamily="2" charset="0"/>
              </a:rPr>
              <a:t>Visit Splunk.com and click on “Trials and Downloads.” Log in with your account or create a new one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900" dirty="0">
                <a:latin typeface="Oxygen" panose="02000503000000000000" pitchFamily="2" charset="0"/>
              </a:rPr>
              <a:t>Click “Trials and Downloads”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900" dirty="0">
                <a:latin typeface="Oxygen" panose="02000503000000000000" pitchFamily="2" charset="0"/>
              </a:rPr>
              <a:t>Under “Splunk Universal Forwarder” select “Get my free download”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900" dirty="0">
                <a:latin typeface="Oxygen" panose="02000503000000000000" pitchFamily="2" charset="0"/>
              </a:rPr>
              <a:t>Select the Linux tab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900" dirty="0">
                <a:latin typeface="Oxygen" panose="02000503000000000000" pitchFamily="2" charset="0"/>
              </a:rPr>
              <a:t>Select “copy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wget</a:t>
            </a:r>
            <a:r>
              <a:rPr lang="en-US" sz="900" dirty="0">
                <a:latin typeface="Oxygen" panose="02000503000000000000" pitchFamily="2" charset="0"/>
              </a:rPr>
              <a:t> link” for the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.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tgz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900" dirty="0">
                <a:latin typeface="Oxygen" panose="02000503000000000000" pitchFamily="2" charset="0"/>
              </a:rPr>
              <a:t>file for the correct version of Linux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900" dirty="0">
                <a:latin typeface="Oxygen" panose="02000503000000000000" pitchFamily="2" charset="0"/>
              </a:rPr>
              <a:t>Create the least privileged user and group, both named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splunkfwd</a:t>
            </a:r>
            <a:endParaRPr lang="en-US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sudo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useradd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–m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splunkfwd</a:t>
            </a:r>
            <a:endParaRPr lang="en-US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900" dirty="0">
                <a:latin typeface="Oxygen" panose="02000503000000000000" pitchFamily="2" charset="0"/>
              </a:rPr>
              <a:t>Paste the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wget</a:t>
            </a:r>
            <a:r>
              <a:rPr lang="en-US" sz="900" dirty="0">
                <a:latin typeface="Oxygen" panose="02000503000000000000" pitchFamily="2" charset="0"/>
              </a:rPr>
              <a:t> string into your Linux command line, adding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sudo</a:t>
            </a:r>
            <a:r>
              <a:rPr lang="en-US" sz="900" dirty="0">
                <a:latin typeface="Oxygen" panose="02000503000000000000" pitchFamily="2" charset="0"/>
              </a:rPr>
              <a:t> before it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sudo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wget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–O …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900" dirty="0">
                <a:latin typeface="Oxygen" panose="02000503000000000000" pitchFamily="2" charset="0"/>
              </a:rPr>
              <a:t>Check whether the file was successfully downloaded using the 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ls</a:t>
            </a:r>
            <a:r>
              <a:rPr lang="en-US" sz="900" dirty="0">
                <a:latin typeface="Oxygen" panose="02000503000000000000" pitchFamily="2" charset="0"/>
              </a:rPr>
              <a:t> command</a:t>
            </a:r>
            <a:endParaRPr lang="en-US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900" dirty="0" err="1">
                <a:latin typeface="Oxygen" panose="02000503000000000000" pitchFamily="2" charset="0"/>
                <a:cs typeface="Courier New" panose="02070309020205020404" pitchFamily="49" charset="0"/>
              </a:rPr>
              <a:t>Untar</a:t>
            </a:r>
            <a:r>
              <a:rPr lang="en-US" sz="900" dirty="0">
                <a:latin typeface="Oxygen" panose="02000503000000000000" pitchFamily="2" charset="0"/>
                <a:cs typeface="Courier New" panose="02070309020205020404" pitchFamily="49" charset="0"/>
              </a:rPr>
              <a:t> the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.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tgz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900" dirty="0">
                <a:latin typeface="Oxygen" panose="02000503000000000000" pitchFamily="2" charset="0"/>
                <a:cs typeface="Courier New" panose="02070309020205020404" pitchFamily="49" charset="0"/>
              </a:rPr>
              <a:t>file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sudo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tar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xvzf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&lt;splunk_package_name.tgz&gt; -C /opt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900" dirty="0">
                <a:latin typeface="Oxygen" panose="02000503000000000000" pitchFamily="2" charset="0"/>
                <a:cs typeface="Courier New" panose="02070309020205020404" pitchFamily="49" charset="0"/>
              </a:rPr>
              <a:t>Go to the Splunk forwarder home directory: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cd /opt/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splunkforwarder</a:t>
            </a:r>
            <a:endParaRPr lang="en-US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900" dirty="0">
                <a:latin typeface="Oxygen" panose="02000503000000000000" pitchFamily="2" charset="0"/>
                <a:cs typeface="Courier New" panose="02070309020205020404" pitchFamily="49" charset="0"/>
              </a:rPr>
              <a:t>Give the least privileged user and group access to the Splunk home directory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sudo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chown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–R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splunkfwd:splunkfwd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/opt/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splunkforwarder</a:t>
            </a:r>
            <a:endParaRPr lang="en-US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900" dirty="0">
                <a:latin typeface="Oxygen" panose="02000503000000000000" pitchFamily="2" charset="0"/>
                <a:cs typeface="Courier New" panose="02070309020205020404" pitchFamily="49" charset="0"/>
              </a:rPr>
              <a:t>Start Splunk for the first time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Move to the /bin directory (cd /bin)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Sudo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./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splunk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start --accept-license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900" dirty="0">
                <a:latin typeface="Oxygen" panose="02000503000000000000" pitchFamily="2" charset="0"/>
                <a:cs typeface="Courier New" panose="02070309020205020404" pitchFamily="49" charset="0"/>
              </a:rPr>
              <a:t>Create a username and password as prompted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900" dirty="0">
                <a:latin typeface="Oxygen" panose="02000503000000000000" pitchFamily="2" charset="0"/>
                <a:cs typeface="Courier New" panose="02070309020205020404" pitchFamily="49" charset="0"/>
              </a:rPr>
              <a:t>Configure receiving on the search head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Settings / Forwarding and receiving / New receiving port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Enter the default port of 9997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900" dirty="0">
                <a:latin typeface="Oxygen" panose="02000503000000000000" pitchFamily="2" charset="0"/>
                <a:cs typeface="Courier New" panose="02070309020205020404" pitchFamily="49" charset="0"/>
              </a:rPr>
              <a:t>Restart the search head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Settings / Server Controls / Restart Splunk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900" dirty="0">
                <a:latin typeface="Oxygen" panose="02000503000000000000" pitchFamily="2" charset="0"/>
                <a:cs typeface="Courier New" panose="02070309020205020404" pitchFamily="49" charset="0"/>
              </a:rPr>
              <a:t>Stop the forwarder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Sudo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./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splunk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stop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900" dirty="0">
                <a:latin typeface="Oxygen" panose="02000503000000000000" pitchFamily="2" charset="0"/>
                <a:cs typeface="Courier New" panose="02070309020205020404" pitchFamily="49" charset="0"/>
              </a:rPr>
              <a:t>Run the boot-start script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Sudo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./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splunk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enable boot-start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900" dirty="0">
                <a:latin typeface="Oxygen" panose="02000503000000000000" pitchFamily="2" charset="0"/>
                <a:cs typeface="Courier New" panose="02070309020205020404" pitchFamily="49" charset="0"/>
              </a:rPr>
              <a:t>Add the indexer/search head as the target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Sudo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./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splunk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add forward-server &lt;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address&gt;:&lt;port&gt;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900" dirty="0">
                <a:latin typeface="Oxygen" panose="02000503000000000000" pitchFamily="2" charset="0"/>
                <a:cs typeface="Courier New" panose="02070309020205020404" pitchFamily="49" charset="0"/>
              </a:rPr>
              <a:t>Add a data monitor to forward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Sudo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./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splunk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add monitor /var/log</a:t>
            </a:r>
          </a:p>
          <a:p>
            <a:endParaRPr lang="en-US" sz="900" dirty="0">
              <a:latin typeface="Oxygen" panose="02000503000000000000" pitchFamily="2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Oxygen" panose="02000503000000000000" pitchFamily="2" charset="0"/>
                <a:cs typeface="Courier New" panose="02070309020205020404" pitchFamily="49" charset="0"/>
              </a:rPr>
              <a:t>Relevant Splunk Doc</a:t>
            </a:r>
          </a:p>
          <a:p>
            <a:r>
              <a:rPr lang="en-US" sz="1600" dirty="0">
                <a:latin typeface="Oxygen" panose="02000503000000000000" pitchFamily="2" charset="0"/>
                <a:hlinkClick r:id="rId2"/>
              </a:rPr>
              <a:t>https://docs.splunk.com/Documentation/Forwarder/latest/Forwarder/Installanixuniversalforwarder</a:t>
            </a:r>
            <a:endParaRPr lang="en-US" sz="1600" dirty="0">
              <a:latin typeface="Oxygen" panose="02000503000000000000" pitchFamily="2" charset="0"/>
            </a:endParaRPr>
          </a:p>
          <a:p>
            <a:endParaRPr lang="en-US" sz="800" dirty="0">
              <a:latin typeface="Oxygen" panose="02000503000000000000" pitchFamily="2" charset="0"/>
            </a:endParaRPr>
          </a:p>
          <a:p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611097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0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1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2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12811-64EB-D164-BEC2-9C85769FD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C1C43FF-1BD0-CF49-F03E-105192B134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>
                <a:latin typeface="Oxygen" panose="02000503000000000000" pitchFamily="2" charset="0"/>
                <a:cs typeface="Courier New" panose="02070309020205020404" pitchFamily="49" charset="0"/>
              </a:rPr>
              <a:t>Configure Indexer &amp; Firewall: Set up the Search Head to receive data and open port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9997</a:t>
            </a:r>
            <a:r>
              <a:rPr lang="en-US" dirty="0">
                <a:latin typeface="Oxygen" panose="02000503000000000000" pitchFamily="2" charset="0"/>
                <a:cs typeface="Courier New" panose="02070309020205020404" pitchFamily="49" charset="0"/>
              </a:rPr>
              <a:t> on the Windows firewall for incoming traffic.</a:t>
            </a:r>
          </a:p>
          <a:p>
            <a:r>
              <a:rPr lang="en-US" dirty="0">
                <a:latin typeface="Oxygen" panose="02000503000000000000" pitchFamily="2" charset="0"/>
                <a:cs typeface="Courier New" panose="02070309020205020404" pitchFamily="49" charset="0"/>
              </a:rPr>
              <a:t>Download the Splunk Universal Forwarder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msi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Oxygen" panose="02000503000000000000" pitchFamily="2" charset="0"/>
                <a:cs typeface="Courier New" panose="02070309020205020404" pitchFamily="49" charset="0"/>
              </a:rPr>
              <a:t>installer on the Windows machine intended for data forwarding.</a:t>
            </a:r>
          </a:p>
          <a:p>
            <a:r>
              <a:rPr lang="en-US" dirty="0">
                <a:latin typeface="Oxygen" panose="02000503000000000000" pitchFamily="2" charset="0"/>
                <a:cs typeface="Courier New" panose="02070309020205020404" pitchFamily="49" charset="0"/>
              </a:rPr>
              <a:t>Run the installer, select the "Local System,“ user, choose desired Event Logs, create credentials, and connect to the Search Head/Indexer.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8D1C210-75C2-AB00-812C-528C00E47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Universal Forwarders - Windows</a:t>
            </a:r>
          </a:p>
        </p:txBody>
      </p:sp>
      <p:pic>
        <p:nvPicPr>
          <p:cNvPr id="8" name="Picture Placeholder 7" descr="A black and white image of a book&#10;&#10;AI-generated content may be incorrect.">
            <a:extLst>
              <a:ext uri="{FF2B5EF4-FFF2-40B4-BE49-F238E27FC236}">
                <a16:creationId xmlns:a16="http://schemas.microsoft.com/office/drawing/2014/main" id="{911B46AF-1151-426B-D18F-4F3EFCE59CE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-11256" t="-914" r="-18837" b="3706"/>
          <a:stretch>
            <a:fillRect/>
          </a:stretch>
        </p:blipFill>
        <p:spPr>
          <a:xfrm>
            <a:off x="209405" y="2084832"/>
            <a:ext cx="3829184" cy="3776217"/>
          </a:xfrm>
        </p:spPr>
      </p:pic>
    </p:spTree>
    <p:extLst>
      <p:ext uri="{BB962C8B-B14F-4D97-AF65-F5344CB8AC3E}">
        <p14:creationId xmlns:p14="http://schemas.microsoft.com/office/powerpoint/2010/main" val="31737168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D209AE0D-609D-9589-1C5E-5E66C0D446E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Stone Sans" pitchFamily="2" charset="0"/>
                <a:ea typeface="+mj-ea"/>
                <a:cs typeface="+mj-cs"/>
              </a:defRPr>
            </a:lvl1pPr>
          </a:lstStyle>
          <a:p>
            <a:r>
              <a:rPr lang="en-US" sz="4000" dirty="0"/>
              <a:t>Splunk Windows Universal Forwarder Details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ED6016-8BEF-80D6-04CE-1768258CFC04}"/>
              </a:ext>
            </a:extLst>
          </p:cNvPr>
          <p:cNvSpPr txBox="1"/>
          <p:nvPr/>
        </p:nvSpPr>
        <p:spPr>
          <a:xfrm>
            <a:off x="920707" y="1608083"/>
            <a:ext cx="9436518" cy="5163258"/>
          </a:xfrm>
          <a:prstGeom prst="rect">
            <a:avLst/>
          </a:prstGeom>
          <a:noFill/>
        </p:spPr>
        <p:txBody>
          <a:bodyPr wrap="square" rtlCol="0">
            <a:normAutofit fontScale="92500" lnSpcReduction="2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200" dirty="0">
                <a:latin typeface="Oxygen" panose="02000503000000000000" pitchFamily="2" charset="0"/>
              </a:rPr>
              <a:t>Set up receiving on the search head/indexer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Settings / Forwarding and receiving / Configure receiving / New receiving port / 9997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>
                <a:latin typeface="Oxygen" panose="02000503000000000000" pitchFamily="2" charset="0"/>
                <a:cs typeface="Courier New" panose="02070309020205020404" pitchFamily="49" charset="0"/>
              </a:rPr>
              <a:t>Open port 9997 for incoming traffic on the Windows firewall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Search “firewall” and click on Windows Defender Firewall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Select Advanced settings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Select Inbound Rules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Select New Rule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Select Port / Next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Select TCP / Specific local ports: 9997 / Next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Select Allow the connection / Next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Select all: Domain, Private, Public / Next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Name the firewall rule / Finish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>
                <a:latin typeface="Oxygen" panose="02000503000000000000" pitchFamily="2" charset="0"/>
                <a:cs typeface="Courier New" panose="02070309020205020404" pitchFamily="49" charset="0"/>
              </a:rPr>
              <a:t>Restart the Splunk search head/indexer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Settings / Server controls / Restart Splunk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>
                <a:latin typeface="Oxygen" panose="02000503000000000000" pitchFamily="2" charset="0"/>
                <a:cs typeface="Courier New" panose="02070309020205020404" pitchFamily="49" charset="0"/>
              </a:rPr>
              <a:t>On the Windows machine from which you intend to forward data, go to Splunk.com and log in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>
                <a:latin typeface="Oxygen" panose="02000503000000000000" pitchFamily="2" charset="0"/>
                <a:cs typeface="Courier New" panose="02070309020205020404" pitchFamily="49" charset="0"/>
              </a:rPr>
              <a:t>Click Free Trials and Downloads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>
                <a:latin typeface="Oxygen" panose="02000503000000000000" pitchFamily="2" charset="0"/>
                <a:cs typeface="Courier New" panose="02070309020205020404" pitchFamily="49" charset="0"/>
              </a:rPr>
              <a:t>Scroll down to Universal Forwarder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>
                <a:latin typeface="Oxygen" panose="02000503000000000000" pitchFamily="2" charset="0"/>
                <a:cs typeface="Courier New" panose="02070309020205020404" pitchFamily="49" charset="0"/>
              </a:rPr>
              <a:t>Select Get My Free Download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On the Windows tab, select Download Now for your version of Windows (I will not be using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wget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for Windows)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>
                <a:latin typeface="Oxygen" panose="02000503000000000000" pitchFamily="2" charset="0"/>
                <a:cs typeface="Courier New" panose="02070309020205020404" pitchFamily="49" charset="0"/>
              </a:rPr>
              <a:t>Run the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msi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>
                <a:latin typeface="Oxygen" panose="02000503000000000000" pitchFamily="2" charset="0"/>
                <a:cs typeface="Courier New" panose="02070309020205020404" pitchFamily="49" charset="0"/>
              </a:rPr>
              <a:t>installer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>
                <a:latin typeface="Oxygen" panose="02000503000000000000" pitchFamily="2" charset="0"/>
                <a:cs typeface="Courier New" panose="02070309020205020404" pitchFamily="49" charset="0"/>
              </a:rPr>
              <a:t>In the installation wizard, check the box to accept the license agreement, select “An on-premises Splunk Enterprise instance” and click “Customize Options”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>
                <a:latin typeface="Oxygen" panose="02000503000000000000" pitchFamily="2" charset="0"/>
                <a:cs typeface="Courier New" panose="02070309020205020404" pitchFamily="49" charset="0"/>
              </a:rPr>
              <a:t>Skip the default directory and SSL certificate screens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>
                <a:latin typeface="Oxygen" panose="02000503000000000000" pitchFamily="2" charset="0"/>
                <a:cs typeface="Courier New" panose="02070309020205020404" pitchFamily="49" charset="0"/>
              </a:rPr>
              <a:t>Select Local System (the default is “Virtual Account,” but for this class we will run it as Local System) / Next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>
                <a:latin typeface="Oxygen" panose="02000503000000000000" pitchFamily="2" charset="0"/>
                <a:cs typeface="Courier New" panose="02070309020205020404" pitchFamily="49" charset="0"/>
              </a:rPr>
              <a:t>Check at least one box under Windows Event Logs (I checked them all) / Next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>
                <a:latin typeface="Oxygen" panose="02000503000000000000" pitchFamily="2" charset="0"/>
                <a:cs typeface="Courier New" panose="02070309020205020404" pitchFamily="49" charset="0"/>
              </a:rPr>
              <a:t>Create a username and password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>
                <a:latin typeface="Oxygen" panose="02000503000000000000" pitchFamily="2" charset="0"/>
                <a:cs typeface="Courier New" panose="02070309020205020404" pitchFamily="49" charset="0"/>
              </a:rPr>
              <a:t>Skip the Deployment Server screen / Next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>
                <a:latin typeface="Oxygen" panose="02000503000000000000" pitchFamily="2" charset="0"/>
                <a:cs typeface="Courier New" panose="02070309020205020404" pitchFamily="49" charset="0"/>
              </a:rPr>
              <a:t>Type in the IP address and port of the search head/indexer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>
                <a:latin typeface="Oxygen" panose="02000503000000000000" pitchFamily="2" charset="0"/>
                <a:cs typeface="Courier New" panose="02070309020205020404" pitchFamily="49" charset="0"/>
              </a:rPr>
              <a:t>Click Install, then Finish</a:t>
            </a:r>
          </a:p>
          <a:p>
            <a:pPr marL="342900" indent="-342900">
              <a:buFont typeface="+mj-lt"/>
              <a:buAutoNum type="arabicPeriod"/>
            </a:pPr>
            <a:endParaRPr lang="en-US" sz="1200" dirty="0">
              <a:latin typeface="Oxygen" panose="02000503000000000000" pitchFamily="2" charset="0"/>
              <a:cs typeface="Courier New" panose="02070309020205020404" pitchFamily="49" charset="0"/>
            </a:endParaRPr>
          </a:p>
          <a:p>
            <a:r>
              <a:rPr lang="en-US" sz="1700" dirty="0">
                <a:latin typeface="Oxygen" panose="02000503000000000000" pitchFamily="2" charset="0"/>
                <a:cs typeface="Courier New" panose="02070309020205020404" pitchFamily="49" charset="0"/>
              </a:rPr>
              <a:t>Relevant Splunk Doc</a:t>
            </a:r>
          </a:p>
          <a:p>
            <a:r>
              <a:rPr lang="en-US" sz="1700" dirty="0">
                <a:latin typeface="Oxygen" panose="02000503000000000000" pitchFamily="2" charset="0"/>
                <a:cs typeface="Courier New" panose="02070309020205020404" pitchFamily="49" charset="0"/>
                <a:hlinkClick r:id="rId2"/>
              </a:rPr>
              <a:t>https://docs.splunk.com/Documentation/Forwarder/latest/Forwarder/InstallaWindowsuniversalforwarderfromaninstaller</a:t>
            </a:r>
            <a:endParaRPr lang="en-US" sz="1700" dirty="0">
              <a:latin typeface="Oxygen" panose="02000503000000000000" pitchFamily="2" charset="0"/>
              <a:cs typeface="Courier New" panose="02070309020205020404" pitchFamily="49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1439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0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864F79-C1B3-E237-B1A1-C1AC5EAEF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8EA1695-BACF-EA79-76BF-F4A2004D48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>
                <a:latin typeface="Oxygen" panose="02000503000000000000" pitchFamily="2" charset="0"/>
                <a:cs typeface="Courier New" panose="02070309020205020404" pitchFamily="49" charset="0"/>
              </a:rPr>
              <a:t>Obtain the Splunk Universal Forwarder for macOS (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DMG</a:t>
            </a:r>
            <a:r>
              <a:rPr lang="en-US" dirty="0">
                <a:latin typeface="Oxygen" panose="02000503000000000000" pitchFamily="2" charset="0"/>
                <a:cs typeface="Courier New" panose="02070309020205020404" pitchFamily="49" charset="0"/>
              </a:rPr>
              <a:t> or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tar.gz</a:t>
            </a:r>
            <a:r>
              <a:rPr lang="en-US" dirty="0">
                <a:latin typeface="Oxygen" panose="02000503000000000000" pitchFamily="2" charset="0"/>
                <a:cs typeface="Courier New" panose="02070309020205020404" pitchFamily="49" charset="0"/>
              </a:rPr>
              <a:t>) and run the installer or extract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tgz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dirty="0">
                <a:latin typeface="Oxygen" panose="02000503000000000000" pitchFamily="2" charset="0"/>
                <a:cs typeface="Courier New" panose="02070309020205020404" pitchFamily="49" charset="0"/>
              </a:rPr>
              <a:t>Complete the initial setup, creating a local administrator username and password for the forwarder</a:t>
            </a:r>
          </a:p>
          <a:p>
            <a:r>
              <a:rPr lang="en-US" dirty="0">
                <a:latin typeface="Oxygen" panose="02000503000000000000" pitchFamily="2" charset="0"/>
                <a:cs typeface="Courier New" panose="02070309020205020404" pitchFamily="49" charset="0"/>
              </a:rPr>
              <a:t>Configure the forwarder to connect to your Splunk Search Head/Indexer and define data inputs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2198693-CAF6-BE44-7D74-55861F022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Universal Forwarders - MacOS</a:t>
            </a:r>
          </a:p>
        </p:txBody>
      </p:sp>
      <p:pic>
        <p:nvPicPr>
          <p:cNvPr id="8" name="Picture Placeholder 7" descr="A black and white image of a book&#10;&#10;AI-generated content may be incorrect.">
            <a:extLst>
              <a:ext uri="{FF2B5EF4-FFF2-40B4-BE49-F238E27FC236}">
                <a16:creationId xmlns:a16="http://schemas.microsoft.com/office/drawing/2014/main" id="{6B049698-CBF3-6364-330F-03250BB49A8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-11256" t="-914" r="-18837" b="3706"/>
          <a:stretch>
            <a:fillRect/>
          </a:stretch>
        </p:blipFill>
        <p:spPr>
          <a:xfrm>
            <a:off x="209405" y="2084832"/>
            <a:ext cx="3829184" cy="3776217"/>
          </a:xfrm>
        </p:spPr>
      </p:pic>
    </p:spTree>
    <p:extLst>
      <p:ext uri="{BB962C8B-B14F-4D97-AF65-F5344CB8AC3E}">
        <p14:creationId xmlns:p14="http://schemas.microsoft.com/office/powerpoint/2010/main" val="10350345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D209AE0D-609D-9589-1C5E-5E66C0D446E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Stone Sans" pitchFamily="2" charset="0"/>
                <a:ea typeface="+mj-ea"/>
                <a:cs typeface="+mj-cs"/>
              </a:defRPr>
            </a:lvl1pPr>
          </a:lstStyle>
          <a:p>
            <a:r>
              <a:rPr lang="en-US" sz="4000" dirty="0"/>
              <a:t>Windows Universal Forwarder to Splunk Cloud Platform Details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ED6016-8BEF-80D6-04CE-1768258CFC04}"/>
              </a:ext>
            </a:extLst>
          </p:cNvPr>
          <p:cNvSpPr txBox="1"/>
          <p:nvPr/>
        </p:nvSpPr>
        <p:spPr>
          <a:xfrm>
            <a:off x="920706" y="1608083"/>
            <a:ext cx="10380017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400" dirty="0">
                <a:latin typeface="Oxygen" panose="02000503000000000000" pitchFamily="2" charset="0"/>
              </a:rPr>
              <a:t>On the Splunk Cloud Platform search head, click on Universal Forwarder to download the UF credentials package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latin typeface="Oxygen" panose="02000503000000000000" pitchFamily="2" charset="0"/>
              </a:rPr>
              <a:t>Copy the UF credentials package file (.</a:t>
            </a:r>
            <a:r>
              <a:rPr lang="en-US" sz="1400" dirty="0" err="1">
                <a:latin typeface="Oxygen" panose="02000503000000000000" pitchFamily="2" charset="0"/>
              </a:rPr>
              <a:t>spl</a:t>
            </a:r>
            <a:r>
              <a:rPr lang="en-US" sz="1400" dirty="0">
                <a:latin typeface="Oxygen" panose="02000503000000000000" pitchFamily="2" charset="0"/>
              </a:rPr>
              <a:t>) to the machine from which you intend to forward data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latin typeface="Oxygen" panose="02000503000000000000" pitchFamily="2" charset="0"/>
              </a:rPr>
              <a:t>On the same machine, go to Splunk.com and download the universal forwarder and run the installer package (.</a:t>
            </a:r>
            <a:r>
              <a:rPr lang="en-US" sz="1400" dirty="0" err="1">
                <a:latin typeface="Oxygen" panose="02000503000000000000" pitchFamily="2" charset="0"/>
              </a:rPr>
              <a:t>msi</a:t>
            </a:r>
            <a:r>
              <a:rPr lang="en-US" sz="1400" dirty="0">
                <a:latin typeface="Oxygen" panose="02000503000000000000" pitchFamily="2" charset="0"/>
              </a:rPr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latin typeface="Oxygen" panose="02000503000000000000" pitchFamily="2" charset="0"/>
              </a:rPr>
              <a:t>On the Wizard set up screen, accept the license agreement and select “A Splunk Cloud instance”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latin typeface="Oxygen" panose="02000503000000000000" pitchFamily="2" charset="0"/>
              </a:rPr>
              <a:t>Click “Customize Options” and make sure you run the UF as a Local System account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latin typeface="Oxygen" panose="02000503000000000000" pitchFamily="2" charset="0"/>
              </a:rPr>
              <a:t>On the Credentials screen, uncheck “Generate random password.” Manually put in an administration username and password. The Splunk credentials package will need this information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latin typeface="Oxygen" panose="02000503000000000000" pitchFamily="2" charset="0"/>
              </a:rPr>
              <a:t>Skip the Deployment server screen and select “Install” on the final screen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>
                <a:latin typeface="Oxygen" panose="02000503000000000000" pitchFamily="2" charset="0"/>
              </a:rPr>
              <a:t>This will install the Splunk universal forwarder in </a:t>
            </a:r>
            <a:br>
              <a:rPr lang="en-US" sz="1400" dirty="0">
                <a:latin typeface="Oxygen" panose="02000503000000000000" pitchFamily="2" charset="0"/>
              </a:rPr>
            </a:b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c:\Program Files\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Splunkuniversalforwarder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\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latin typeface="Oxygen" panose="02000503000000000000" pitchFamily="2" charset="0"/>
                <a:cs typeface="Courier New" panose="02070309020205020404" pitchFamily="49" charset="0"/>
              </a:rPr>
              <a:t>Open an </a:t>
            </a:r>
            <a:r>
              <a:rPr lang="en-US" sz="1400" u="sng" dirty="0">
                <a:latin typeface="Oxygen" panose="02000503000000000000" pitchFamily="2" charset="0"/>
                <a:cs typeface="Courier New" panose="02070309020205020404" pitchFamily="49" charset="0"/>
              </a:rPr>
              <a:t>elevated</a:t>
            </a:r>
            <a:r>
              <a:rPr lang="en-US" sz="1400" dirty="0">
                <a:latin typeface="Oxygen" panose="02000503000000000000" pitchFamily="2" charset="0"/>
                <a:cs typeface="Courier New" panose="02070309020205020404" pitchFamily="49" charset="0"/>
              </a:rPr>
              <a:t> command prompt by typing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cmd</a:t>
            </a:r>
            <a:r>
              <a:rPr lang="en-US" sz="1400" dirty="0">
                <a:latin typeface="Oxygen" panose="02000503000000000000" pitchFamily="2" charset="0"/>
                <a:cs typeface="Courier New" panose="02070309020205020404" pitchFamily="49" charset="0"/>
              </a:rPr>
              <a:t> into the search bar, right click on “Command Prompt” and select “Run as administrator”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latin typeface="Oxygen" panose="02000503000000000000" pitchFamily="2" charset="0"/>
                <a:cs typeface="Courier New" panose="02070309020205020404" pitchFamily="49" charset="0"/>
              </a:rPr>
              <a:t>Go to the Splunk home directory, in this case you will type: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cd\Program Files\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Splunkuniversalforwarder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\bin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latin typeface="Oxygen" panose="02000503000000000000" pitchFamily="2" charset="0"/>
                <a:cs typeface="Courier New" panose="02070309020205020404" pitchFamily="49" charset="0"/>
              </a:rPr>
              <a:t>Install the Splunk UF credentials package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Splunk.exe install app c:\users\&lt;user name&gt;\downloads\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splunkclouduf.spl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latin typeface="Oxygen" panose="02000503000000000000" pitchFamily="2" charset="0"/>
                <a:cs typeface="Courier New" panose="02070309020205020404" pitchFamily="49" charset="0"/>
              </a:rPr>
              <a:t>Restart the Splunk forwarder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Splunk.exe restart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Oxygen" panose="02000503000000000000" pitchFamily="2" charset="0"/>
                <a:cs typeface="Courier New" panose="02070309020205020404" pitchFamily="49" charset="0"/>
              </a:rPr>
              <a:t>Relevant Splunk Doc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  <a:hlinkClick r:id="rId2"/>
              </a:rPr>
              <a:t>https://docs.splunk.com/Documentation/Forwarder/9.2.1/Forwarder/ConfigSCUFCredentials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Oxygen" panose="02000503000000000000" pitchFamily="2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9180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6637DE6-7E1A-84DF-8176-693D323850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0932" y="1429521"/>
            <a:ext cx="6352382" cy="3972658"/>
          </a:xfrm>
        </p:spPr>
        <p:txBody>
          <a:bodyPr>
            <a:normAutofit/>
          </a:bodyPr>
          <a:lstStyle/>
          <a:p>
            <a:r>
              <a:rPr lang="en-US" dirty="0"/>
              <a:t>Built a lab</a:t>
            </a:r>
          </a:p>
          <a:p>
            <a:r>
              <a:rPr lang="en-US" dirty="0"/>
              <a:t>Installed a search head/indexer combination in Linux, Windows, and Mac</a:t>
            </a:r>
          </a:p>
          <a:p>
            <a:r>
              <a:rPr lang="en-US" dirty="0"/>
              <a:t>Installed and configured both universal and heavy forwarders in Linux, Windows, Mac, and Splunk Cloud Platform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8241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plunkCourses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AB67B"/>
      </a:accent1>
      <a:accent2>
        <a:srgbClr val="11A7BB"/>
      </a:accent2>
      <a:accent3>
        <a:srgbClr val="10BC10"/>
      </a:accent3>
      <a:accent4>
        <a:srgbClr val="30ED30"/>
      </a:accent4>
      <a:accent5>
        <a:srgbClr val="47A024"/>
      </a:accent5>
      <a:accent6>
        <a:srgbClr val="FFD53C"/>
      </a:accent6>
      <a:hlink>
        <a:srgbClr val="57A392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yTemplate" id="{26A0C1B6-715F-AC44-BCED-62087F6A59BD}" vid="{34A612B6-9B41-6346-AAFA-9D125A4274F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537</TotalTime>
  <Words>1949</Words>
  <Application>Microsoft Office PowerPoint</Application>
  <PresentationFormat>Widescreen</PresentationFormat>
  <Paragraphs>186</Paragraphs>
  <Slides>20</Slides>
  <Notes>1</Notes>
  <HiddenSlides>3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.Lucida Grande UI Regular</vt:lpstr>
      <vt:lpstr>Arial</vt:lpstr>
      <vt:lpstr>Calibri</vt:lpstr>
      <vt:lpstr>Courier New</vt:lpstr>
      <vt:lpstr>Oxygen</vt:lpstr>
      <vt:lpstr>Stone Sans</vt:lpstr>
      <vt:lpstr>Stone Sans Semi Bold</vt:lpstr>
      <vt:lpstr>Office Theme</vt:lpstr>
      <vt:lpstr>Installing Splunk</vt:lpstr>
      <vt:lpstr>PowerPoint Presentation</vt:lpstr>
      <vt:lpstr>Installing Splunk in Linux</vt:lpstr>
      <vt:lpstr>Linux Search Head</vt:lpstr>
      <vt:lpstr>PowerPoint Presentation</vt:lpstr>
      <vt:lpstr>Installing Splunk in Windows</vt:lpstr>
      <vt:lpstr>Windows Search Head</vt:lpstr>
      <vt:lpstr>Installing Splunk in MacOS</vt:lpstr>
      <vt:lpstr>Mac</vt:lpstr>
      <vt:lpstr>PowerPoint Presentation</vt:lpstr>
      <vt:lpstr>Installing Heavy Forwarders</vt:lpstr>
      <vt:lpstr>Heavy Forwarders</vt:lpstr>
      <vt:lpstr>Installing Universal Forwarders</vt:lpstr>
      <vt:lpstr>Universal Forwarders - Linux</vt:lpstr>
      <vt:lpstr>PowerPoint Presentation</vt:lpstr>
      <vt:lpstr>Universal Forwarders - Windows</vt:lpstr>
      <vt:lpstr>PowerPoint Presentation</vt:lpstr>
      <vt:lpstr>Universal Forwarders - MacOS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Installing Splunk</dc:title>
  <dc:creator>Adam Frisbee</dc:creator>
  <cp:lastModifiedBy>Adam Frisbee</cp:lastModifiedBy>
  <cp:revision>21</cp:revision>
  <dcterms:created xsi:type="dcterms:W3CDTF">2020-10-12T20:20:10Z</dcterms:created>
  <dcterms:modified xsi:type="dcterms:W3CDTF">2025-06-18T15:50:31Z</dcterms:modified>
</cp:coreProperties>
</file>