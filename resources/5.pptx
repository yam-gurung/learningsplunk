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handoutMasterIdLst>
    <p:handoutMasterId r:id="rId35"/>
  </p:handoutMasterIdLst>
  <p:sldIdLst>
    <p:sldId id="257" r:id="rId2"/>
    <p:sldId id="262" r:id="rId3"/>
    <p:sldId id="315" r:id="rId4"/>
    <p:sldId id="264" r:id="rId5"/>
    <p:sldId id="316" r:id="rId6"/>
    <p:sldId id="267" r:id="rId7"/>
    <p:sldId id="268" r:id="rId8"/>
    <p:sldId id="269" r:id="rId9"/>
    <p:sldId id="305" r:id="rId10"/>
    <p:sldId id="307" r:id="rId11"/>
    <p:sldId id="308" r:id="rId12"/>
    <p:sldId id="313" r:id="rId13"/>
    <p:sldId id="317" r:id="rId14"/>
    <p:sldId id="318" r:id="rId15"/>
    <p:sldId id="319" r:id="rId16"/>
    <p:sldId id="320" r:id="rId17"/>
    <p:sldId id="321" r:id="rId18"/>
    <p:sldId id="324" r:id="rId19"/>
    <p:sldId id="322" r:id="rId20"/>
    <p:sldId id="311" r:id="rId21"/>
    <p:sldId id="323" r:id="rId22"/>
    <p:sldId id="312" r:id="rId23"/>
    <p:sldId id="259" r:id="rId24"/>
    <p:sldId id="258" r:id="rId25"/>
    <p:sldId id="260" r:id="rId26"/>
    <p:sldId id="325" r:id="rId27"/>
    <p:sldId id="326" r:id="rId28"/>
    <p:sldId id="327" r:id="rId29"/>
    <p:sldId id="261" r:id="rId30"/>
    <p:sldId id="328" r:id="rId31"/>
    <p:sldId id="314" r:id="rId32"/>
    <p:sldId id="30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D82B8"/>
    <a:srgbClr val="E0C5DE"/>
    <a:srgbClr val="6B0504"/>
    <a:srgbClr val="47A025"/>
    <a:srgbClr val="A3320B"/>
    <a:srgbClr val="EF798A"/>
    <a:srgbClr val="19381F"/>
    <a:srgbClr val="D5E68D"/>
    <a:srgbClr val="241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11"/>
    <p:restoredTop sz="79938"/>
  </p:normalViewPr>
  <p:slideViewPr>
    <p:cSldViewPr snapToGrid="0" snapToObjects="1">
      <p:cViewPr varScale="1">
        <p:scale>
          <a:sx n="90" d="100"/>
          <a:sy n="90" d="100"/>
        </p:scale>
        <p:origin x="678"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8F43A4-FDC7-5048-9C55-B37BF188C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951E4B-6168-4F44-A996-155693893D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75306E-17AE-FE4F-A068-D358FBAB85E5}" type="datetimeFigureOut">
              <a:rPr lang="en-US" smtClean="0"/>
              <a:t>11/27/2020</a:t>
            </a:fld>
            <a:endParaRPr lang="en-US"/>
          </a:p>
        </p:txBody>
      </p:sp>
      <p:sp>
        <p:nvSpPr>
          <p:cNvPr id="4" name="Footer Placeholder 3">
            <a:extLst>
              <a:ext uri="{FF2B5EF4-FFF2-40B4-BE49-F238E27FC236}">
                <a16:creationId xmlns:a16="http://schemas.microsoft.com/office/drawing/2014/main" id="{B57A9D0F-028A-334F-9C4C-3404476711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43DBB5-5C5E-F34D-A707-4CC7FB0889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92CC26-50D2-4C45-80DF-B9D66A1C40C3}" type="slidenum">
              <a:rPr lang="en-US" smtClean="0"/>
              <a:t>‹#›</a:t>
            </a:fld>
            <a:endParaRPr lang="en-US"/>
          </a:p>
        </p:txBody>
      </p:sp>
    </p:spTree>
    <p:extLst>
      <p:ext uri="{BB962C8B-B14F-4D97-AF65-F5344CB8AC3E}">
        <p14:creationId xmlns:p14="http://schemas.microsoft.com/office/powerpoint/2010/main" val="1883356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78B8-FC04-7344-BEE2-7F64D4B08259}" type="datetimeFigureOut">
              <a:rPr lang="en-US" smtClean="0"/>
              <a:t>11/27/2020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6F332B-523F-114C-9A8D-1E7C723DC188}" type="slidenum">
              <a:rPr lang="en-US" smtClean="0"/>
              <a:t>‹#›</a:t>
            </a:fld>
            <a:endParaRPr lang="en-US"/>
          </a:p>
        </p:txBody>
      </p:sp>
    </p:spTree>
    <p:extLst>
      <p:ext uri="{BB962C8B-B14F-4D97-AF65-F5344CB8AC3E}">
        <p14:creationId xmlns:p14="http://schemas.microsoft.com/office/powerpoint/2010/main" val="22827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splunk.com/Documentation/Splunk/8.0.0/Data/HowSplunkextractstimestamp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activities we do in Splunk is search.</a:t>
            </a:r>
          </a:p>
          <a:p>
            <a:endParaRPr lang="en-US" dirty="0"/>
          </a:p>
          <a:p>
            <a:r>
              <a:rPr lang="en-US" dirty="0"/>
              <a:t>But Searching in Splunk is not just Googling data—it’s a powerful way to interact with the data</a:t>
            </a:r>
          </a:p>
        </p:txBody>
      </p:sp>
      <p:sp>
        <p:nvSpPr>
          <p:cNvPr id="4" name="Slide Number Placeholder 3"/>
          <p:cNvSpPr>
            <a:spLocks noGrp="1"/>
          </p:cNvSpPr>
          <p:nvPr>
            <p:ph type="sldNum" sz="quarter" idx="5"/>
          </p:nvPr>
        </p:nvSpPr>
        <p:spPr/>
        <p:txBody>
          <a:bodyPr/>
          <a:lstStyle/>
          <a:p>
            <a:fld id="{406F332B-523F-114C-9A8D-1E7C723DC188}" type="slidenum">
              <a:rPr lang="en-US" smtClean="0"/>
              <a:t>1</a:t>
            </a:fld>
            <a:endParaRPr lang="en-US"/>
          </a:p>
        </p:txBody>
      </p:sp>
    </p:spTree>
    <p:extLst>
      <p:ext uri="{BB962C8B-B14F-4D97-AF65-F5344CB8AC3E}">
        <p14:creationId xmlns:p14="http://schemas.microsoft.com/office/powerpoint/2010/main" val="2400629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4</a:t>
            </a:fld>
            <a:endParaRPr lang="en-US"/>
          </a:p>
        </p:txBody>
      </p:sp>
    </p:spTree>
    <p:extLst>
      <p:ext uri="{BB962C8B-B14F-4D97-AF65-F5344CB8AC3E}">
        <p14:creationId xmlns:p14="http://schemas.microsoft.com/office/powerpoint/2010/main" val="2980904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Splunk search is all about reducing complexity in unstructured or semi structured data so that it provides value to data analysts and users. A basic search pipeline looks like this:</a:t>
            </a:r>
          </a:p>
          <a:p>
            <a:endParaRPr lang="en-US" dirty="0"/>
          </a:p>
          <a:p>
            <a:r>
              <a:rPr lang="en-US" dirty="0"/>
              <a:t>Step 1: We input a big glob of events. This data can come from forwarders, network inputs, scripted inputs, uploads, anywhere. Then we perform broad searches on it so that we filter out some of the data that we don’t want.</a:t>
            </a:r>
          </a:p>
          <a:p>
            <a:endParaRPr lang="en-US" dirty="0"/>
          </a:p>
          <a:p>
            <a:r>
              <a:rPr lang="en-US" dirty="0"/>
              <a:t>In step two, we have a slightly better data set to work with. Now, we can perform further searches, commands, and transformations until we get the data we want into the format we want.</a:t>
            </a:r>
          </a:p>
          <a:p>
            <a:endParaRPr lang="en-US" dirty="0"/>
          </a:p>
          <a:p>
            <a:r>
              <a:rPr lang="en-US" dirty="0"/>
              <a:t>In step 3, we have the data we want in the format we want, and now we have to decide what to do with it. In this step, we create reports, dashboards, and alerts.</a:t>
            </a:r>
          </a:p>
          <a:p>
            <a:endParaRPr lang="en-US" dirty="0"/>
          </a:p>
          <a:p>
            <a:r>
              <a:rPr lang="en-US" dirty="0"/>
              <a:t>(animation) And in between each step is the Unix pipe.</a:t>
            </a:r>
          </a:p>
        </p:txBody>
      </p:sp>
      <p:sp>
        <p:nvSpPr>
          <p:cNvPr id="4" name="Slide Number Placeholder 3"/>
          <p:cNvSpPr>
            <a:spLocks noGrp="1"/>
          </p:cNvSpPr>
          <p:nvPr>
            <p:ph type="sldNum" sz="quarter" idx="5"/>
          </p:nvPr>
        </p:nvSpPr>
        <p:spPr/>
        <p:txBody>
          <a:bodyPr/>
          <a:lstStyle/>
          <a:p>
            <a:fld id="{406F332B-523F-114C-9A8D-1E7C723DC188}" type="slidenum">
              <a:rPr lang="en-US" smtClean="0"/>
              <a:t>7</a:t>
            </a:fld>
            <a:endParaRPr lang="en-US"/>
          </a:p>
        </p:txBody>
      </p:sp>
    </p:spTree>
    <p:extLst>
      <p:ext uri="{BB962C8B-B14F-4D97-AF65-F5344CB8AC3E}">
        <p14:creationId xmlns:p14="http://schemas.microsoft.com/office/powerpoint/2010/main" val="3825866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a:t>
            </a:r>
            <a:r>
              <a:rPr lang="en-US" dirty="0" err="1"/>
              <a:t>opeators</a:t>
            </a:r>
            <a:r>
              <a:rPr lang="en-US" dirty="0"/>
              <a:t> tell Splunk to take the output of the previous commands, do something with it, then output it to the next step.</a:t>
            </a:r>
          </a:p>
          <a:p>
            <a:endParaRPr lang="en-US" dirty="0"/>
          </a:p>
          <a:p>
            <a:r>
              <a:rPr lang="en-US" dirty="0"/>
              <a:t>We continue to do this until we have the data we want in the format we want</a:t>
            </a:r>
          </a:p>
        </p:txBody>
      </p:sp>
      <p:sp>
        <p:nvSpPr>
          <p:cNvPr id="4" name="Slide Number Placeholder 3"/>
          <p:cNvSpPr>
            <a:spLocks noGrp="1"/>
          </p:cNvSpPr>
          <p:nvPr>
            <p:ph type="sldNum" sz="quarter" idx="5"/>
          </p:nvPr>
        </p:nvSpPr>
        <p:spPr/>
        <p:txBody>
          <a:bodyPr/>
          <a:lstStyle/>
          <a:p>
            <a:fld id="{406F332B-523F-114C-9A8D-1E7C723DC188}" type="slidenum">
              <a:rPr lang="en-US" smtClean="0"/>
              <a:t>8</a:t>
            </a:fld>
            <a:endParaRPr lang="en-US"/>
          </a:p>
        </p:txBody>
      </p:sp>
    </p:spTree>
    <p:extLst>
      <p:ext uri="{BB962C8B-B14F-4D97-AF65-F5344CB8AC3E}">
        <p14:creationId xmlns:p14="http://schemas.microsoft.com/office/powerpoint/2010/main" val="181633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Splunk handles time is important. Data analytics rely on timestamps in the data. It doesn’t make sense to know, for example, how many failed login attempts there were if we don’t have a time window in which we are interested.</a:t>
            </a:r>
          </a:p>
        </p:txBody>
      </p:sp>
      <p:sp>
        <p:nvSpPr>
          <p:cNvPr id="4" name="Slide Number Placeholder 3"/>
          <p:cNvSpPr>
            <a:spLocks noGrp="1"/>
          </p:cNvSpPr>
          <p:nvPr>
            <p:ph type="sldNum" sz="quarter" idx="5"/>
          </p:nvPr>
        </p:nvSpPr>
        <p:spPr/>
        <p:txBody>
          <a:bodyPr/>
          <a:lstStyle/>
          <a:p>
            <a:fld id="{406F332B-523F-114C-9A8D-1E7C723DC188}" type="slidenum">
              <a:rPr lang="en-US" smtClean="0"/>
              <a:t>9</a:t>
            </a:fld>
            <a:endParaRPr lang="en-US"/>
          </a:p>
        </p:txBody>
      </p:sp>
    </p:spTree>
    <p:extLst>
      <p:ext uri="{BB962C8B-B14F-4D97-AF65-F5344CB8AC3E}">
        <p14:creationId xmlns:p14="http://schemas.microsoft.com/office/powerpoint/2010/main" val="4258687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UNIX time is the number of seconds that have elapsed since January 1, 1970, also known as epoch time.</a:t>
            </a:r>
          </a:p>
        </p:txBody>
      </p:sp>
      <p:sp>
        <p:nvSpPr>
          <p:cNvPr id="4" name="Slide Number Placeholder 3"/>
          <p:cNvSpPr>
            <a:spLocks noGrp="1"/>
          </p:cNvSpPr>
          <p:nvPr>
            <p:ph type="sldNum" sz="quarter" idx="5"/>
          </p:nvPr>
        </p:nvSpPr>
        <p:spPr/>
        <p:txBody>
          <a:bodyPr/>
          <a:lstStyle/>
          <a:p>
            <a:fld id="{406F332B-523F-114C-9A8D-1E7C723DC188}" type="slidenum">
              <a:rPr lang="en-US" smtClean="0"/>
              <a:t>10</a:t>
            </a:fld>
            <a:endParaRPr lang="en-US"/>
          </a:p>
        </p:txBody>
      </p:sp>
    </p:spTree>
    <p:extLst>
      <p:ext uri="{BB962C8B-B14F-4D97-AF65-F5344CB8AC3E}">
        <p14:creationId xmlns:p14="http://schemas.microsoft.com/office/powerpoint/2010/main" val="660736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format time in any way we want using </a:t>
            </a:r>
            <a:r>
              <a:rPr lang="en-US" dirty="0" err="1"/>
              <a:t>Pythonst</a:t>
            </a:r>
            <a:r>
              <a:rPr lang="en-US" dirty="0"/>
              <a:t> </a:t>
            </a:r>
            <a:r>
              <a:rPr lang="en-US" dirty="0" err="1"/>
              <a:t>stripf</a:t>
            </a:r>
            <a:r>
              <a:rPr lang="en-US" dirty="0"/>
              <a:t> and </a:t>
            </a:r>
            <a:r>
              <a:rPr lang="en-US" dirty="0" err="1"/>
              <a:t>stringf</a:t>
            </a:r>
            <a:r>
              <a:rPr lang="en-US" dirty="0"/>
              <a:t> time and </a:t>
            </a:r>
            <a:r>
              <a:rPr lang="en-US" dirty="0" err="1"/>
              <a:t>stringp</a:t>
            </a:r>
            <a:r>
              <a:rPr lang="en-US" dirty="0"/>
              <a:t> time (we’ll talk about these later).</a:t>
            </a:r>
          </a:p>
        </p:txBody>
      </p:sp>
      <p:sp>
        <p:nvSpPr>
          <p:cNvPr id="4" name="Slide Number Placeholder 3"/>
          <p:cNvSpPr>
            <a:spLocks noGrp="1"/>
          </p:cNvSpPr>
          <p:nvPr>
            <p:ph type="sldNum" sz="quarter" idx="5"/>
          </p:nvPr>
        </p:nvSpPr>
        <p:spPr/>
        <p:txBody>
          <a:bodyPr/>
          <a:lstStyle/>
          <a:p>
            <a:fld id="{406F332B-523F-114C-9A8D-1E7C723DC188}" type="slidenum">
              <a:rPr lang="en-US" smtClean="0"/>
              <a:t>11</a:t>
            </a:fld>
            <a:endParaRPr lang="en-US"/>
          </a:p>
        </p:txBody>
      </p:sp>
    </p:spTree>
    <p:extLst>
      <p:ext uri="{BB962C8B-B14F-4D97-AF65-F5344CB8AC3E}">
        <p14:creationId xmlns:p14="http://schemas.microsoft.com/office/powerpoint/2010/main" val="1815879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Splunk is good at dealing with unstructured data. Unstructured data often has timestamps that are not in traditional formats, or sometimes none at all.</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How Splunk determines timestamps</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Looks for the timestamp in the event itself</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It looks for a time or date in the event </a:t>
            </a:r>
          </a:p>
          <a:p>
            <a:pPr marL="171450" indent="-171450">
              <a:buFont typeface="Arial" panose="020B0604020202020204" pitchFamily="34" charset="0"/>
              <a:buChar char="•"/>
            </a:pPr>
            <a:r>
              <a:rPr lang="en-US" dirty="0"/>
              <a:t>If an event has a time and date, but not a year, Splunk software determines the year, as described in How Splunk software determines timestamps with no year, and builds the timestamp from that.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Looks at the source name or file name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If no events in a source have a date, Splunk software tries to find a date in the source name or file name</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1" i="0" kern="1200" dirty="0">
                <a:solidFill>
                  <a:schemeClr val="tx1"/>
                </a:solidFill>
                <a:effectLst/>
                <a:latin typeface="+mn-lt"/>
                <a:ea typeface="+mn-ea"/>
                <a:cs typeface="+mn-cs"/>
              </a:rPr>
              <a:t>For file sources: File modification time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For file sources, if no date can be identified in the file name, Splunk software uses the file modification time.</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1" i="0" kern="1200" dirty="0">
                <a:solidFill>
                  <a:schemeClr val="tx1"/>
                </a:solidFill>
                <a:effectLst/>
                <a:latin typeface="+mn-lt"/>
                <a:ea typeface="+mn-ea"/>
                <a:cs typeface="+mn-cs"/>
              </a:rPr>
              <a:t>Last resort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As a last resort, Splunk software sets the timestamp to the current system time when indexing each event.</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hlinkClick r:id="rId3"/>
            </a:endParaRPr>
          </a:p>
          <a:p>
            <a:pPr marL="0" indent="0">
              <a:buFont typeface="Arial" panose="020B0604020202020204" pitchFamily="34" charset="0"/>
              <a:buNone/>
            </a:pPr>
            <a:r>
              <a:rPr lang="en-US" dirty="0">
                <a:hlinkClick r:id="rId3"/>
              </a:rPr>
              <a:t>https://docs.splunk.com/Documentation/Splunk/8.0.0/Data/HowSplunkextractstimestamps</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06F332B-523F-114C-9A8D-1E7C723DC188}" type="slidenum">
              <a:rPr lang="en-US" smtClean="0"/>
              <a:t>12</a:t>
            </a:fld>
            <a:endParaRPr lang="en-US"/>
          </a:p>
        </p:txBody>
      </p:sp>
    </p:spTree>
    <p:extLst>
      <p:ext uri="{BB962C8B-B14F-4D97-AF65-F5344CB8AC3E}">
        <p14:creationId xmlns:p14="http://schemas.microsoft.com/office/powerpoint/2010/main" val="806580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EC7D8A-91D9-A64F-B178-77DB64CB29EC}" type="slidenum">
              <a:rPr lang="en-US" smtClean="0"/>
              <a:t>21</a:t>
            </a:fld>
            <a:endParaRPr lang="en-US"/>
          </a:p>
        </p:txBody>
      </p:sp>
    </p:spTree>
    <p:extLst>
      <p:ext uri="{BB962C8B-B14F-4D97-AF65-F5344CB8AC3E}">
        <p14:creationId xmlns:p14="http://schemas.microsoft.com/office/powerpoint/2010/main" val="2095464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EC7D8A-91D9-A64F-B178-77DB64CB29EC}" type="slidenum">
              <a:rPr lang="en-US" smtClean="0"/>
              <a:t>22</a:t>
            </a:fld>
            <a:endParaRPr lang="en-US"/>
          </a:p>
        </p:txBody>
      </p:sp>
    </p:spTree>
    <p:extLst>
      <p:ext uri="{BB962C8B-B14F-4D97-AF65-F5344CB8AC3E}">
        <p14:creationId xmlns:p14="http://schemas.microsoft.com/office/powerpoint/2010/main" val="2406237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EC7D8A-91D9-A64F-B178-77DB64CB29EC}" type="slidenum">
              <a:rPr lang="en-US" smtClean="0"/>
              <a:t>23</a:t>
            </a:fld>
            <a:endParaRPr lang="en-US"/>
          </a:p>
        </p:txBody>
      </p:sp>
    </p:spTree>
    <p:extLst>
      <p:ext uri="{BB962C8B-B14F-4D97-AF65-F5344CB8AC3E}">
        <p14:creationId xmlns:p14="http://schemas.microsoft.com/office/powerpoint/2010/main" val="4054589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construct a basic search, we begin with broad search terms. If we know any of the metadata, it is wise to start filtering based on that. For example, in this search, we have specified the host and the source. That takes a potentially huge burden off of the system because now there is a bunch of data that Splunk doesn’t need to worry about.</a:t>
            </a:r>
          </a:p>
          <a:p>
            <a:endParaRPr lang="en-US" dirty="0"/>
          </a:p>
          <a:p>
            <a:r>
              <a:rPr lang="en-US" dirty="0"/>
              <a:t>We are also specifying a specific field, user, and an asterisk. That means that we want Splunk to search the user field for any value (we assume this contains usernames). </a:t>
            </a:r>
          </a:p>
          <a:p>
            <a:endParaRPr lang="en-US" dirty="0"/>
          </a:p>
          <a:p>
            <a:r>
              <a:rPr lang="en-US" dirty="0"/>
              <a:t>Next, we are specifying two additional fields using a Boolean OR. This is saying ”search the message field for anything that starts with “fail” (so that could be fail, failure, failed, etc.) OR anything in the message field that starts with lock (so it could be locked, locking, </a:t>
            </a:r>
            <a:r>
              <a:rPr lang="en-US" dirty="0" err="1"/>
              <a:t>lokheed</a:t>
            </a:r>
            <a:r>
              <a:rPr lang="en-US" dirty="0"/>
              <a:t>, etc.).</a:t>
            </a:r>
          </a:p>
          <a:p>
            <a:endParaRPr lang="en-US" dirty="0"/>
          </a:p>
          <a:p>
            <a:r>
              <a:rPr lang="en-US" dirty="0"/>
              <a:t>After our broad search is complete, it’s time to do some commands to manipulate the results to get them into the format we want. In this search, I began with the pipe delimiter. You can put the pipe delimiters on separate lines for a nice, clean look. They can all go on the same line as well.</a:t>
            </a:r>
          </a:p>
          <a:p>
            <a:endParaRPr lang="en-US" dirty="0"/>
          </a:p>
          <a:p>
            <a:r>
              <a:rPr lang="en-US" dirty="0"/>
              <a:t>I’ve done two commands here. The first one is to build a basic table with three fields. The _time field is a Splunk default metadata field that is a timestamp (more on that next), the next field is user—we searched the user field and so this will display all data with that field and any value. The next field is the message field, and it will display message fields with fail* OR lock* and nothing else.</a:t>
            </a:r>
          </a:p>
          <a:p>
            <a:endParaRPr lang="en-US" dirty="0"/>
          </a:p>
          <a:p>
            <a:r>
              <a:rPr lang="en-US" dirty="0"/>
              <a:t>Then we do another command that sorts descending by the _time field.</a:t>
            </a:r>
          </a:p>
        </p:txBody>
      </p:sp>
      <p:sp>
        <p:nvSpPr>
          <p:cNvPr id="4" name="Slide Number Placeholder 3"/>
          <p:cNvSpPr>
            <a:spLocks noGrp="1"/>
          </p:cNvSpPr>
          <p:nvPr>
            <p:ph type="sldNum" sz="quarter" idx="10"/>
          </p:nvPr>
        </p:nvSpPr>
        <p:spPr/>
        <p:txBody>
          <a:bodyPr/>
          <a:lstStyle/>
          <a:p>
            <a:fld id="{A5EC7D8A-91D9-A64F-B178-77DB64CB29EC}" type="slidenum">
              <a:rPr lang="en-US" smtClean="0"/>
              <a:t>24</a:t>
            </a:fld>
            <a:endParaRPr lang="en-US"/>
          </a:p>
        </p:txBody>
      </p:sp>
    </p:spTree>
    <p:extLst>
      <p:ext uri="{BB962C8B-B14F-4D97-AF65-F5344CB8AC3E}">
        <p14:creationId xmlns:p14="http://schemas.microsoft.com/office/powerpoint/2010/main" val="4040692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EC7D8A-91D9-A64F-B178-77DB64CB29EC}" type="slidenum">
              <a:rPr lang="en-US" smtClean="0"/>
              <a:t>25</a:t>
            </a:fld>
            <a:endParaRPr lang="en-US"/>
          </a:p>
        </p:txBody>
      </p:sp>
    </p:spTree>
    <p:extLst>
      <p:ext uri="{BB962C8B-B14F-4D97-AF65-F5344CB8AC3E}">
        <p14:creationId xmlns:p14="http://schemas.microsoft.com/office/powerpoint/2010/main" val="2080018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are searchable key-value pairs. When Splunk processes event data, it looks for potential fields in the data</a:t>
            </a:r>
          </a:p>
        </p:txBody>
      </p:sp>
      <p:sp>
        <p:nvSpPr>
          <p:cNvPr id="4" name="Slide Number Placeholder 3"/>
          <p:cNvSpPr>
            <a:spLocks noGrp="1"/>
          </p:cNvSpPr>
          <p:nvPr>
            <p:ph type="sldNum" sz="quarter" idx="5"/>
          </p:nvPr>
        </p:nvSpPr>
        <p:spPr/>
        <p:txBody>
          <a:bodyPr/>
          <a:lstStyle/>
          <a:p>
            <a:fld id="{406F332B-523F-114C-9A8D-1E7C723DC188}" type="slidenum">
              <a:rPr lang="en-US" smtClean="0"/>
              <a:t>27</a:t>
            </a:fld>
            <a:endParaRPr lang="en-US"/>
          </a:p>
        </p:txBody>
      </p:sp>
    </p:spTree>
    <p:extLst>
      <p:ext uri="{BB962C8B-B14F-4D97-AF65-F5344CB8AC3E}">
        <p14:creationId xmlns:p14="http://schemas.microsoft.com/office/powerpoint/2010/main" val="1405812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has a power field discovery engine. Here’s how it works:</a:t>
            </a:r>
          </a:p>
          <a:p>
            <a:endParaRPr lang="en-US" dirty="0"/>
          </a:p>
          <a:p>
            <a:r>
              <a:rPr lang="en-US" dirty="0"/>
              <a:t>First, it discovers default fields in the data. When we added data to Splunk we saw this in action. Default fields include host, source, </a:t>
            </a:r>
            <a:r>
              <a:rPr lang="en-US" dirty="0" err="1"/>
              <a:t>sourcetype</a:t>
            </a:r>
            <a:r>
              <a:rPr lang="en-US" dirty="0"/>
              <a:t>, _time, and more.</a:t>
            </a:r>
          </a:p>
          <a:p>
            <a:r>
              <a:rPr lang="en-US" dirty="0"/>
              <a:t>Next, it looks for obvious key-value pairs in the first 100 events in the data. </a:t>
            </a:r>
          </a:p>
          <a:p>
            <a:r>
              <a:rPr lang="en-US" dirty="0"/>
              <a:t>Then, it builds fields using custom field extractions built by users and apps</a:t>
            </a:r>
          </a:p>
        </p:txBody>
      </p:sp>
      <p:sp>
        <p:nvSpPr>
          <p:cNvPr id="4" name="Slide Number Placeholder 3"/>
          <p:cNvSpPr>
            <a:spLocks noGrp="1"/>
          </p:cNvSpPr>
          <p:nvPr>
            <p:ph type="sldNum" sz="quarter" idx="5"/>
          </p:nvPr>
        </p:nvSpPr>
        <p:spPr/>
        <p:txBody>
          <a:bodyPr/>
          <a:lstStyle/>
          <a:p>
            <a:fld id="{406F332B-523F-114C-9A8D-1E7C723DC188}" type="slidenum">
              <a:rPr lang="en-US" smtClean="0"/>
              <a:t>28</a:t>
            </a:fld>
            <a:endParaRPr lang="en-US"/>
          </a:p>
        </p:txBody>
      </p:sp>
    </p:spTree>
    <p:extLst>
      <p:ext uri="{BB962C8B-B14F-4D97-AF65-F5344CB8AC3E}">
        <p14:creationId xmlns:p14="http://schemas.microsoft.com/office/powerpoint/2010/main" val="3428965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has three search modes. Selection of these search modes have a significant impact on the performance of your Splunk environment. There are use-cases for each mode. The default mode is Smart mode, in which, as we’ve discussed, Splunk attempts to determine what results you are looking for and return them as quickly as possible, based on the structure of your search. By default, Smart mode attempts to discover fields in the data by looking for key=value pairs. If your search contains transforming commands, like stats chart and </a:t>
            </a:r>
            <a:r>
              <a:rPr lang="en-US" dirty="0" err="1"/>
              <a:t>timechart</a:t>
            </a:r>
            <a:r>
              <a:rPr lang="en-US" dirty="0"/>
              <a:t>, then Smart mode acts mode like fast mode assuming you don’t need any more automatic field discovery.</a:t>
            </a:r>
          </a:p>
          <a:p>
            <a:endParaRPr lang="en-US" dirty="0"/>
          </a:p>
          <a:p>
            <a:r>
              <a:rPr lang="en-US" dirty="0"/>
              <a:t>Fast mode is great when you know all of the fields you want to search, and you specify them in the search. Your search can run super fast because Splunk doesn’t have to use processing power to discover fields. Fast mode disables field discovery.</a:t>
            </a:r>
          </a:p>
          <a:p>
            <a:endParaRPr lang="en-US" dirty="0"/>
          </a:p>
          <a:p>
            <a:r>
              <a:rPr lang="en-US" dirty="0"/>
              <a:t>Verbose mode should be used when you don’t know much about the data and need Splunk to expend its full resources auto discovering fields. Verbose mode returns all event and field data it can possibly find, at the cost of a slower search.</a:t>
            </a:r>
          </a:p>
          <a:p>
            <a:endParaRPr lang="en-US" dirty="0"/>
          </a:p>
        </p:txBody>
      </p:sp>
      <p:sp>
        <p:nvSpPr>
          <p:cNvPr id="4" name="Slide Number Placeholder 3"/>
          <p:cNvSpPr>
            <a:spLocks noGrp="1"/>
          </p:cNvSpPr>
          <p:nvPr>
            <p:ph type="sldNum" sz="quarter" idx="10"/>
          </p:nvPr>
        </p:nvSpPr>
        <p:spPr/>
        <p:txBody>
          <a:bodyPr/>
          <a:lstStyle/>
          <a:p>
            <a:fld id="{A5EC7D8A-91D9-A64F-B178-77DB64CB29EC}" type="slidenum">
              <a:rPr lang="en-US" smtClean="0"/>
              <a:t>29</a:t>
            </a:fld>
            <a:endParaRPr lang="en-US"/>
          </a:p>
        </p:txBody>
      </p:sp>
    </p:spTree>
    <p:extLst>
      <p:ext uri="{BB962C8B-B14F-4D97-AF65-F5344CB8AC3E}">
        <p14:creationId xmlns:p14="http://schemas.microsoft.com/office/powerpoint/2010/main" val="1798484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Overview">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45185DFC-FD8D-2644-BCD7-7AF03C438FAA}"/>
              </a:ext>
            </a:extLst>
          </p:cNvPr>
          <p:cNvSpPr/>
          <p:nvPr userDrawn="1"/>
        </p:nvSpPr>
        <p:spPr>
          <a:xfrm>
            <a:off x="12236193" y="0"/>
            <a:ext cx="9337837" cy="6857999"/>
          </a:xfrm>
          <a:prstGeom prst="hexagon">
            <a:avLst/>
          </a:prstGeom>
          <a:blipFill dpi="0" rotWithShape="1">
            <a:blip r:embed="rId2">
              <a:extLst>
                <a:ext uri="{28A0092B-C50C-407E-A947-70E740481C1C}">
                  <a14:useLocalDpi xmlns:a14="http://schemas.microsoft.com/office/drawing/2010/main" val="0"/>
                </a:ext>
              </a:extLst>
            </a:blip>
            <a:srcRect/>
            <a:stretch>
              <a:fillRect l="-15586" t="-18948" r="-15162" b="1"/>
            </a:stretch>
          </a:blipFill>
          <a:ln>
            <a:noFill/>
            <a:prstDash val="sysDot"/>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49B2FF-0BA9-1D49-BBE6-716088BF8A89}"/>
              </a:ext>
            </a:extLst>
          </p:cNvPr>
          <p:cNvSpPr/>
          <p:nvPr userDrawn="1"/>
        </p:nvSpPr>
        <p:spPr>
          <a:xfrm>
            <a:off x="6389512" y="365125"/>
            <a:ext cx="4964288" cy="1325562"/>
          </a:xfrm>
          <a:prstGeom prst="rect">
            <a:avLst/>
          </a:prstGeom>
          <a:solidFill>
            <a:srgbClr val="FFFFFF">
              <a:alpha val="50196"/>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838200" y="2134689"/>
            <a:ext cx="5257800" cy="4358186"/>
          </a:xfrm>
        </p:spPr>
        <p:txBody>
          <a:bodyPr>
            <a:normAutofit/>
          </a:bodyPr>
          <a:lstStyle>
            <a:lvl1pPr marL="457200" indent="-457200">
              <a:buClr>
                <a:schemeClr val="accent2"/>
              </a:buClr>
              <a:buFont typeface=".Lucida Grande UI Regular"/>
              <a:buChar char="⇢"/>
              <a:defRPr sz="2800" baseline="0"/>
            </a:lvl1pPr>
            <a:lvl2pPr marL="457200" indent="0">
              <a:buClr>
                <a:schemeClr val="accent5"/>
              </a:buClr>
              <a:buFont typeface=".Lucida Grande UI Regular"/>
              <a:buNone/>
              <a:defRPr sz="2400"/>
            </a:lvl2pPr>
            <a:lvl3pPr marL="914400" indent="0">
              <a:buClr>
                <a:schemeClr val="accent5"/>
              </a:buClr>
              <a:buFont typeface=".Lucida Grande UI Regular"/>
              <a:buNone/>
              <a:defRPr sz="2000"/>
            </a:lvl3pPr>
            <a:lvl4pPr marL="1371600" indent="0">
              <a:buClr>
                <a:schemeClr val="accent5"/>
              </a:buClr>
              <a:buFont typeface=".Lucida Grande UI Regular"/>
              <a:buNone/>
              <a:defRPr sz="18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dirty="0"/>
              <a:t>We are going to cover this</a:t>
            </a:r>
          </a:p>
          <a:p>
            <a:pPr lvl="0"/>
            <a:r>
              <a:rPr lang="en-US" dirty="0"/>
              <a:t>Then this</a:t>
            </a:r>
          </a:p>
          <a:p>
            <a:pPr lvl="0"/>
            <a:r>
              <a:rPr lang="en-US" dirty="0"/>
              <a:t>Then this</a:t>
            </a:r>
          </a:p>
          <a:p>
            <a:pPr lvl="0"/>
            <a:r>
              <a:rPr lang="en-US" dirty="0"/>
              <a:t>Then this</a:t>
            </a:r>
          </a:p>
        </p:txBody>
      </p:sp>
      <p:sp>
        <p:nvSpPr>
          <p:cNvPr id="5" name="Title 4">
            <a:extLst>
              <a:ext uri="{FF2B5EF4-FFF2-40B4-BE49-F238E27FC236}">
                <a16:creationId xmlns:a16="http://schemas.microsoft.com/office/drawing/2014/main" id="{BEE5D464-C157-3D43-8895-C0F6CE99D381}"/>
              </a:ext>
            </a:extLst>
          </p:cNvPr>
          <p:cNvSpPr>
            <a:spLocks noGrp="1"/>
          </p:cNvSpPr>
          <p:nvPr>
            <p:ph type="title" hasCustomPrompt="1"/>
          </p:nvPr>
        </p:nvSpPr>
        <p:spPr/>
        <p:txBody>
          <a:bodyPr/>
          <a:lstStyle/>
          <a:p>
            <a:r>
              <a:rPr lang="en-US" dirty="0"/>
              <a:t>Section Overview</a:t>
            </a:r>
          </a:p>
        </p:txBody>
      </p:sp>
    </p:spTree>
    <p:extLst>
      <p:ext uri="{BB962C8B-B14F-4D97-AF65-F5344CB8AC3E}">
        <p14:creationId xmlns:p14="http://schemas.microsoft.com/office/powerpoint/2010/main" val="36928936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14:presetBounceEnd="50000">
                                      <p:stCondLst>
                                        <p:cond delay="500"/>
                                      </p:stCondLst>
                                      <p:childTnLst>
                                        <p:animMotion origin="layout" path="M 1.45833E-6 0 L -0.46953 0 " pathEditMode="relative" rAng="0" ptsTypes="AA" p14:bounceEnd="50000">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stCondLst>
                                        <p:cond delay="500"/>
                                      </p:stCondLst>
                                      <p:childTnLst>
                                        <p:animMotion origin="layout" path="M 1.45833E-6 0 L -0.46953 0 " pathEditMode="relative" rAng="0" ptsTypes="AA">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477107"/>
            <a:ext cx="9144000" cy="872197"/>
          </a:xfrm>
          <a:prstGeom prst="rect">
            <a:avLst/>
          </a:prstGeom>
        </p:spPr>
        <p:txBody>
          <a:bodyPr anchor="b">
            <a:noAutofit/>
          </a:bodyPr>
          <a:lstStyle>
            <a:lvl1pPr algn="ctr">
              <a:defRPr sz="4800"/>
            </a:lvl1pPr>
          </a:lstStyle>
          <a:p>
            <a:r>
              <a:rPr lang="en-US" dirty="0"/>
              <a:t>Sub-Section Header</a:t>
            </a:r>
          </a:p>
        </p:txBody>
      </p:sp>
      <p:sp>
        <p:nvSpPr>
          <p:cNvPr id="4" name="Footer Placeholder 3">
            <a:extLst>
              <a:ext uri="{FF2B5EF4-FFF2-40B4-BE49-F238E27FC236}">
                <a16:creationId xmlns:a16="http://schemas.microsoft.com/office/drawing/2014/main" id="{5C3A140E-EBF5-7A4B-8F26-78545DCFFAC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cxnSp>
        <p:nvCxnSpPr>
          <p:cNvPr id="7" name="Straight Connector 6">
            <a:extLst>
              <a:ext uri="{FF2B5EF4-FFF2-40B4-BE49-F238E27FC236}">
                <a16:creationId xmlns:a16="http://schemas.microsoft.com/office/drawing/2014/main" id="{DB7F3FD1-DEDA-C94C-8CD8-6A2A4BB95ACB}"/>
              </a:ext>
            </a:extLst>
          </p:cNvPr>
          <p:cNvCxnSpPr/>
          <p:nvPr userDrawn="1"/>
        </p:nvCxnSpPr>
        <p:spPr>
          <a:xfrm>
            <a:off x="-9542417" y="3004923"/>
            <a:ext cx="9270609"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66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95833E-6 -4.44444E-6 L 0.90247 -4.44444E-6 " pathEditMode="relative" rAng="0" ptsTypes="AA">
                                      <p:cBhvr>
                                        <p:cTn id="6" dur="1000" fill="hold"/>
                                        <p:tgtEl>
                                          <p:spTgt spid="7"/>
                                        </p:tgtEl>
                                        <p:attrNameLst>
                                          <p:attrName>ppt_x</p:attrName>
                                          <p:attrName>ppt_y</p:attrName>
                                        </p:attrNameLst>
                                      </p:cBhvr>
                                      <p:rCtr x="451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ic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34725" y="2081655"/>
            <a:ext cx="0" cy="3776217"/>
          </a:xfrm>
          <a:prstGeom prst="line">
            <a:avLst/>
          </a:prstGeom>
          <a:ln w="76200" cmpd="sng">
            <a:gradFill>
              <a:gsLst>
                <a:gs pos="0">
                  <a:schemeClr val="accent1">
                    <a:lumMod val="5000"/>
                    <a:lumOff val="95000"/>
                  </a:schemeClr>
                </a:gs>
                <a:gs pos="21000">
                  <a:schemeClr val="accent1">
                    <a:lumMod val="45000"/>
                    <a:lumOff val="55000"/>
                  </a:schemeClr>
                </a:gs>
                <a:gs pos="100000">
                  <a:schemeClr val="accent2"/>
                </a:gs>
              </a:gsLst>
              <a:lin ang="5400000" scaled="1"/>
            </a:gradFill>
            <a:prstDash val="solid"/>
          </a:ln>
          <a:effectLst/>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Static picture left</a:t>
            </a:r>
          </a:p>
        </p:txBody>
      </p:sp>
      <p:sp>
        <p:nvSpPr>
          <p:cNvPr id="13" name="Picture Placeholder 12">
            <a:extLst>
              <a:ext uri="{FF2B5EF4-FFF2-40B4-BE49-F238E27FC236}">
                <a16:creationId xmlns:a16="http://schemas.microsoft.com/office/drawing/2014/main" id="{7D8DEB00-7129-344B-901E-145064506945}"/>
              </a:ext>
            </a:extLst>
          </p:cNvPr>
          <p:cNvSpPr>
            <a:spLocks noGrp="1"/>
          </p:cNvSpPr>
          <p:nvPr>
            <p:ph type="pic" sz="quarter" idx="12"/>
          </p:nvPr>
        </p:nvSpPr>
        <p:spPr>
          <a:xfrm>
            <a:off x="838199" y="2190750"/>
            <a:ext cx="3705629" cy="3667122"/>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12662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righ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nimated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85E7E6C-DA8B-1741-B77B-3ADC92A3B8D3}"/>
              </a:ext>
            </a:extLst>
          </p:cNvPr>
          <p:cNvSpPr>
            <a:spLocks noGrp="1"/>
          </p:cNvSpPr>
          <p:nvPr>
            <p:ph type="pic" sz="quarter" idx="10"/>
          </p:nvPr>
        </p:nvSpPr>
        <p:spPr>
          <a:xfrm>
            <a:off x="209405" y="2084832"/>
            <a:ext cx="3829184" cy="3776217"/>
          </a:xfrm>
        </p:spPr>
        <p:txBody>
          <a:bodyPr/>
          <a:lstStyle>
            <a:lvl1pPr marL="0" indent="0">
              <a:buNone/>
              <a:defRPr/>
            </a:lvl1pPr>
          </a:lstStyle>
          <a:p>
            <a:r>
              <a:rPr lang="en-US"/>
              <a:t>Click icon to add picture</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08943" y="2084832"/>
            <a:ext cx="0" cy="3776217"/>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Animated picture left</a:t>
            </a:r>
          </a:p>
        </p:txBody>
      </p:sp>
    </p:spTree>
    <p:extLst>
      <p:ext uri="{BB962C8B-B14F-4D97-AF65-F5344CB8AC3E}">
        <p14:creationId xmlns:p14="http://schemas.microsoft.com/office/powerpoint/2010/main" val="32879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nodePh="1">
                                  <p:stCondLst>
                                    <p:cond delay="0"/>
                                  </p:stCondLst>
                                  <p:endCondLst>
                                    <p:cond evt="begin" delay="0">
                                      <p:tn val="5"/>
                                    </p:cond>
                                  </p:endCondLst>
                                  <p:childTnLst>
                                    <p:animMotion origin="layout" path="M 1.25E-6 3.33333E-6 L 0.02995 -0.0007 " pathEditMode="relative" rAng="0" ptsTypes="AA">
                                      <p:cBhvr>
                                        <p:cTn id="6" dur="500" fill="hold"/>
                                        <p:tgtEl>
                                          <p:spTgt spid="10"/>
                                        </p:tgtEl>
                                        <p:attrNameLst>
                                          <p:attrName>ppt_x</p:attrName>
                                          <p:attrName>ppt_y</p:attrName>
                                        </p:attrNameLst>
                                      </p:cBhvr>
                                      <p:rCtr x="1497" y="-46"/>
                                    </p:animMotion>
                                  </p:childTnLst>
                                </p:cTn>
                              </p:par>
                              <p:par>
                                <p:cTn id="7" presetID="12" presetClass="entr" presetSubtype="8" fill="hold" nodeType="withEffect">
                                  <p:stCondLst>
                                    <p:cond delay="50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p:tgtEl>
                                          <p:spTgt spid="12"/>
                                        </p:tgtEl>
                                        <p:attrNameLst>
                                          <p:attrName>ppt_x</p:attrName>
                                        </p:attrNameLst>
                                      </p:cBhvr>
                                      <p:tavLst>
                                        <p:tav tm="0">
                                          <p:val>
                                            <p:strVal val="#ppt_x-#ppt_w*1.125000"/>
                                          </p:val>
                                        </p:tav>
                                        <p:tav tm="100000">
                                          <p:val>
                                            <p:strVal val="#ppt_x"/>
                                          </p:val>
                                        </p:tav>
                                      </p:tavLst>
                                    </p:anim>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1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10515600" cy="1325563"/>
          </a:xfrm>
          <a:prstGeom prst="rect">
            <a:avLst/>
          </a:prstGeom>
        </p:spPr>
        <p:txBody>
          <a:bodyPr/>
          <a:lstStyle/>
          <a:p>
            <a:r>
              <a:rPr lang="en-US" dirty="0"/>
              <a:t>Compare</a:t>
            </a:r>
          </a:p>
        </p:txBody>
      </p:sp>
      <p:sp>
        <p:nvSpPr>
          <p:cNvPr id="3" name="Content Placeholder 2"/>
          <p:cNvSpPr>
            <a:spLocks noGrp="1"/>
          </p:cNvSpPr>
          <p:nvPr>
            <p:ph sz="half" idx="1"/>
          </p:nvPr>
        </p:nvSpPr>
        <p:spPr>
          <a:xfrm>
            <a:off x="838200" y="1825625"/>
            <a:ext cx="4388556"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65242" y="1825625"/>
            <a:ext cx="4388557"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4D2C271-3C7A-CD46-9649-E18133BDF375}"/>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pic>
        <p:nvPicPr>
          <p:cNvPr id="7" name="Picture 6">
            <a:extLst>
              <a:ext uri="{FF2B5EF4-FFF2-40B4-BE49-F238E27FC236}">
                <a16:creationId xmlns:a16="http://schemas.microsoft.com/office/drawing/2014/main" id="{2270307A-3FDF-4C4B-BE9C-8873BC596BDD}"/>
              </a:ext>
            </a:extLst>
          </p:cNvPr>
          <p:cNvPicPr>
            <a:picLocks noChangeAspect="1"/>
          </p:cNvPicPr>
          <p:nvPr userDrawn="1"/>
        </p:nvPicPr>
        <p:blipFill>
          <a:blip r:embed="rId2">
            <a:duotone>
              <a:schemeClr val="accent2">
                <a:shade val="45000"/>
                <a:satMod val="135000"/>
              </a:schemeClr>
              <a:prstClr val="white"/>
            </a:duotone>
          </a:blip>
          <a:stretch>
            <a:fillRect/>
          </a:stretch>
        </p:blipFill>
        <p:spPr>
          <a:xfrm rot="19287151">
            <a:off x="5087055" y="2845241"/>
            <a:ext cx="2017889" cy="2017889"/>
          </a:xfrm>
          <a:prstGeom prst="rect">
            <a:avLst/>
          </a:prstGeom>
        </p:spPr>
      </p:pic>
    </p:spTree>
    <p:extLst>
      <p:ext uri="{BB962C8B-B14F-4D97-AF65-F5344CB8AC3E}">
        <p14:creationId xmlns:p14="http://schemas.microsoft.com/office/powerpoint/2010/main" val="82703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xagon">
    <p:spTree>
      <p:nvGrpSpPr>
        <p:cNvPr id="1" name=""/>
        <p:cNvGrpSpPr/>
        <p:nvPr/>
      </p:nvGrpSpPr>
      <p:grpSpPr>
        <a:xfrm>
          <a:off x="0" y="0"/>
          <a:ext cx="0" cy="0"/>
          <a:chOff x="0" y="0"/>
          <a:chExt cx="0" cy="0"/>
        </a:xfrm>
      </p:grpSpPr>
      <p:sp>
        <p:nvSpPr>
          <p:cNvPr id="11" name="Triangle 10">
            <a:extLst>
              <a:ext uri="{FF2B5EF4-FFF2-40B4-BE49-F238E27FC236}">
                <a16:creationId xmlns:a16="http://schemas.microsoft.com/office/drawing/2014/main" id="{E31902E0-7BD6-E64C-B861-0D19CC300851}"/>
              </a:ext>
            </a:extLst>
          </p:cNvPr>
          <p:cNvSpPr/>
          <p:nvPr userDrawn="1"/>
        </p:nvSpPr>
        <p:spPr>
          <a:xfrm rot="10800000">
            <a:off x="4648200" y="857955"/>
            <a:ext cx="2895600" cy="24892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2" name="Triangle 11">
            <a:extLst>
              <a:ext uri="{FF2B5EF4-FFF2-40B4-BE49-F238E27FC236}">
                <a16:creationId xmlns:a16="http://schemas.microsoft.com/office/drawing/2014/main" id="{EC3E15BB-D533-C447-A206-ED6D67B1552A}"/>
              </a:ext>
            </a:extLst>
          </p:cNvPr>
          <p:cNvSpPr/>
          <p:nvPr userDrawn="1"/>
        </p:nvSpPr>
        <p:spPr>
          <a:xfrm rot="14434340">
            <a:off x="5829670" y="1554324"/>
            <a:ext cx="2895600" cy="2489200"/>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3" name="Triangle 12">
            <a:extLst>
              <a:ext uri="{FF2B5EF4-FFF2-40B4-BE49-F238E27FC236}">
                <a16:creationId xmlns:a16="http://schemas.microsoft.com/office/drawing/2014/main" id="{4AB5DFD3-C62D-2B44-98B8-4D0E06BFDA6F}"/>
              </a:ext>
            </a:extLst>
          </p:cNvPr>
          <p:cNvSpPr/>
          <p:nvPr userDrawn="1"/>
        </p:nvSpPr>
        <p:spPr>
          <a:xfrm rot="18026298">
            <a:off x="5812233" y="2905467"/>
            <a:ext cx="2895600" cy="24892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4" name="Triangle 13">
            <a:extLst>
              <a:ext uri="{FF2B5EF4-FFF2-40B4-BE49-F238E27FC236}">
                <a16:creationId xmlns:a16="http://schemas.microsoft.com/office/drawing/2014/main" id="{1CD1EF5B-5CEE-A845-A4CC-BD24DAE72678}"/>
              </a:ext>
            </a:extLst>
          </p:cNvPr>
          <p:cNvSpPr/>
          <p:nvPr userDrawn="1"/>
        </p:nvSpPr>
        <p:spPr>
          <a:xfrm rot="7213277">
            <a:off x="3474516" y="1538403"/>
            <a:ext cx="2895600" cy="2489200"/>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5" name="Triangle 14">
            <a:extLst>
              <a:ext uri="{FF2B5EF4-FFF2-40B4-BE49-F238E27FC236}">
                <a16:creationId xmlns:a16="http://schemas.microsoft.com/office/drawing/2014/main" id="{ECA4BCC2-29D1-3741-9082-F7C1C6BA377A}"/>
              </a:ext>
            </a:extLst>
          </p:cNvPr>
          <p:cNvSpPr/>
          <p:nvPr userDrawn="1"/>
        </p:nvSpPr>
        <p:spPr>
          <a:xfrm rot="3611414">
            <a:off x="3455140" y="2903473"/>
            <a:ext cx="2895600" cy="248920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6" name="Triangle 15">
            <a:extLst>
              <a:ext uri="{FF2B5EF4-FFF2-40B4-BE49-F238E27FC236}">
                <a16:creationId xmlns:a16="http://schemas.microsoft.com/office/drawing/2014/main" id="{61B32392-5EAE-5C45-A548-AC25E1E18AF8}"/>
              </a:ext>
            </a:extLst>
          </p:cNvPr>
          <p:cNvSpPr/>
          <p:nvPr userDrawn="1"/>
        </p:nvSpPr>
        <p:spPr>
          <a:xfrm>
            <a:off x="4639998" y="3577545"/>
            <a:ext cx="2895600" cy="24892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0" name="Content Placeholder 9">
            <a:extLst>
              <a:ext uri="{FF2B5EF4-FFF2-40B4-BE49-F238E27FC236}">
                <a16:creationId xmlns:a16="http://schemas.microsoft.com/office/drawing/2014/main" id="{4B5D361C-2F7C-854F-8069-08C8387E9B96}"/>
              </a:ext>
            </a:extLst>
          </p:cNvPr>
          <p:cNvSpPr>
            <a:spLocks noGrp="1"/>
          </p:cNvSpPr>
          <p:nvPr>
            <p:ph sz="quarter" idx="12"/>
          </p:nvPr>
        </p:nvSpPr>
        <p:spPr>
          <a:xfrm>
            <a:off x="4122143" y="1901100"/>
            <a:ext cx="914400" cy="1369854"/>
          </a:xfrm>
        </p:spPr>
        <p:txBody>
          <a:bodyPr>
            <a:noAutofit/>
          </a:bodyPr>
          <a:lstStyle>
            <a:lvl1pPr marL="0" indent="0">
              <a:buNone/>
              <a:defRPr sz="1800"/>
            </a:lvl1pPr>
            <a:lvl5pPr>
              <a:defRPr sz="1000"/>
            </a:lvl5pPr>
          </a:lstStyle>
          <a:p>
            <a:pPr lvl="0"/>
            <a:r>
              <a:rPr lang="en-US"/>
              <a:t>Click to edit Master text styles</a:t>
            </a:r>
          </a:p>
        </p:txBody>
      </p:sp>
      <p:sp>
        <p:nvSpPr>
          <p:cNvPr id="18" name="Content Placeholder 17">
            <a:extLst>
              <a:ext uri="{FF2B5EF4-FFF2-40B4-BE49-F238E27FC236}">
                <a16:creationId xmlns:a16="http://schemas.microsoft.com/office/drawing/2014/main" id="{F78D4A3C-D5F6-1640-BF6A-CB80808526C3}"/>
              </a:ext>
            </a:extLst>
          </p:cNvPr>
          <p:cNvSpPr>
            <a:spLocks noGrp="1"/>
          </p:cNvSpPr>
          <p:nvPr>
            <p:ph sz="quarter" idx="13"/>
          </p:nvPr>
        </p:nvSpPr>
        <p:spPr>
          <a:xfrm>
            <a:off x="4122143" y="3700790"/>
            <a:ext cx="914400" cy="1369853"/>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0" name="Content Placeholder 19">
            <a:extLst>
              <a:ext uri="{FF2B5EF4-FFF2-40B4-BE49-F238E27FC236}">
                <a16:creationId xmlns:a16="http://schemas.microsoft.com/office/drawing/2014/main" id="{86A80EF7-4966-9E42-92FC-7A4D50808932}"/>
              </a:ext>
            </a:extLst>
          </p:cNvPr>
          <p:cNvSpPr>
            <a:spLocks noGrp="1"/>
          </p:cNvSpPr>
          <p:nvPr>
            <p:ph sz="quarter" idx="14"/>
          </p:nvPr>
        </p:nvSpPr>
        <p:spPr>
          <a:xfrm>
            <a:off x="5649862" y="4574498"/>
            <a:ext cx="947695" cy="1370571"/>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2" name="Content Placeholder 21">
            <a:extLst>
              <a:ext uri="{FF2B5EF4-FFF2-40B4-BE49-F238E27FC236}">
                <a16:creationId xmlns:a16="http://schemas.microsoft.com/office/drawing/2014/main" id="{A8181D33-8BDF-5D44-8704-773A99FE97AD}"/>
              </a:ext>
            </a:extLst>
          </p:cNvPr>
          <p:cNvSpPr>
            <a:spLocks noGrp="1"/>
          </p:cNvSpPr>
          <p:nvPr>
            <p:ph sz="quarter" idx="15" hasCustomPrompt="1"/>
          </p:nvPr>
        </p:nvSpPr>
        <p:spPr>
          <a:xfrm>
            <a:off x="7143453" y="3660764"/>
            <a:ext cx="967487" cy="1409879"/>
          </a:xfrm>
        </p:spPr>
        <p:txBody>
          <a:bodyPr>
            <a:noAutofit/>
          </a:bodyPr>
          <a:lstStyle>
            <a:lvl1pPr marL="0" indent="0">
              <a:buNone/>
              <a:defRPr sz="1600"/>
            </a:lvl1pPr>
            <a:lvl5pPr marL="1828800" indent="0">
              <a:buNone/>
              <a:defRPr/>
            </a:lvl5pPr>
          </a:lstStyle>
          <a:p>
            <a:pPr lvl="0"/>
            <a:r>
              <a:rPr lang="en-US" dirty="0"/>
              <a:t>Click to edit Master text </a:t>
            </a:r>
            <a:r>
              <a:rPr lang="en-US" dirty="0" err="1"/>
              <a:t>stylesdit</a:t>
            </a:r>
            <a:r>
              <a:rPr lang="en-US" dirty="0"/>
              <a:t> Master text styles</a:t>
            </a:r>
          </a:p>
        </p:txBody>
      </p:sp>
      <p:sp>
        <p:nvSpPr>
          <p:cNvPr id="24" name="Content Placeholder 23">
            <a:extLst>
              <a:ext uri="{FF2B5EF4-FFF2-40B4-BE49-F238E27FC236}">
                <a16:creationId xmlns:a16="http://schemas.microsoft.com/office/drawing/2014/main" id="{12FEC077-8CF0-6C45-8D19-B683AAEE5A58}"/>
              </a:ext>
            </a:extLst>
          </p:cNvPr>
          <p:cNvSpPr>
            <a:spLocks noGrp="1"/>
          </p:cNvSpPr>
          <p:nvPr>
            <p:ph sz="quarter" idx="16"/>
          </p:nvPr>
        </p:nvSpPr>
        <p:spPr>
          <a:xfrm>
            <a:off x="7212049" y="1901100"/>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
        <p:nvSpPr>
          <p:cNvPr id="17" name="Content Placeholder 23">
            <a:extLst>
              <a:ext uri="{FF2B5EF4-FFF2-40B4-BE49-F238E27FC236}">
                <a16:creationId xmlns:a16="http://schemas.microsoft.com/office/drawing/2014/main" id="{22B58768-355B-E545-88F7-DEE066DFDF15}"/>
              </a:ext>
            </a:extLst>
          </p:cNvPr>
          <p:cNvSpPr>
            <a:spLocks noGrp="1"/>
          </p:cNvSpPr>
          <p:nvPr>
            <p:ph sz="quarter" idx="17"/>
          </p:nvPr>
        </p:nvSpPr>
        <p:spPr>
          <a:xfrm>
            <a:off x="5646222" y="1061967"/>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60306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300" fill="hold"/>
                                        <p:tgtEl>
                                          <p:spTgt spid="11"/>
                                        </p:tgtEl>
                                        <p:attrNameLst>
                                          <p:attrName>ppt_x</p:attrName>
                                        </p:attrNameLst>
                                      </p:cBhvr>
                                      <p:tavLst>
                                        <p:tav tm="0">
                                          <p:val>
                                            <p:strVal val="#ppt_x"/>
                                          </p:val>
                                        </p:tav>
                                        <p:tav tm="100000">
                                          <p:val>
                                            <p:strVal val="#ppt_x"/>
                                          </p:val>
                                        </p:tav>
                                      </p:tavLst>
                                    </p:anim>
                                    <p:anim calcmode="lin" valueType="num">
                                      <p:cBhvr additive="base">
                                        <p:cTn id="8" dur="3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300" fill="hold"/>
                                        <p:tgtEl>
                                          <p:spTgt spid="16"/>
                                        </p:tgtEl>
                                        <p:attrNameLst>
                                          <p:attrName>ppt_x</p:attrName>
                                        </p:attrNameLst>
                                      </p:cBhvr>
                                      <p:tavLst>
                                        <p:tav tm="0">
                                          <p:val>
                                            <p:strVal val="#ppt_x"/>
                                          </p:val>
                                        </p:tav>
                                        <p:tav tm="100000">
                                          <p:val>
                                            <p:strVal val="#ppt_x"/>
                                          </p:val>
                                        </p:tav>
                                      </p:tavLst>
                                    </p:anim>
                                    <p:anim calcmode="lin" valueType="num">
                                      <p:cBhvr additive="base">
                                        <p:cTn id="12" dur="3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3" fill="hold" grpId="0" nodeType="withEffect">
                                  <p:stCondLst>
                                    <p:cond delay="5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300" fill="hold"/>
                                        <p:tgtEl>
                                          <p:spTgt spid="12"/>
                                        </p:tgtEl>
                                        <p:attrNameLst>
                                          <p:attrName>ppt_x</p:attrName>
                                        </p:attrNameLst>
                                      </p:cBhvr>
                                      <p:tavLst>
                                        <p:tav tm="0">
                                          <p:val>
                                            <p:strVal val="1+#ppt_w/2"/>
                                          </p:val>
                                        </p:tav>
                                        <p:tav tm="100000">
                                          <p:val>
                                            <p:strVal val="#ppt_x"/>
                                          </p:val>
                                        </p:tav>
                                      </p:tavLst>
                                    </p:anim>
                                    <p:anim calcmode="lin" valueType="num">
                                      <p:cBhvr additive="base">
                                        <p:cTn id="16" dur="3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300" fill="hold"/>
                                        <p:tgtEl>
                                          <p:spTgt spid="13"/>
                                        </p:tgtEl>
                                        <p:attrNameLst>
                                          <p:attrName>ppt_x</p:attrName>
                                        </p:attrNameLst>
                                      </p:cBhvr>
                                      <p:tavLst>
                                        <p:tav tm="0">
                                          <p:val>
                                            <p:strVal val="1+#ppt_w/2"/>
                                          </p:val>
                                        </p:tav>
                                        <p:tav tm="100000">
                                          <p:val>
                                            <p:strVal val="#ppt_x"/>
                                          </p:val>
                                        </p:tav>
                                      </p:tavLst>
                                    </p:anim>
                                    <p:anim calcmode="lin" valueType="num">
                                      <p:cBhvr additive="base">
                                        <p:cTn id="20" dur="3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12" fill="hold" grpId="0" nodeType="withEffect">
                                  <p:stCondLst>
                                    <p:cond delay="5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300" fill="hold"/>
                                        <p:tgtEl>
                                          <p:spTgt spid="15"/>
                                        </p:tgtEl>
                                        <p:attrNameLst>
                                          <p:attrName>ppt_x</p:attrName>
                                        </p:attrNameLst>
                                      </p:cBhvr>
                                      <p:tavLst>
                                        <p:tav tm="0">
                                          <p:val>
                                            <p:strVal val="0-#ppt_w/2"/>
                                          </p:val>
                                        </p:tav>
                                        <p:tav tm="100000">
                                          <p:val>
                                            <p:strVal val="#ppt_x"/>
                                          </p:val>
                                        </p:tav>
                                      </p:tavLst>
                                    </p:anim>
                                    <p:anim calcmode="lin" valueType="num">
                                      <p:cBhvr additive="base">
                                        <p:cTn id="24" dur="3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9" fill="hold" grpId="0" nodeType="withEffect">
                                  <p:stCondLst>
                                    <p:cond delay="10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300" fill="hold"/>
                                        <p:tgtEl>
                                          <p:spTgt spid="14"/>
                                        </p:tgtEl>
                                        <p:attrNameLst>
                                          <p:attrName>ppt_x</p:attrName>
                                        </p:attrNameLst>
                                      </p:cBhvr>
                                      <p:tavLst>
                                        <p:tav tm="0">
                                          <p:val>
                                            <p:strVal val="0-#ppt_w/2"/>
                                          </p:val>
                                        </p:tav>
                                        <p:tav tm="100000">
                                          <p:val>
                                            <p:strVal val="#ppt_x"/>
                                          </p:val>
                                        </p:tav>
                                      </p:tavLst>
                                    </p:anim>
                                    <p:anim calcmode="lin" valueType="num">
                                      <p:cBhvr additive="base">
                                        <p:cTn id="28" dur="300" fill="hold"/>
                                        <p:tgtEl>
                                          <p:spTgt spid="14"/>
                                        </p:tgtEl>
                                        <p:attrNameLst>
                                          <p:attrName>ppt_y</p:attrName>
                                        </p:attrNameLst>
                                      </p:cBhvr>
                                      <p:tavLst>
                                        <p:tav tm="0">
                                          <p:val>
                                            <p:strVal val="0-#ppt_h/2"/>
                                          </p:val>
                                        </p:tav>
                                        <p:tav tm="100000">
                                          <p:val>
                                            <p:strVal val="#ppt_y"/>
                                          </p:val>
                                        </p:tav>
                                      </p:tavLst>
                                    </p:anim>
                                  </p:childTnLst>
                                </p:cTn>
                              </p:par>
                              <p:par>
                                <p:cTn id="29" presetID="1" presetClass="entr" presetSubtype="0" fill="hold" grpId="0" nodeType="withEffect">
                                  <p:stCondLst>
                                    <p:cond delay="120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par>
                                <p:cTn id="31" presetID="1" presetClass="entr" presetSubtype="0" fill="hold" grpId="0" nodeType="withEffect">
                                  <p:stCondLst>
                                    <p:cond delay="120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par>
                                <p:cTn id="33" presetID="1" presetClass="entr" presetSubtype="0" fill="hold" grpId="0" nodeType="withEffect">
                                  <p:stCondLst>
                                    <p:cond delay="1200"/>
                                  </p:stCondLst>
                                  <p:childTnLst>
                                    <p:set>
                                      <p:cBhvr>
                                        <p:cTn id="34" dur="1" fill="hold">
                                          <p:stCondLst>
                                            <p:cond delay="0"/>
                                          </p:stCondLst>
                                        </p:cTn>
                                        <p:tgtEl>
                                          <p:spTgt spid="22">
                                            <p:txEl>
                                              <p:pRg st="0" end="0"/>
                                            </p:txEl>
                                          </p:spTgt>
                                        </p:tgtEl>
                                        <p:attrNameLst>
                                          <p:attrName>style.visibility</p:attrName>
                                        </p:attrNameLst>
                                      </p:cBhvr>
                                      <p:to>
                                        <p:strVal val="visible"/>
                                      </p:to>
                                    </p:set>
                                  </p:childTnLst>
                                </p:cTn>
                              </p:par>
                              <p:par>
                                <p:cTn id="35" presetID="1" presetClass="entr" presetSubtype="0" fill="hold" grpId="0" nodeType="withEffect">
                                  <p:stCondLst>
                                    <p:cond delay="120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par>
                                <p:cTn id="37" presetID="1" presetClass="entr" presetSubtype="0" fill="hold" grpId="0" nodeType="withEffect">
                                  <p:stCondLst>
                                    <p:cond delay="1200"/>
                                  </p:stCondLst>
                                  <p:childTnLst>
                                    <p:set>
                                      <p:cBhvr>
                                        <p:cTn id="38" dur="1" fill="hold">
                                          <p:stCondLst>
                                            <p:cond delay="0"/>
                                          </p:stCondLst>
                                        </p:cTn>
                                        <p:tgtEl>
                                          <p:spTgt spid="18">
                                            <p:txEl>
                                              <p:pRg st="0" end="0"/>
                                            </p:txEl>
                                          </p:spTgt>
                                        </p:tgtEl>
                                        <p:attrNameLst>
                                          <p:attrName>style.visibility</p:attrName>
                                        </p:attrNameLst>
                                      </p:cBhvr>
                                      <p:to>
                                        <p:strVal val="visible"/>
                                      </p:to>
                                    </p:set>
                                  </p:childTnLst>
                                </p:cTn>
                              </p:par>
                              <p:par>
                                <p:cTn id="39" presetID="1" presetClass="entr" presetSubtype="0" fill="hold" grpId="0" nodeType="withEffect">
                                  <p:stCondLst>
                                    <p:cond delay="1200"/>
                                  </p:stCondLst>
                                  <p:childTnLst>
                                    <p:set>
                                      <p:cBhvr>
                                        <p:cTn id="4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0" grpId="0" build="p">
        <p:tmplLst>
          <p:tmpl lvl="1">
            <p:tnLst>
              <p:par>
                <p:cTn presetID="1" presetClass="entr" presetSubtype="0" fill="hold" nodeType="withEffect">
                  <p:stCondLst>
                    <p:cond delay="1200"/>
                  </p:stCondLst>
                  <p:childTnLst>
                    <p:set>
                      <p:cBhvr>
                        <p:cTn dur="1" fill="hold">
                          <p:stCondLst>
                            <p:cond delay="0"/>
                          </p:stCondLst>
                        </p:cTn>
                        <p:tgtEl>
                          <p:spTgt spid="10"/>
                        </p:tgtEl>
                        <p:attrNameLst>
                          <p:attrName>style.visibility</p:attrName>
                        </p:attrNameLst>
                      </p:cBhvr>
                      <p:to>
                        <p:strVal val="visible"/>
                      </p:to>
                    </p:set>
                  </p:childTnLst>
                </p:cTn>
              </p:par>
            </p:tnLst>
          </p:tmpl>
        </p:tmplLst>
      </p:bldP>
      <p:bldP spid="18" grpId="0" build="p">
        <p:tmplLst>
          <p:tmpl lvl="1">
            <p:tnLst>
              <p:par>
                <p:cTn presetID="1" presetClass="entr" presetSubtype="0" fill="hold" nodeType="withEffect">
                  <p:stCondLst>
                    <p:cond delay="12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20" grpId="0" build="p">
        <p:tmplLst>
          <p:tmpl lvl="1">
            <p:tnLst>
              <p:par>
                <p:cTn presetID="1" presetClass="entr" presetSubtype="0" fill="hold" nodeType="withEffect">
                  <p:stCondLst>
                    <p:cond delay="1200"/>
                  </p:stCondLst>
                  <p:childTnLst>
                    <p:set>
                      <p:cBhvr>
                        <p:cTn dur="1" fill="hold">
                          <p:stCondLst>
                            <p:cond delay="0"/>
                          </p:stCondLst>
                        </p:cTn>
                        <p:tgtEl>
                          <p:spTgt spid="20"/>
                        </p:tgtEl>
                        <p:attrNameLst>
                          <p:attrName>style.visibility</p:attrName>
                        </p:attrNameLst>
                      </p:cBhvr>
                      <p:to>
                        <p:strVal val="visible"/>
                      </p:to>
                    </p:set>
                  </p:childTnLst>
                </p:cTn>
              </p:par>
            </p:tnLst>
          </p:tmpl>
        </p:tmplLst>
      </p:bldP>
      <p:bldP spid="22" grpId="0" build="p">
        <p:tmplLst>
          <p:tmpl lvl="1">
            <p:tnLst>
              <p:par>
                <p:cTn presetID="1" presetClass="entr" presetSubtype="0" fill="hold" nodeType="withEffect">
                  <p:stCondLst>
                    <p:cond delay="1200"/>
                  </p:stCondLst>
                  <p:childTnLst>
                    <p:set>
                      <p:cBhvr>
                        <p:cTn dur="1" fill="hold">
                          <p:stCondLst>
                            <p:cond delay="0"/>
                          </p:stCondLst>
                        </p:cTn>
                        <p:tgtEl>
                          <p:spTgt spid="22"/>
                        </p:tgtEl>
                        <p:attrNameLst>
                          <p:attrName>style.visibility</p:attrName>
                        </p:attrNameLst>
                      </p:cBhvr>
                      <p:to>
                        <p:strVal val="visible"/>
                      </p:to>
                    </p:set>
                  </p:childTnLst>
                </p:cTn>
              </p:par>
            </p:tnLst>
          </p:tmpl>
        </p:tmplLst>
      </p:bldP>
      <p:bldP spid="24" grpId="0" build="p">
        <p:tmplLst>
          <p:tmpl lvl="1">
            <p:tnLst>
              <p:par>
                <p:cTn presetID="1" presetClass="entr" presetSubtype="0" fill="hold" nodeType="withEffect">
                  <p:stCondLst>
                    <p:cond delay="1200"/>
                  </p:stCondLst>
                  <p:childTnLst>
                    <p:set>
                      <p:cBhvr>
                        <p:cTn dur="1" fill="hold">
                          <p:stCondLst>
                            <p:cond delay="0"/>
                          </p:stCondLst>
                        </p:cTn>
                        <p:tgtEl>
                          <p:spTgt spid="24"/>
                        </p:tgtEl>
                        <p:attrNameLst>
                          <p:attrName>style.visibility</p:attrName>
                        </p:attrNameLst>
                      </p:cBhvr>
                      <p:to>
                        <p:strVal val="visible"/>
                      </p:to>
                    </p:set>
                  </p:childTnLst>
                </p:cTn>
              </p:par>
            </p:tnLst>
          </p:tmpl>
        </p:tmplLst>
      </p:bldP>
      <p:bldP spid="17" grpId="0" build="p">
        <p:tmplLst>
          <p:tmpl lvl="1">
            <p:tnLst>
              <p:par>
                <p:cTn presetID="1" presetClass="entr" presetSubtype="0" fill="hold" nodeType="withEffect">
                  <p:stCondLst>
                    <p:cond delay="1200"/>
                  </p:stCondLst>
                  <p:childTnLst>
                    <p:set>
                      <p:cBhvr>
                        <p:cTn dur="1" fill="hold">
                          <p:stCondLst>
                            <p:cond delay="0"/>
                          </p:stCondLst>
                        </p:cTn>
                        <p:tgtEl>
                          <p:spTgt spid="17"/>
                        </p:tgtEl>
                        <p:attrNameLst>
                          <p:attrName>style.visibility</p:attrName>
                        </p:attrNameLst>
                      </p:cBhvr>
                      <p:to>
                        <p:strVal val="visible"/>
                      </p:to>
                    </p:se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or Important Statement">
    <p:bg>
      <p:bgPr>
        <a:gradFill flip="none" rotWithShape="1">
          <a:gsLst>
            <a:gs pos="0">
              <a:schemeClr val="accent1">
                <a:lumMod val="5000"/>
                <a:lumOff val="95000"/>
              </a:schemeClr>
            </a:gs>
            <a:gs pos="38000">
              <a:schemeClr val="accent2"/>
            </a:gs>
            <a:gs pos="76000">
              <a:schemeClr val="accent2">
                <a:lumMod val="20000"/>
                <a:lumOff val="80000"/>
              </a:schemeClr>
            </a:gs>
            <a:gs pos="62000">
              <a:schemeClr val="accent2">
                <a:lumMod val="40000"/>
                <a:lumOff val="60000"/>
              </a:schemeClr>
            </a:gs>
            <a:gs pos="90000">
              <a:schemeClr val="accent2">
                <a:lumMod val="5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8C181E-68C2-674D-B0F7-27F515BB252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6" name="Text Placeholder 5">
            <a:extLst>
              <a:ext uri="{FF2B5EF4-FFF2-40B4-BE49-F238E27FC236}">
                <a16:creationId xmlns:a16="http://schemas.microsoft.com/office/drawing/2014/main" id="{85365446-4B13-6043-A402-9D36961BC5B4}"/>
              </a:ext>
            </a:extLst>
          </p:cNvPr>
          <p:cNvSpPr>
            <a:spLocks noGrp="1"/>
          </p:cNvSpPr>
          <p:nvPr>
            <p:ph type="body" sz="quarter" idx="11" hasCustomPrompt="1"/>
          </p:nvPr>
        </p:nvSpPr>
        <p:spPr>
          <a:xfrm>
            <a:off x="841248" y="987552"/>
            <a:ext cx="10351008" cy="4700015"/>
          </a:xfrm>
        </p:spPr>
        <p:txBody>
          <a:bodyPr>
            <a:normAutofit/>
          </a:bodyPr>
          <a:lstStyle>
            <a:lvl1pPr marL="0" indent="0" algn="ctr">
              <a:buNone/>
              <a:defRPr sz="5400" b="1" i="1">
                <a:ln>
                  <a:solidFill>
                    <a:sysClr val="windowText" lastClr="000000"/>
                  </a:solidFill>
                </a:ln>
                <a:solidFill>
                  <a:schemeClr val="bg1"/>
                </a:solidFill>
                <a:latin typeface="Stone Sans" pitchFamily="2" charset="0"/>
              </a:defRPr>
            </a:lvl1pPr>
            <a:lvl2pPr marL="457200" indent="0">
              <a:buNone/>
              <a:defRPr sz="4800" b="1" i="0">
                <a:ln>
                  <a:solidFill>
                    <a:sysClr val="windowText" lastClr="000000"/>
                  </a:solidFill>
                </a:ln>
                <a:solidFill>
                  <a:schemeClr val="bg1"/>
                </a:solidFill>
                <a:latin typeface="Stone Sans Semi Bold" pitchFamily="2" charset="0"/>
              </a:defRPr>
            </a:lvl2pPr>
            <a:lvl3pPr marL="914400" indent="0">
              <a:buNone/>
              <a:defRPr sz="4400" b="1" i="0">
                <a:ln>
                  <a:solidFill>
                    <a:sysClr val="windowText" lastClr="000000"/>
                  </a:solidFill>
                </a:ln>
                <a:solidFill>
                  <a:schemeClr val="bg1"/>
                </a:solidFill>
                <a:latin typeface="Stone Sans Semi Bold" pitchFamily="2" charset="0"/>
              </a:defRPr>
            </a:lvl3pPr>
            <a:lvl4pPr marL="1371600" indent="0">
              <a:buNone/>
              <a:defRPr sz="4000" b="1" i="0">
                <a:ln>
                  <a:solidFill>
                    <a:sysClr val="windowText" lastClr="000000"/>
                  </a:solidFill>
                </a:ln>
                <a:solidFill>
                  <a:schemeClr val="bg1"/>
                </a:solidFill>
                <a:latin typeface="Stone Sans Semi Bold" pitchFamily="2" charset="0"/>
              </a:defRPr>
            </a:lvl4pPr>
            <a:lvl5pPr marL="1828800" indent="0">
              <a:buNone/>
              <a:defRPr sz="4000" b="1" i="0">
                <a:ln>
                  <a:solidFill>
                    <a:sysClr val="windowText" lastClr="000000"/>
                  </a:solidFill>
                </a:ln>
                <a:solidFill>
                  <a:schemeClr val="bg1"/>
                </a:solidFill>
                <a:latin typeface="Stone Sans Semi Bold" pitchFamily="2" charset="0"/>
              </a:defRPr>
            </a:lvl5pPr>
          </a:lstStyle>
          <a:p>
            <a:pPr lvl="0"/>
            <a:r>
              <a:rPr lang="en-US" dirty="0"/>
              <a:t>Quote or important statement</a:t>
            </a:r>
          </a:p>
        </p:txBody>
      </p:sp>
    </p:spTree>
    <p:extLst>
      <p:ext uri="{BB962C8B-B14F-4D97-AF65-F5344CB8AC3E}">
        <p14:creationId xmlns:p14="http://schemas.microsoft.com/office/powerpoint/2010/main" val="3982752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4666EEEB-C914-A74E-86A1-6D8990F4D36F}"/>
              </a:ext>
            </a:extLst>
          </p:cNvPr>
          <p:cNvSpPr/>
          <p:nvPr userDrawn="1"/>
        </p:nvSpPr>
        <p:spPr>
          <a:xfrm>
            <a:off x="2327562" y="850034"/>
            <a:ext cx="3373582" cy="2189018"/>
          </a:xfrm>
          <a:prstGeom prst="flowChartAlternate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F463DE26-BBA2-E949-B1DF-9FEAA575A61B}"/>
              </a:ext>
            </a:extLst>
          </p:cNvPr>
          <p:cNvSpPr/>
          <p:nvPr userDrawn="1"/>
        </p:nvSpPr>
        <p:spPr>
          <a:xfrm>
            <a:off x="6096000" y="850034"/>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AA7FC81F-033C-2F42-93DF-9E1DEC14944E}"/>
              </a:ext>
            </a:extLst>
          </p:cNvPr>
          <p:cNvSpPr/>
          <p:nvPr userDrawn="1"/>
        </p:nvSpPr>
        <p:spPr>
          <a:xfrm>
            <a:off x="2327562" y="3387436"/>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8" name="Alternate Process 7">
            <a:extLst>
              <a:ext uri="{FF2B5EF4-FFF2-40B4-BE49-F238E27FC236}">
                <a16:creationId xmlns:a16="http://schemas.microsoft.com/office/drawing/2014/main" id="{BA435837-85DE-2540-8C77-CD287F6E3F4B}"/>
              </a:ext>
            </a:extLst>
          </p:cNvPr>
          <p:cNvSpPr/>
          <p:nvPr userDrawn="1"/>
        </p:nvSpPr>
        <p:spPr>
          <a:xfrm>
            <a:off x="6096000" y="3429000"/>
            <a:ext cx="3373582" cy="2189018"/>
          </a:xfrm>
          <a:prstGeom prst="flowChartAlternate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4" name="Content Placeholder 3">
            <a:extLst>
              <a:ext uri="{FF2B5EF4-FFF2-40B4-BE49-F238E27FC236}">
                <a16:creationId xmlns:a16="http://schemas.microsoft.com/office/drawing/2014/main" id="{A2C91DAC-3F4A-494B-A6AB-8E9DFAB9D3A4}"/>
              </a:ext>
            </a:extLst>
          </p:cNvPr>
          <p:cNvSpPr>
            <a:spLocks noGrp="1"/>
          </p:cNvSpPr>
          <p:nvPr>
            <p:ph sz="quarter" idx="11"/>
          </p:nvPr>
        </p:nvSpPr>
        <p:spPr>
          <a:xfrm>
            <a:off x="2667125" y="986172"/>
            <a:ext cx="2742949" cy="1829217"/>
          </a:xfrm>
        </p:spPr>
        <p:txBody>
          <a:bodyPr anchor="ctr"/>
          <a:lstStyle>
            <a:lvl1pPr marL="0" indent="0" algn="ctr">
              <a:buNone/>
              <a:defRPr/>
            </a:lvl1pPr>
          </a:lstStyle>
          <a:p>
            <a:pPr lvl="0"/>
            <a:r>
              <a:rPr lang="en-US"/>
              <a:t>Click to edit Master text styles</a:t>
            </a:r>
          </a:p>
        </p:txBody>
      </p:sp>
      <p:sp>
        <p:nvSpPr>
          <p:cNvPr id="10" name="Content Placeholder 9">
            <a:extLst>
              <a:ext uri="{FF2B5EF4-FFF2-40B4-BE49-F238E27FC236}">
                <a16:creationId xmlns:a16="http://schemas.microsoft.com/office/drawing/2014/main" id="{9C76BA22-3F87-DD49-B688-5E68CE02A060}"/>
              </a:ext>
            </a:extLst>
          </p:cNvPr>
          <p:cNvSpPr>
            <a:spLocks noGrp="1"/>
          </p:cNvSpPr>
          <p:nvPr>
            <p:ph sz="quarter" idx="12"/>
          </p:nvPr>
        </p:nvSpPr>
        <p:spPr>
          <a:xfrm>
            <a:off x="6414826" y="1006836"/>
            <a:ext cx="2735930" cy="1875414"/>
          </a:xfrm>
        </p:spPr>
        <p:txBody>
          <a:bodyPr anchor="ctr"/>
          <a:lstStyle>
            <a:lvl1pPr marL="0" indent="0" algn="ctr">
              <a:buNone/>
              <a:defRPr/>
            </a:lvl1pPr>
          </a:lstStyle>
          <a:p>
            <a:pPr lvl="0"/>
            <a:r>
              <a:rPr lang="en-US"/>
              <a:t>Click to edit Master text styles</a:t>
            </a:r>
          </a:p>
        </p:txBody>
      </p:sp>
      <p:sp>
        <p:nvSpPr>
          <p:cNvPr id="12" name="Content Placeholder 11">
            <a:extLst>
              <a:ext uri="{FF2B5EF4-FFF2-40B4-BE49-F238E27FC236}">
                <a16:creationId xmlns:a16="http://schemas.microsoft.com/office/drawing/2014/main" id="{1BCAA612-59BE-5E45-98CB-F57F83E71DEB}"/>
              </a:ext>
            </a:extLst>
          </p:cNvPr>
          <p:cNvSpPr>
            <a:spLocks noGrp="1"/>
          </p:cNvSpPr>
          <p:nvPr>
            <p:ph sz="quarter" idx="13"/>
          </p:nvPr>
        </p:nvSpPr>
        <p:spPr>
          <a:xfrm>
            <a:off x="2642816" y="3604563"/>
            <a:ext cx="2743074" cy="1837891"/>
          </a:xfrm>
        </p:spPr>
        <p:txBody>
          <a:bodyPr anchor="ctr"/>
          <a:lstStyle>
            <a:lvl1pPr marL="0" indent="0" algn="ctr">
              <a:buNone/>
              <a:defRPr/>
            </a:lvl1pPr>
          </a:lstStyle>
          <a:p>
            <a:pPr lvl="0"/>
            <a:r>
              <a:rPr lang="en-US"/>
              <a:t>Click to edit Master text styles</a:t>
            </a:r>
          </a:p>
        </p:txBody>
      </p:sp>
      <p:sp>
        <p:nvSpPr>
          <p:cNvPr id="13" name="Content Placeholder 11">
            <a:extLst>
              <a:ext uri="{FF2B5EF4-FFF2-40B4-BE49-F238E27FC236}">
                <a16:creationId xmlns:a16="http://schemas.microsoft.com/office/drawing/2014/main" id="{B9939F36-7AC5-974D-953E-FEEC0B20B312}"/>
              </a:ext>
            </a:extLst>
          </p:cNvPr>
          <p:cNvSpPr>
            <a:spLocks noGrp="1"/>
          </p:cNvSpPr>
          <p:nvPr>
            <p:ph sz="quarter" idx="14"/>
          </p:nvPr>
        </p:nvSpPr>
        <p:spPr>
          <a:xfrm>
            <a:off x="6414826" y="3636092"/>
            <a:ext cx="2743074" cy="1837891"/>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152828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childTnLst>
                </p:cTn>
              </p:par>
            </p:tnLst>
          </p:tmpl>
        </p:tmplLst>
      </p:bldP>
      <p:bldP spid="10"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2303315" y="1040356"/>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6199787" y="1017938"/>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rgbClr val="7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2618631" y="1201471"/>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6515103" y="1202851"/>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82568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616524" y="1046019"/>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4384962" y="1046019"/>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1DC68079-980D-2D49-84FF-E58DD0653228}"/>
              </a:ext>
            </a:extLst>
          </p:cNvPr>
          <p:cNvSpPr/>
          <p:nvPr userDrawn="1"/>
        </p:nvSpPr>
        <p:spPr>
          <a:xfrm>
            <a:off x="8153400" y="1046019"/>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931840" y="1225919"/>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4700278" y="1225919"/>
            <a:ext cx="2742949" cy="1829217"/>
          </a:xfrm>
        </p:spPr>
        <p:txBody>
          <a:bodyPr anchor="ctr"/>
          <a:lstStyle>
            <a:lvl1pPr marL="0" indent="0" algn="ctr">
              <a:buNone/>
              <a:defRPr/>
            </a:lvl1pPr>
          </a:lstStyle>
          <a:p>
            <a:pPr lvl="0"/>
            <a:r>
              <a:rPr lang="en-US"/>
              <a:t>Click to edit Master text styles</a:t>
            </a:r>
          </a:p>
        </p:txBody>
      </p:sp>
      <p:sp>
        <p:nvSpPr>
          <p:cNvPr id="13" name="Content Placeholder 3">
            <a:extLst>
              <a:ext uri="{FF2B5EF4-FFF2-40B4-BE49-F238E27FC236}">
                <a16:creationId xmlns:a16="http://schemas.microsoft.com/office/drawing/2014/main" id="{63793AE6-AD07-F145-8E5E-7F61BE48EA88}"/>
              </a:ext>
            </a:extLst>
          </p:cNvPr>
          <p:cNvSpPr>
            <a:spLocks noGrp="1"/>
          </p:cNvSpPr>
          <p:nvPr>
            <p:ph sz="quarter" idx="13"/>
          </p:nvPr>
        </p:nvSpPr>
        <p:spPr>
          <a:xfrm>
            <a:off x="8468716" y="1225918"/>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305430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nodePh="1">
                                  <p:stCondLst>
                                    <p:cond delay="0"/>
                                  </p:stCondLst>
                                  <p:endCondLst>
                                    <p:cond evt="begin" delay="0">
                                      <p:tn val="37"/>
                                    </p:cond>
                                  </p:endCondLst>
                                  <p:childTnLst>
                                    <p:set>
                                      <p:cBhvr>
                                        <p:cTn id="3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4099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DAB57A-5E76-4046-B847-5471D0283A8C}"/>
              </a:ext>
            </a:extLst>
          </p:cNvPr>
          <p:cNvPicPr>
            <a:picLocks noChangeAspect="1"/>
          </p:cNvPicPr>
          <p:nvPr userDrawn="1"/>
        </p:nvPicPr>
        <p:blipFill>
          <a:blip r:embed="rId2"/>
          <a:stretch>
            <a:fillRect/>
          </a:stretch>
        </p:blipFill>
        <p:spPr>
          <a:xfrm>
            <a:off x="10585714" y="5084118"/>
            <a:ext cx="1050776" cy="1511643"/>
          </a:xfrm>
          <a:prstGeom prst="rect">
            <a:avLst/>
          </a:prstGeom>
        </p:spPr>
      </p:pic>
      <p:pic>
        <p:nvPicPr>
          <p:cNvPr id="8" name="Picture 7">
            <a:extLst>
              <a:ext uri="{FF2B5EF4-FFF2-40B4-BE49-F238E27FC236}">
                <a16:creationId xmlns:a16="http://schemas.microsoft.com/office/drawing/2014/main" id="{6266A70D-49CF-084A-801F-3D7D157C7AD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331982" y="588513"/>
            <a:ext cx="9329614" cy="5113788"/>
          </a:xfrm>
          <a:prstGeom prst="rect">
            <a:avLst/>
          </a:prstGeom>
        </p:spPr>
      </p:pic>
      <p:sp>
        <p:nvSpPr>
          <p:cNvPr id="12" name="Right Arrow 11">
            <a:extLst>
              <a:ext uri="{FF2B5EF4-FFF2-40B4-BE49-F238E27FC236}">
                <a16:creationId xmlns:a16="http://schemas.microsoft.com/office/drawing/2014/main" id="{AC669AC9-358B-6F43-95BF-4C1B76F4AD42}"/>
              </a:ext>
            </a:extLst>
          </p:cNvPr>
          <p:cNvSpPr/>
          <p:nvPr userDrawn="1"/>
        </p:nvSpPr>
        <p:spPr>
          <a:xfrm rot="14242546">
            <a:off x="6937534" y="4067166"/>
            <a:ext cx="641131" cy="484632"/>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3702EA07-87FF-8342-BF5D-2C4CA89A01E8}"/>
              </a:ext>
            </a:extLst>
          </p:cNvPr>
          <p:cNvSpPr>
            <a:spLocks noGrp="1"/>
          </p:cNvSpPr>
          <p:nvPr>
            <p:ph type="body" sz="quarter" idx="10" hasCustomPrompt="1"/>
          </p:nvPr>
        </p:nvSpPr>
        <p:spPr>
          <a:xfrm>
            <a:off x="1689099" y="1117600"/>
            <a:ext cx="6751516" cy="3708400"/>
          </a:xfrm>
        </p:spPr>
        <p:txBody>
          <a:bodyPr/>
          <a:lstStyle/>
          <a:p>
            <a:pPr lvl="0"/>
            <a:r>
              <a:rPr lang="en-US" dirty="0"/>
              <a:t>In this demo, we will</a:t>
            </a:r>
          </a:p>
          <a:p>
            <a:pPr lvl="1"/>
            <a:r>
              <a:rPr lang="en-US" dirty="0"/>
              <a:t>Do this</a:t>
            </a:r>
          </a:p>
          <a:p>
            <a:pPr lvl="1"/>
            <a:r>
              <a:rPr lang="en-US" dirty="0"/>
              <a:t>Then we will do this</a:t>
            </a:r>
          </a:p>
          <a:p>
            <a:pPr lvl="1"/>
            <a:r>
              <a:rPr lang="en-US" dirty="0"/>
              <a:t>Then we will do this</a:t>
            </a:r>
          </a:p>
        </p:txBody>
      </p:sp>
      <p:sp>
        <p:nvSpPr>
          <p:cNvPr id="16" name="TextBox 15">
            <a:extLst>
              <a:ext uri="{FF2B5EF4-FFF2-40B4-BE49-F238E27FC236}">
                <a16:creationId xmlns:a16="http://schemas.microsoft.com/office/drawing/2014/main" id="{CC263BEA-0CAD-9B41-9F53-790FCB1C0629}"/>
              </a:ext>
            </a:extLst>
          </p:cNvPr>
          <p:cNvSpPr txBox="1"/>
          <p:nvPr userDrawn="1"/>
        </p:nvSpPr>
        <p:spPr>
          <a:xfrm>
            <a:off x="9314289" y="-1107996"/>
            <a:ext cx="2877711" cy="1107996"/>
          </a:xfrm>
          <a:prstGeom prst="rect">
            <a:avLst/>
          </a:prstGeom>
          <a:noFill/>
          <a:effectLst>
            <a:outerShdw blurRad="50800" dist="114300" dir="7020000" algn="t" rotWithShape="0">
              <a:prstClr val="black">
                <a:alpha val="40000"/>
              </a:prstClr>
            </a:outerShdw>
          </a:effectLst>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w="38100">
                  <a:solidFill>
                    <a:sysClr val="windowText" lastClr="000000"/>
                  </a:solidFill>
                </a:ln>
                <a:solidFill>
                  <a:schemeClr val="bg1"/>
                </a:solidFill>
                <a:effectLst/>
                <a:uLnTx/>
                <a:uFillTx/>
                <a:latin typeface="Stone Sans" pitchFamily="2" charset="0"/>
                <a:ea typeface="+mn-ea"/>
                <a:cs typeface="+mn-cs"/>
              </a:rPr>
              <a:t>Demo</a:t>
            </a:r>
            <a:endParaRPr lang="en-US" b="1" dirty="0">
              <a:ln w="38100">
                <a:solidFill>
                  <a:sysClr val="windowText" lastClr="000000"/>
                </a:solidFill>
              </a:ln>
              <a:solidFill>
                <a:schemeClr val="bg1"/>
              </a:solidFill>
              <a:latin typeface="Stone Sans" pitchFamily="2" charset="0"/>
            </a:endParaRPr>
          </a:p>
        </p:txBody>
      </p:sp>
    </p:spTree>
    <p:extLst>
      <p:ext uri="{BB962C8B-B14F-4D97-AF65-F5344CB8AC3E}">
        <p14:creationId xmlns:p14="http://schemas.microsoft.com/office/powerpoint/2010/main" val="139249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0325 -0.01273 C -0.03086 -0.06296 -0.06485 -0.11319 -0.07604 -0.16643 C -0.08711 -0.21991 -0.06354 -0.3331 -0.06354 -0.3331 L -0.06354 -0.3331 " pathEditMode="relative" ptsTypes="AAAA">
                                      <p:cBhvr>
                                        <p:cTn id="14" dur="2000" fill="hold"/>
                                        <p:tgtEl>
                                          <p:spTgt spid="6"/>
                                        </p:tgtEl>
                                        <p:attrNameLst>
                                          <p:attrName>ppt_x</p:attrName>
                                          <p:attrName>ppt_y</p:attrName>
                                        </p:attrNameLst>
                                      </p:cBhvr>
                                    </p:animMotion>
                                  </p:childTnLst>
                                </p:cTn>
                              </p:par>
                              <p:par>
                                <p:cTn id="15" presetID="42" presetClass="path" presetSubtype="0" accel="50000" decel="50000" fill="hold" grpId="0" nodeType="withEffect">
                                  <p:stCondLst>
                                    <p:cond delay="0"/>
                                  </p:stCondLst>
                                  <p:childTnLst>
                                    <p:animMotion origin="layout" path="M -1.04167E-6 -2.96296E-6 L -0.0862 0.29607 " pathEditMode="relative" rAng="0" ptsTypes="AA">
                                      <p:cBhvr>
                                        <p:cTn id="16" dur="1000" fill="hold"/>
                                        <p:tgtEl>
                                          <p:spTgt spid="16"/>
                                        </p:tgtEl>
                                        <p:attrNameLst>
                                          <p:attrName>ppt_x</p:attrName>
                                          <p:attrName>ppt_y</p:attrName>
                                        </p:attrNameLst>
                                      </p:cBhvr>
                                      <p:rCtr x="-4310" y="14792"/>
                                    </p:animMotion>
                                  </p:childTnLst>
                                </p:cTn>
                              </p:par>
                              <p:par>
                                <p:cTn id="17" presetID="0" presetClass="path" presetSubtype="0" accel="50000" decel="50000" fill="hold" grpId="1" nodeType="withEffect">
                                  <p:stCondLst>
                                    <p:cond delay="0"/>
                                  </p:stCondLst>
                                  <p:childTnLst>
                                    <p:animMotion origin="layout" path="M -2.5E-6 -7.40741E-7 C -0.1108 -0.00208 -0.22148 -0.00417 -0.29218 -0.05995 C -0.36302 -0.11597 -0.42474 -0.33565 -0.42474 -0.33542 L -0.42474 -0.33565 L -0.43073 -0.34491 " pathEditMode="relative" rAng="0" ptsTypes="AAAAA">
                                      <p:cBhvr>
                                        <p:cTn id="18" dur="2000" fill="hold"/>
                                        <p:tgtEl>
                                          <p:spTgt spid="12"/>
                                        </p:tgtEl>
                                        <p:attrNameLst>
                                          <p:attrName>ppt_x</p:attrName>
                                          <p:attrName>ppt_y</p:attrName>
                                        </p:attrNameLst>
                                      </p:cBhvr>
                                      <p:rCtr x="-21536" y="-17245"/>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2"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9" presetClass="entr" presetSubtype="0" fill="hold" grpId="0" nodeType="with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dissolve">
                                      <p:cBhvr>
                                        <p:cTn id="25" dur="500"/>
                                        <p:tgtEl>
                                          <p:spTgt spid="15">
                                            <p:txEl>
                                              <p:pRg st="0" end="0"/>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5">
                                            <p:txEl>
                                              <p:pRg st="1" end="1"/>
                                            </p:txEl>
                                          </p:spTgt>
                                        </p:tgtEl>
                                        <p:attrNameLst>
                                          <p:attrName>style.visibility</p:attrName>
                                        </p:attrNameLst>
                                      </p:cBhvr>
                                      <p:to>
                                        <p:strVal val="visible"/>
                                      </p:to>
                                    </p:set>
                                    <p:animEffect transition="in" filter="dissolve">
                                      <p:cBhvr>
                                        <p:cTn id="28" dur="500"/>
                                        <p:tgtEl>
                                          <p:spTgt spid="15">
                                            <p:txEl>
                                              <p:pRg st="1" end="1"/>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xEl>
                                              <p:pRg st="2" end="2"/>
                                            </p:txEl>
                                          </p:spTgt>
                                        </p:tgtEl>
                                        <p:attrNameLst>
                                          <p:attrName>style.visibility</p:attrName>
                                        </p:attrNameLst>
                                      </p:cBhvr>
                                      <p:to>
                                        <p:strVal val="visible"/>
                                      </p:to>
                                    </p:set>
                                    <p:animEffect transition="in" filter="dissolve">
                                      <p:cBhvr>
                                        <p:cTn id="31" dur="500"/>
                                        <p:tgtEl>
                                          <p:spTgt spid="15">
                                            <p:txEl>
                                              <p:pRg st="2" end="2"/>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xEl>
                                              <p:pRg st="3" end="3"/>
                                            </p:txEl>
                                          </p:spTgt>
                                        </p:tgtEl>
                                        <p:attrNameLst>
                                          <p:attrName>style.visibility</p:attrName>
                                        </p:attrNameLst>
                                      </p:cBhvr>
                                      <p:to>
                                        <p:strVal val="visible"/>
                                      </p:to>
                                    </p:set>
                                    <p:animEffect transition="in" filter="dissolve">
                                      <p:cBhvr>
                                        <p:cTn id="34"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15" grpId="0" build="p">
        <p:tmplLst>
          <p:tmpl lvl="1">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2">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3">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4">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5">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Lst>
      </p:bldP>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DA3064-0BC5-6341-8693-FA38D47F55EF}"/>
              </a:ext>
            </a:extLst>
          </p:cNvPr>
          <p:cNvSpPr/>
          <p:nvPr userDrawn="1"/>
        </p:nvSpPr>
        <p:spPr>
          <a:xfrm>
            <a:off x="7260771" y="-6858000"/>
            <a:ext cx="493122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51AF0E62-349B-044C-9C39-448784C3EFC8}"/>
              </a:ext>
            </a:extLst>
          </p:cNvPr>
          <p:cNvSpPr>
            <a:spLocks noGrp="1"/>
          </p:cNvSpPr>
          <p:nvPr>
            <p:ph type="body" sz="quarter" idx="10" hasCustomPrompt="1"/>
          </p:nvPr>
        </p:nvSpPr>
        <p:spPr>
          <a:xfrm>
            <a:off x="570932" y="1429521"/>
            <a:ext cx="6352382" cy="3253661"/>
          </a:xfrm>
        </p:spPr>
        <p:txBody>
          <a:bodyPr/>
          <a:lstStyle>
            <a:lvl1pPr marL="457200" indent="-457200">
              <a:buClr>
                <a:schemeClr val="accent2"/>
              </a:buClr>
              <a:buFont typeface=".Lucida Grande UI Regular"/>
              <a:buChar char="⇢"/>
              <a:defRPr/>
            </a:lvl1pPr>
            <a:lvl6pPr marL="2286000" indent="0">
              <a:buNone/>
              <a:defRPr/>
            </a:lvl6pPr>
          </a:lstStyle>
          <a:p>
            <a:pPr lvl="0"/>
            <a:r>
              <a:rPr lang="en-US" dirty="0"/>
              <a:t>We did this</a:t>
            </a:r>
          </a:p>
          <a:p>
            <a:pPr lvl="1"/>
            <a:r>
              <a:rPr lang="en-US" dirty="0"/>
              <a:t>You learned this</a:t>
            </a:r>
          </a:p>
          <a:p>
            <a:pPr lvl="1"/>
            <a:r>
              <a:rPr lang="en-US" dirty="0"/>
              <a:t>And this</a:t>
            </a:r>
          </a:p>
          <a:p>
            <a:pPr lvl="1"/>
            <a:r>
              <a:rPr lang="en-US" dirty="0"/>
              <a:t>And this</a:t>
            </a:r>
          </a:p>
          <a:p>
            <a:pPr lvl="0"/>
            <a:r>
              <a:rPr lang="en-US" dirty="0"/>
              <a:t>Then we did this</a:t>
            </a:r>
          </a:p>
        </p:txBody>
      </p:sp>
      <p:sp>
        <p:nvSpPr>
          <p:cNvPr id="9" name="TextBox 8">
            <a:extLst>
              <a:ext uri="{FF2B5EF4-FFF2-40B4-BE49-F238E27FC236}">
                <a16:creationId xmlns:a16="http://schemas.microsoft.com/office/drawing/2014/main" id="{1F4DAB06-EA61-1C4D-A7BF-71FBA7E00114}"/>
              </a:ext>
            </a:extLst>
          </p:cNvPr>
          <p:cNvSpPr txBox="1"/>
          <p:nvPr userDrawn="1"/>
        </p:nvSpPr>
        <p:spPr>
          <a:xfrm>
            <a:off x="570932" y="529389"/>
            <a:ext cx="2420856" cy="707886"/>
          </a:xfrm>
          <a:prstGeom prst="rect">
            <a:avLst/>
          </a:prstGeom>
          <a:noFill/>
        </p:spPr>
        <p:txBody>
          <a:bodyPr wrap="none" rtlCol="0">
            <a:spAutoFit/>
          </a:bodyPr>
          <a:lstStyle/>
          <a:p>
            <a:r>
              <a:rPr lang="en-US" sz="4000" dirty="0">
                <a:latin typeface="Stone Sans" pitchFamily="2" charset="0"/>
              </a:rPr>
              <a:t>Summary</a:t>
            </a:r>
          </a:p>
        </p:txBody>
      </p:sp>
      <p:pic>
        <p:nvPicPr>
          <p:cNvPr id="11" name="Picture 10">
            <a:extLst>
              <a:ext uri="{FF2B5EF4-FFF2-40B4-BE49-F238E27FC236}">
                <a16:creationId xmlns:a16="http://schemas.microsoft.com/office/drawing/2014/main" id="{010A892F-3493-CB44-922C-0256F802AD66}"/>
              </a:ext>
            </a:extLst>
          </p:cNvPr>
          <p:cNvPicPr>
            <a:picLocks noChangeAspect="1"/>
          </p:cNvPicPr>
          <p:nvPr userDrawn="1"/>
        </p:nvPicPr>
        <p:blipFill rotWithShape="1">
          <a:blip r:embed="rId2">
            <a:biLevel thresh="25000"/>
          </a:blip>
          <a:srcRect l="16200" t="6888" r="19901" b="6517"/>
          <a:stretch/>
        </p:blipFill>
        <p:spPr>
          <a:xfrm>
            <a:off x="7928126" y="883332"/>
            <a:ext cx="3596517" cy="4874044"/>
          </a:xfrm>
          <a:prstGeom prst="rect">
            <a:avLst/>
          </a:prstGeom>
        </p:spPr>
      </p:pic>
    </p:spTree>
    <p:extLst>
      <p:ext uri="{BB962C8B-B14F-4D97-AF65-F5344CB8AC3E}">
        <p14:creationId xmlns:p14="http://schemas.microsoft.com/office/powerpoint/2010/main" val="5005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3.54167E-6 0 L 0.00221 1 " pathEditMode="relative" rAng="0" ptsTypes="AA">
                                      <p:cBhvr>
                                        <p:cTn id="6" dur="1000" fill="hold"/>
                                        <p:tgtEl>
                                          <p:spTgt spid="4"/>
                                        </p:tgtEl>
                                        <p:attrNameLst>
                                          <p:attrName>ppt_x</p:attrName>
                                          <p:attrName>ppt_y</p:attrName>
                                        </p:attrNameLst>
                                      </p:cBhvr>
                                      <p:rCtr x="104" y="5000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uiExpand="1" build="p">
        <p:tmplLst>
          <p:tmpl lvl="1">
            <p:tnLst>
              <p:par>
                <p:cTn presetID="1" presetClass="entr" presetSubtype="0" fill="hold" nodeType="click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Overview 1">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45185DFC-FD8D-2644-BCD7-7AF03C438FAA}"/>
              </a:ext>
            </a:extLst>
          </p:cNvPr>
          <p:cNvSpPr/>
          <p:nvPr userDrawn="1"/>
        </p:nvSpPr>
        <p:spPr>
          <a:xfrm>
            <a:off x="12236193" y="0"/>
            <a:ext cx="9337837" cy="6857999"/>
          </a:xfrm>
          <a:prstGeom prst="hexagon">
            <a:avLst/>
          </a:prstGeom>
          <a:blipFill dpi="0" rotWithShape="1">
            <a:blip r:embed="rId2">
              <a:extLst>
                <a:ext uri="{28A0092B-C50C-407E-A947-70E740481C1C}">
                  <a14:useLocalDpi xmlns:a14="http://schemas.microsoft.com/office/drawing/2010/main" val="0"/>
                </a:ext>
              </a:extLst>
            </a:blip>
            <a:srcRect/>
            <a:stretch>
              <a:fillRect l="-15586" t="-18948" r="-15162" b="1"/>
            </a:stretch>
          </a:blipFill>
          <a:ln>
            <a:noFill/>
            <a:prstDash val="sysDot"/>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49B2FF-0BA9-1D49-BBE6-716088BF8A89}"/>
              </a:ext>
            </a:extLst>
          </p:cNvPr>
          <p:cNvSpPr/>
          <p:nvPr userDrawn="1"/>
        </p:nvSpPr>
        <p:spPr>
          <a:xfrm>
            <a:off x="6389512" y="365125"/>
            <a:ext cx="4964288" cy="1325562"/>
          </a:xfrm>
          <a:prstGeom prst="rect">
            <a:avLst/>
          </a:prstGeom>
          <a:solidFill>
            <a:srgbClr val="FFFFFF">
              <a:alpha val="50196"/>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838200" y="2134689"/>
            <a:ext cx="5257800" cy="4358186"/>
          </a:xfrm>
        </p:spPr>
        <p:txBody>
          <a:bodyPr>
            <a:normAutofit/>
          </a:bodyPr>
          <a:lstStyle>
            <a:lvl1pPr marL="457200" indent="-457200">
              <a:buClr>
                <a:schemeClr val="accent2"/>
              </a:buClr>
              <a:buFont typeface=".Lucida Grande UI Regular"/>
              <a:buChar char="⇢"/>
              <a:defRPr sz="2800" baseline="0"/>
            </a:lvl1pPr>
            <a:lvl2pPr marL="457200" indent="0">
              <a:buClr>
                <a:schemeClr val="accent5"/>
              </a:buClr>
              <a:buFont typeface=".Lucida Grande UI Regular"/>
              <a:buNone/>
              <a:defRPr sz="2400"/>
            </a:lvl2pPr>
            <a:lvl3pPr marL="914400" indent="0">
              <a:buClr>
                <a:schemeClr val="accent5"/>
              </a:buClr>
              <a:buFont typeface=".Lucida Grande UI Regular"/>
              <a:buNone/>
              <a:defRPr sz="2000"/>
            </a:lvl3pPr>
            <a:lvl4pPr marL="1371600" indent="0">
              <a:buClr>
                <a:schemeClr val="accent5"/>
              </a:buClr>
              <a:buFont typeface=".Lucida Grande UI Regular"/>
              <a:buNone/>
              <a:defRPr sz="18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dirty="0"/>
              <a:t>We are going to cover this</a:t>
            </a:r>
          </a:p>
          <a:p>
            <a:pPr lvl="0"/>
            <a:r>
              <a:rPr lang="en-US" dirty="0"/>
              <a:t>Then this</a:t>
            </a:r>
          </a:p>
          <a:p>
            <a:pPr lvl="0"/>
            <a:r>
              <a:rPr lang="en-US" dirty="0"/>
              <a:t>Then this</a:t>
            </a:r>
          </a:p>
          <a:p>
            <a:pPr lvl="0"/>
            <a:r>
              <a:rPr lang="en-US" dirty="0"/>
              <a:t>Then this</a:t>
            </a:r>
          </a:p>
        </p:txBody>
      </p:sp>
      <p:sp>
        <p:nvSpPr>
          <p:cNvPr id="5" name="Title 4">
            <a:extLst>
              <a:ext uri="{FF2B5EF4-FFF2-40B4-BE49-F238E27FC236}">
                <a16:creationId xmlns:a16="http://schemas.microsoft.com/office/drawing/2014/main" id="{BEE5D464-C157-3D43-8895-C0F6CE99D381}"/>
              </a:ext>
            </a:extLst>
          </p:cNvPr>
          <p:cNvSpPr>
            <a:spLocks noGrp="1"/>
          </p:cNvSpPr>
          <p:nvPr>
            <p:ph type="title" hasCustomPrompt="1"/>
          </p:nvPr>
        </p:nvSpPr>
        <p:spPr/>
        <p:txBody>
          <a:bodyPr/>
          <a:lstStyle/>
          <a:p>
            <a:r>
              <a:rPr lang="en-US" dirty="0"/>
              <a:t>Section Overview</a:t>
            </a:r>
          </a:p>
        </p:txBody>
      </p:sp>
    </p:spTree>
    <p:extLst>
      <p:ext uri="{BB962C8B-B14F-4D97-AF65-F5344CB8AC3E}">
        <p14:creationId xmlns:p14="http://schemas.microsoft.com/office/powerpoint/2010/main" val="342663610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14:presetBounceEnd="50000">
                                      <p:stCondLst>
                                        <p:cond delay="500"/>
                                      </p:stCondLst>
                                      <p:childTnLst>
                                        <p:animMotion origin="layout" path="M 1.45833E-6 0 L -0.46953 0 " pathEditMode="relative" rAng="0" ptsTypes="AA" p14:bounceEnd="50000">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stCondLst>
                                        <p:cond delay="500"/>
                                      </p:stCondLst>
                                      <p:childTnLst>
                                        <p:animMotion origin="layout" path="M 1.45833E-6 0 L -0.46953 0 " pathEditMode="relative" rAng="0" ptsTypes="AA">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Animated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838200" y="2102325"/>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85E7E6C-DA8B-1741-B77B-3ADC92A3B8D3}"/>
              </a:ext>
            </a:extLst>
          </p:cNvPr>
          <p:cNvSpPr>
            <a:spLocks noGrp="1"/>
          </p:cNvSpPr>
          <p:nvPr>
            <p:ph type="pic" sz="quarter" idx="10"/>
          </p:nvPr>
        </p:nvSpPr>
        <p:spPr>
          <a:xfrm>
            <a:off x="8170647" y="2054405"/>
            <a:ext cx="3829184" cy="3776217"/>
          </a:xfrm>
        </p:spPr>
        <p:txBody>
          <a:bodyPr/>
          <a:lstStyle>
            <a:lvl1pPr marL="0" indent="0">
              <a:buNone/>
              <a:defRPr/>
            </a:lvl1pPr>
          </a:lstStyle>
          <a:p>
            <a:r>
              <a:rPr lang="en-US"/>
              <a:t>Click icon to add picture</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7349966" y="2102326"/>
            <a:ext cx="0" cy="3776217"/>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Animated picture right</a:t>
            </a:r>
          </a:p>
        </p:txBody>
      </p:sp>
    </p:spTree>
    <p:extLst>
      <p:ext uri="{BB962C8B-B14F-4D97-AF65-F5344CB8AC3E}">
        <p14:creationId xmlns:p14="http://schemas.microsoft.com/office/powerpoint/2010/main" val="43958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nodePh="1">
                                  <p:stCondLst>
                                    <p:cond delay="0"/>
                                  </p:stCondLst>
                                  <p:endCondLst>
                                    <p:cond evt="begin" delay="0">
                                      <p:tn val="5"/>
                                    </p:cond>
                                  </p:endCondLst>
                                  <p:childTnLst>
                                    <p:animMotion origin="layout" path="M -3.54167E-6 1.48148E-6 L -0.02877 1.48148E-6 " pathEditMode="relative" rAng="0" ptsTypes="AA">
                                      <p:cBhvr>
                                        <p:cTn id="6" dur="500" fill="hold"/>
                                        <p:tgtEl>
                                          <p:spTgt spid="10"/>
                                        </p:tgtEl>
                                        <p:attrNameLst>
                                          <p:attrName>ppt_x</p:attrName>
                                          <p:attrName>ppt_y</p:attrName>
                                        </p:attrNameLst>
                                      </p:cBhvr>
                                      <p:rCtr x="-1445" y="0"/>
                                    </p:animMotion>
                                  </p:childTnLst>
                                </p:cTn>
                              </p:par>
                              <p:par>
                                <p:cTn id="7" presetID="12" presetClass="entr" presetSubtype="8" fill="hold" nodeType="withEffect">
                                  <p:stCondLst>
                                    <p:cond delay="50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p:tgtEl>
                                          <p:spTgt spid="12"/>
                                        </p:tgtEl>
                                        <p:attrNameLst>
                                          <p:attrName>ppt_x</p:attrName>
                                        </p:attrNameLst>
                                      </p:cBhvr>
                                      <p:tavLst>
                                        <p:tav tm="0">
                                          <p:val>
                                            <p:strVal val="#ppt_x-#ppt_w*1.125000"/>
                                          </p:val>
                                        </p:tav>
                                        <p:tav tm="100000">
                                          <p:val>
                                            <p:strVal val="#ppt_x"/>
                                          </p:val>
                                        </p:tav>
                                      </p:tavLst>
                                    </p:anim>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10"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C9AEE-621D-284F-B07F-5790B4CAC2E3}" type="datetimeFigureOut">
              <a:rPr lang="en-US" smtClean="0"/>
              <a:t>11/27/2020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DE1BB-0095-1A41-AE1B-AAFE949078F5}" type="slidenum">
              <a:rPr lang="en-US" smtClean="0"/>
              <a:t>‹#›</a:t>
            </a:fld>
            <a:endParaRPr lang="en-US"/>
          </a:p>
        </p:txBody>
      </p:sp>
    </p:spTree>
    <p:extLst>
      <p:ext uri="{BB962C8B-B14F-4D97-AF65-F5344CB8AC3E}">
        <p14:creationId xmlns:p14="http://schemas.microsoft.com/office/powerpoint/2010/main" val="406872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6">
            <a:extLst>
              <a:ext uri="{FF2B5EF4-FFF2-40B4-BE49-F238E27FC236}">
                <a16:creationId xmlns:a16="http://schemas.microsoft.com/office/drawing/2014/main" id="{F9B55F9A-D3D4-D042-B158-D3D578A5A2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D9443153-ACD1-A540-900E-174F275D5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Adam Frisbee, </a:t>
            </a:r>
            <a:r>
              <a:rPr lang="en-US" dirty="0" err="1"/>
              <a:t>adamfrisbee.com</a:t>
            </a:r>
            <a:r>
              <a:rPr lang="en-US" dirty="0"/>
              <a:t>, @</a:t>
            </a:r>
            <a:r>
              <a:rPr lang="en-US" dirty="0" err="1"/>
              <a:t>adam_frisbee</a:t>
            </a:r>
            <a:endParaRPr lang="en-US" dirty="0"/>
          </a:p>
        </p:txBody>
      </p:sp>
    </p:spTree>
    <p:extLst>
      <p:ext uri="{BB962C8B-B14F-4D97-AF65-F5344CB8AC3E}">
        <p14:creationId xmlns:p14="http://schemas.microsoft.com/office/powerpoint/2010/main" val="1391239520"/>
      </p:ext>
    </p:extLst>
  </p:cSld>
  <p:clrMap bg1="lt1" tx1="dk1" bg2="lt2" tx2="dk2" accent1="accent1" accent2="accent2" accent3="accent3" accent4="accent4" accent5="accent5" accent6="accent6" hlink="hlink" folHlink="folHlink"/>
  <p:sldLayoutIdLst>
    <p:sldLayoutId id="2147483663" r:id="rId1"/>
    <p:sldLayoutId id="2147483649" r:id="rId2"/>
    <p:sldLayoutId id="2147483666" r:id="rId3"/>
    <p:sldLayoutId id="2147483659" r:id="rId4"/>
    <p:sldLayoutId id="2147483652" r:id="rId5"/>
    <p:sldLayoutId id="2147483655" r:id="rId6"/>
    <p:sldLayoutId id="2147483662" r:id="rId7"/>
    <p:sldLayoutId id="2147483658" r:id="rId8"/>
    <p:sldLayoutId id="2147483667" r:id="rId9"/>
    <p:sldLayoutId id="2147483657" r:id="rId10"/>
    <p:sldLayoutId id="2147483660" r:id="rId11"/>
    <p:sldLayoutId id="2147483664" r:id="rId12"/>
    <p:sldLayoutId id="2147483665" r:id="rId13"/>
    <p:sldLayoutId id="2147483668" r:id="rId14"/>
    <p:sldLayoutId id="2147483669" r:id="rId15"/>
    <p:sldLayoutId id="2147483673" r:id="rId16"/>
  </p:sldLayoutIdLst>
  <p:txStyles>
    <p:titleStyle>
      <a:lvl1pPr algn="l" defTabSz="914400" rtl="0" eaLnBrk="1" latinLnBrk="0" hangingPunct="1">
        <a:lnSpc>
          <a:spcPct val="90000"/>
        </a:lnSpc>
        <a:spcBef>
          <a:spcPct val="0"/>
        </a:spcBef>
        <a:buNone/>
        <a:defRPr sz="4400" kern="1200">
          <a:solidFill>
            <a:schemeClr val="tx1"/>
          </a:solidFill>
          <a:latin typeface="Stone Sans" pitchFamily="2" charset="0"/>
          <a:ea typeface="+mj-ea"/>
          <a:cs typeface="+mj-cs"/>
        </a:defRPr>
      </a:lvl1pPr>
    </p:titleStyle>
    <p:bodyStyle>
      <a:lvl1pPr marL="457200" indent="-457200" algn="l" defTabSz="914400" rtl="0" eaLnBrk="1" latinLnBrk="0" hangingPunct="1">
        <a:lnSpc>
          <a:spcPct val="90000"/>
        </a:lnSpc>
        <a:spcBef>
          <a:spcPts val="1000"/>
        </a:spcBef>
        <a:buClr>
          <a:schemeClr val="accent2"/>
        </a:buClr>
        <a:buFont typeface=".Lucida Grande UI Regular"/>
        <a:buChar char="⇢"/>
        <a:defRPr sz="2800" kern="1200">
          <a:solidFill>
            <a:schemeClr val="tx1"/>
          </a:solidFill>
          <a:latin typeface="Oxygen" panose="02000503000000000000" pitchFamily="2" charset="77"/>
          <a:ea typeface="+mn-ea"/>
          <a:cs typeface="+mn-cs"/>
        </a:defRPr>
      </a:lvl1pPr>
      <a:lvl2pPr marL="685800" indent="-228600" algn="l" defTabSz="914400" rtl="0" eaLnBrk="1" latinLnBrk="0" hangingPunct="1">
        <a:lnSpc>
          <a:spcPct val="90000"/>
        </a:lnSpc>
        <a:spcBef>
          <a:spcPts val="500"/>
        </a:spcBef>
        <a:buClr>
          <a:schemeClr val="accent5"/>
        </a:buClr>
        <a:buFont typeface=".Lucida Grande UI Regular"/>
        <a:buChar char="⇢"/>
        <a:defRPr sz="2400" kern="1200">
          <a:solidFill>
            <a:schemeClr val="tx1"/>
          </a:solidFill>
          <a:latin typeface="Oxygen" panose="02000503000000000000" pitchFamily="2" charset="77"/>
          <a:ea typeface="+mn-ea"/>
          <a:cs typeface="+mn-cs"/>
        </a:defRPr>
      </a:lvl2pPr>
      <a:lvl3pPr marL="1143000" indent="-228600" algn="l" defTabSz="914400" rtl="0" eaLnBrk="1" latinLnBrk="0" hangingPunct="1">
        <a:lnSpc>
          <a:spcPct val="90000"/>
        </a:lnSpc>
        <a:spcBef>
          <a:spcPts val="500"/>
        </a:spcBef>
        <a:buClr>
          <a:schemeClr val="accent5"/>
        </a:buClr>
        <a:buFont typeface=".Lucida Grande UI Regular"/>
        <a:buChar char="⇢"/>
        <a:defRPr sz="2000" kern="1200">
          <a:solidFill>
            <a:schemeClr val="tx1"/>
          </a:solidFill>
          <a:latin typeface="Oxygen" panose="02000503000000000000" pitchFamily="2" charset="77"/>
          <a:ea typeface="+mn-ea"/>
          <a:cs typeface="+mn-cs"/>
        </a:defRPr>
      </a:lvl3pPr>
      <a:lvl4pPr marL="16002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4pPr>
      <a:lvl5pPr marL="20574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7C5485-6A45-8D49-97A1-B99133C9CFEA}"/>
              </a:ext>
            </a:extLst>
          </p:cNvPr>
          <p:cNvSpPr>
            <a:spLocks noGrp="1"/>
          </p:cNvSpPr>
          <p:nvPr>
            <p:ph idx="1"/>
          </p:nvPr>
        </p:nvSpPr>
        <p:spPr/>
        <p:txBody>
          <a:bodyPr/>
          <a:lstStyle/>
          <a:p>
            <a:r>
              <a:rPr lang="en-US" dirty="0"/>
              <a:t>What is Search Processing Language (SPL)?</a:t>
            </a:r>
          </a:p>
          <a:p>
            <a:r>
              <a:rPr lang="en-US" dirty="0"/>
              <a:t>The Anatomy of a Search</a:t>
            </a:r>
          </a:p>
          <a:p>
            <a:r>
              <a:rPr lang="en-US" dirty="0"/>
              <a:t>Time</a:t>
            </a:r>
          </a:p>
          <a:p>
            <a:r>
              <a:rPr lang="en-US" dirty="0"/>
              <a:t>Basic Search Processing Language (SPL)</a:t>
            </a:r>
          </a:p>
          <a:p>
            <a:r>
              <a:rPr lang="en-US" dirty="0"/>
              <a:t>Fields and </a:t>
            </a:r>
            <a:r>
              <a:rPr lang="en-US"/>
              <a:t>Field Extractions</a:t>
            </a:r>
            <a:endParaRPr lang="en-US" dirty="0"/>
          </a:p>
        </p:txBody>
      </p:sp>
      <p:sp>
        <p:nvSpPr>
          <p:cNvPr id="3" name="Title 2">
            <a:extLst>
              <a:ext uri="{FF2B5EF4-FFF2-40B4-BE49-F238E27FC236}">
                <a16:creationId xmlns:a16="http://schemas.microsoft.com/office/drawing/2014/main" id="{38C57CE4-C061-0543-AB12-F7C496D36E22}"/>
              </a:ext>
            </a:extLst>
          </p:cNvPr>
          <p:cNvSpPr>
            <a:spLocks noGrp="1"/>
          </p:cNvSpPr>
          <p:nvPr>
            <p:ph type="title"/>
          </p:nvPr>
        </p:nvSpPr>
        <p:spPr/>
        <p:txBody>
          <a:bodyPr/>
          <a:lstStyle/>
          <a:p>
            <a:r>
              <a:rPr lang="en-US" dirty="0"/>
              <a:t>Searching in Splunk</a:t>
            </a:r>
          </a:p>
        </p:txBody>
      </p:sp>
    </p:spTree>
    <p:extLst>
      <p:ext uri="{BB962C8B-B14F-4D97-AF65-F5344CB8AC3E}">
        <p14:creationId xmlns:p14="http://schemas.microsoft.com/office/powerpoint/2010/main" val="1383564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1C2B-09C1-934A-A993-0AA9C29F35EE}"/>
              </a:ext>
            </a:extLst>
          </p:cNvPr>
          <p:cNvSpPr>
            <a:spLocks noGrp="1"/>
          </p:cNvSpPr>
          <p:nvPr>
            <p:ph type="ctrTitle"/>
          </p:nvPr>
        </p:nvSpPr>
        <p:spPr/>
        <p:txBody>
          <a:bodyPr/>
          <a:lstStyle/>
          <a:p>
            <a:r>
              <a:rPr lang="en-US" dirty="0"/>
              <a:t>What is Search Processing Language?</a:t>
            </a:r>
          </a:p>
        </p:txBody>
      </p:sp>
    </p:spTree>
    <p:extLst>
      <p:ext uri="{BB962C8B-B14F-4D97-AF65-F5344CB8AC3E}">
        <p14:creationId xmlns:p14="http://schemas.microsoft.com/office/powerpoint/2010/main" val="148547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F3BCC6-5EE9-4CB1-88EC-FFE9C75E7FCA}"/>
              </a:ext>
            </a:extLst>
          </p:cNvPr>
          <p:cNvSpPr txBox="1"/>
          <p:nvPr/>
        </p:nvSpPr>
        <p:spPr>
          <a:xfrm>
            <a:off x="1169978" y="778091"/>
            <a:ext cx="10325337" cy="5109091"/>
          </a:xfrm>
          <a:prstGeom prst="rect">
            <a:avLst/>
          </a:prstGeom>
          <a:noFill/>
        </p:spPr>
        <p:txBody>
          <a:bodyPr wrap="square">
            <a:spAutoFit/>
          </a:bodyPr>
          <a:lstStyle/>
          <a:p>
            <a:r>
              <a:rPr lang="en-US" sz="4400" b="0" i="0" dirty="0">
                <a:latin typeface="Stone Sans" pitchFamily="2" charset="0"/>
              </a:rPr>
              <a:t>SPL encompasses all the search commands and their functions, arguments, and clauses. Its syntax was originally based on the Unix pipeline and SQL. The scope of SPL includes data searching, filtering, modification, manipulation, insertion, and deletion. </a:t>
            </a:r>
            <a:r>
              <a:rPr lang="en-US" b="0" i="0" dirty="0">
                <a:latin typeface="Stone Sans" pitchFamily="2" charset="0"/>
              </a:rPr>
              <a:t>– The </a:t>
            </a:r>
            <a:r>
              <a:rPr lang="en-US" b="0" i="0" dirty="0" err="1">
                <a:latin typeface="Stone Sans" pitchFamily="2" charset="0"/>
              </a:rPr>
              <a:t>Splexicon</a:t>
            </a:r>
            <a:endParaRPr lang="en-US" sz="4400" dirty="0">
              <a:latin typeface="Stone Sans" pitchFamily="2" charset="0"/>
            </a:endParaRPr>
          </a:p>
        </p:txBody>
      </p:sp>
    </p:spTree>
    <p:extLst>
      <p:ext uri="{BB962C8B-B14F-4D97-AF65-F5344CB8AC3E}">
        <p14:creationId xmlns:p14="http://schemas.microsoft.com/office/powerpoint/2010/main" val="44464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DFAD32-1F29-3248-817D-19ADB2403EC9}"/>
              </a:ext>
            </a:extLst>
          </p:cNvPr>
          <p:cNvSpPr>
            <a:spLocks noGrp="1"/>
          </p:cNvSpPr>
          <p:nvPr>
            <p:ph idx="1"/>
          </p:nvPr>
        </p:nvSpPr>
        <p:spPr/>
        <p:txBody>
          <a:bodyPr>
            <a:normAutofit/>
          </a:bodyPr>
          <a:lstStyle/>
          <a:p>
            <a:r>
              <a:rPr lang="en-US" dirty="0"/>
              <a:t>It’s the primary way users interact with data in Splunk. </a:t>
            </a:r>
          </a:p>
          <a:p>
            <a:pPr lvl="1"/>
            <a:r>
              <a:rPr lang="en-US" dirty="0"/>
              <a:t>Query</a:t>
            </a:r>
          </a:p>
          <a:p>
            <a:pPr lvl="1"/>
            <a:r>
              <a:rPr lang="en-US" dirty="0"/>
              <a:t>Calculate </a:t>
            </a:r>
          </a:p>
          <a:p>
            <a:pPr lvl="1"/>
            <a:r>
              <a:rPr lang="en-US" dirty="0"/>
              <a:t>Transform</a:t>
            </a:r>
          </a:p>
          <a:p>
            <a:pPr lvl="1"/>
            <a:r>
              <a:rPr lang="en-US" dirty="0"/>
              <a:t>Organize</a:t>
            </a:r>
          </a:p>
          <a:p>
            <a:pPr lvl="1"/>
            <a:r>
              <a:rPr lang="en-US" dirty="0"/>
              <a:t>Visualize</a:t>
            </a:r>
          </a:p>
          <a:p>
            <a:pPr lvl="1"/>
            <a:r>
              <a:rPr lang="en-US" dirty="0"/>
              <a:t>Manipulate</a:t>
            </a:r>
          </a:p>
          <a:p>
            <a:endParaRPr lang="en-US" dirty="0"/>
          </a:p>
        </p:txBody>
      </p:sp>
      <p:pic>
        <p:nvPicPr>
          <p:cNvPr id="6" name="Picture Placeholder 5">
            <a:extLst>
              <a:ext uri="{FF2B5EF4-FFF2-40B4-BE49-F238E27FC236}">
                <a16:creationId xmlns:a16="http://schemas.microsoft.com/office/drawing/2014/main" id="{8E396300-9383-41BF-A979-8329C2F11F48}"/>
              </a:ext>
            </a:extLst>
          </p:cNvPr>
          <p:cNvPicPr>
            <a:picLocks noGrp="1" noChangeAspect="1"/>
          </p:cNvPicPr>
          <p:nvPr>
            <p:ph type="pic" sz="quarter" idx="10"/>
          </p:nvPr>
        </p:nvPicPr>
        <p:blipFill rotWithShape="1">
          <a:blip r:embed="rId3"/>
          <a:srcRect l="13713" t="11793" r="11279" b="14227"/>
          <a:stretch/>
        </p:blipFill>
        <p:spPr>
          <a:xfrm>
            <a:off x="8170647" y="2054405"/>
            <a:ext cx="3829184" cy="3776217"/>
          </a:xfrm>
        </p:spPr>
      </p:pic>
      <p:sp>
        <p:nvSpPr>
          <p:cNvPr id="4" name="Title 3">
            <a:extLst>
              <a:ext uri="{FF2B5EF4-FFF2-40B4-BE49-F238E27FC236}">
                <a16:creationId xmlns:a16="http://schemas.microsoft.com/office/drawing/2014/main" id="{424CE638-7413-7446-93E0-CAEDD685433F}"/>
              </a:ext>
            </a:extLst>
          </p:cNvPr>
          <p:cNvSpPr>
            <a:spLocks noGrp="1"/>
          </p:cNvSpPr>
          <p:nvPr>
            <p:ph type="title"/>
          </p:nvPr>
        </p:nvSpPr>
        <p:spPr/>
        <p:txBody>
          <a:bodyPr/>
          <a:lstStyle/>
          <a:p>
            <a:r>
              <a:rPr lang="en-US" dirty="0"/>
              <a:t>What Does it Mean to Search in Splunk?</a:t>
            </a:r>
          </a:p>
        </p:txBody>
      </p:sp>
    </p:spTree>
    <p:extLst>
      <p:ext uri="{BB962C8B-B14F-4D97-AF65-F5344CB8AC3E}">
        <p14:creationId xmlns:p14="http://schemas.microsoft.com/office/powerpoint/2010/main" val="63116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20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20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20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20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20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8D87E3-FE16-4BDB-AC86-BBCBF8F5FF74}"/>
              </a:ext>
            </a:extLst>
          </p:cNvPr>
          <p:cNvSpPr>
            <a:spLocks noGrp="1"/>
          </p:cNvSpPr>
          <p:nvPr>
            <p:ph idx="1"/>
          </p:nvPr>
        </p:nvSpPr>
        <p:spPr/>
        <p:txBody>
          <a:bodyPr/>
          <a:lstStyle/>
          <a:p>
            <a:r>
              <a:rPr lang="en-US" dirty="0"/>
              <a:t>Default app</a:t>
            </a:r>
          </a:p>
          <a:p>
            <a:pPr lvl="1"/>
            <a:r>
              <a:rPr lang="en-US" dirty="0"/>
              <a:t>Comes built-in to Splunk</a:t>
            </a:r>
          </a:p>
          <a:p>
            <a:r>
              <a:rPr lang="en-US" dirty="0"/>
              <a:t>Primary way to search and analyze data in Splunk</a:t>
            </a:r>
          </a:p>
          <a:p>
            <a:pPr lvl="1"/>
            <a:r>
              <a:rPr lang="en-US" dirty="0"/>
              <a:t>Index data</a:t>
            </a:r>
          </a:p>
          <a:p>
            <a:pPr lvl="1"/>
            <a:r>
              <a:rPr lang="en-US" dirty="0"/>
              <a:t>Build reports and visualizations</a:t>
            </a:r>
          </a:p>
          <a:p>
            <a:pPr lvl="1"/>
            <a:r>
              <a:rPr lang="en-US" dirty="0"/>
              <a:t>Configure alerts</a:t>
            </a:r>
          </a:p>
          <a:p>
            <a:pPr lvl="1"/>
            <a:r>
              <a:rPr lang="en-US" dirty="0"/>
              <a:t>Create dashboards</a:t>
            </a:r>
          </a:p>
        </p:txBody>
      </p:sp>
      <p:pic>
        <p:nvPicPr>
          <p:cNvPr id="6" name="Picture Placeholder 5">
            <a:extLst>
              <a:ext uri="{FF2B5EF4-FFF2-40B4-BE49-F238E27FC236}">
                <a16:creationId xmlns:a16="http://schemas.microsoft.com/office/drawing/2014/main" id="{D9752944-33A0-4959-A942-3BFF871D7B31}"/>
              </a:ext>
            </a:extLst>
          </p:cNvPr>
          <p:cNvPicPr>
            <a:picLocks noGrp="1" noChangeAspect="1"/>
          </p:cNvPicPr>
          <p:nvPr>
            <p:ph type="pic" sz="quarter" idx="10"/>
          </p:nvPr>
        </p:nvPicPr>
        <p:blipFill rotWithShape="1">
          <a:blip r:embed="rId2"/>
          <a:srcRect l="13516" t="15506" r="14251" b="16403"/>
          <a:stretch/>
        </p:blipFill>
        <p:spPr>
          <a:xfrm>
            <a:off x="726976" y="2652329"/>
            <a:ext cx="2765918" cy="2606892"/>
          </a:xfrm>
        </p:spPr>
      </p:pic>
      <p:sp>
        <p:nvSpPr>
          <p:cNvPr id="4" name="Title 3">
            <a:extLst>
              <a:ext uri="{FF2B5EF4-FFF2-40B4-BE49-F238E27FC236}">
                <a16:creationId xmlns:a16="http://schemas.microsoft.com/office/drawing/2014/main" id="{8FDEF6D8-CD09-4B49-9C04-CE5EF2D793F4}"/>
              </a:ext>
            </a:extLst>
          </p:cNvPr>
          <p:cNvSpPr>
            <a:spLocks noGrp="1"/>
          </p:cNvSpPr>
          <p:nvPr>
            <p:ph type="title"/>
          </p:nvPr>
        </p:nvSpPr>
        <p:spPr/>
        <p:txBody>
          <a:bodyPr/>
          <a:lstStyle/>
          <a:p>
            <a:r>
              <a:rPr lang="en-US" dirty="0"/>
              <a:t>Search and Reporting App</a:t>
            </a:r>
          </a:p>
        </p:txBody>
      </p:sp>
    </p:spTree>
    <p:extLst>
      <p:ext uri="{BB962C8B-B14F-4D97-AF65-F5344CB8AC3E}">
        <p14:creationId xmlns:p14="http://schemas.microsoft.com/office/powerpoint/2010/main" val="495224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09E62-2021-994A-A626-73F82C4C6FE6}"/>
              </a:ext>
            </a:extLst>
          </p:cNvPr>
          <p:cNvSpPr>
            <a:spLocks noGrp="1"/>
          </p:cNvSpPr>
          <p:nvPr>
            <p:ph type="ctrTitle"/>
          </p:nvPr>
        </p:nvSpPr>
        <p:spPr/>
        <p:txBody>
          <a:bodyPr/>
          <a:lstStyle/>
          <a:p>
            <a:r>
              <a:rPr lang="en-US" dirty="0"/>
              <a:t>The Anatomy of a Search</a:t>
            </a:r>
          </a:p>
        </p:txBody>
      </p:sp>
    </p:spTree>
    <p:extLst>
      <p:ext uri="{BB962C8B-B14F-4D97-AF65-F5344CB8AC3E}">
        <p14:creationId xmlns:p14="http://schemas.microsoft.com/office/powerpoint/2010/main" val="142398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574B880-A2F7-704B-B6E8-534B4E78DC25}"/>
              </a:ext>
            </a:extLst>
          </p:cNvPr>
          <p:cNvGrpSpPr/>
          <p:nvPr/>
        </p:nvGrpSpPr>
        <p:grpSpPr>
          <a:xfrm>
            <a:off x="1504710" y="1897727"/>
            <a:ext cx="2384815" cy="2785547"/>
            <a:chOff x="1423687" y="2051613"/>
            <a:chExt cx="2384815" cy="2785547"/>
          </a:xfrm>
        </p:grpSpPr>
        <p:sp>
          <p:nvSpPr>
            <p:cNvPr id="4" name="Freeform 3">
              <a:extLst>
                <a:ext uri="{FF2B5EF4-FFF2-40B4-BE49-F238E27FC236}">
                  <a16:creationId xmlns:a16="http://schemas.microsoft.com/office/drawing/2014/main" id="{266D56CA-C526-084C-82D3-289DB2523029}"/>
                </a:ext>
              </a:extLst>
            </p:cNvPr>
            <p:cNvSpPr/>
            <p:nvPr/>
          </p:nvSpPr>
          <p:spPr>
            <a:xfrm>
              <a:off x="1629187" y="2051613"/>
              <a:ext cx="2179315" cy="2129742"/>
            </a:xfrm>
            <a:custGeom>
              <a:avLst/>
              <a:gdLst>
                <a:gd name="connsiteX0" fmla="*/ 708900 w 2179315"/>
                <a:gd name="connsiteY0" fmla="*/ 578734 h 2129742"/>
                <a:gd name="connsiteX1" fmla="*/ 708900 w 2179315"/>
                <a:gd name="connsiteY1" fmla="*/ 266217 h 2129742"/>
                <a:gd name="connsiteX2" fmla="*/ 732050 w 2179315"/>
                <a:gd name="connsiteY2" fmla="*/ 231493 h 2129742"/>
                <a:gd name="connsiteX3" fmla="*/ 755199 w 2179315"/>
                <a:gd name="connsiteY3" fmla="*/ 185195 h 2129742"/>
                <a:gd name="connsiteX4" fmla="*/ 801498 w 2179315"/>
                <a:gd name="connsiteY4" fmla="*/ 127321 h 2129742"/>
                <a:gd name="connsiteX5" fmla="*/ 836222 w 2179315"/>
                <a:gd name="connsiteY5" fmla="*/ 69448 h 2129742"/>
                <a:gd name="connsiteX6" fmla="*/ 882521 w 2179315"/>
                <a:gd name="connsiteY6" fmla="*/ 34724 h 2129742"/>
                <a:gd name="connsiteX7" fmla="*/ 963543 w 2179315"/>
                <a:gd name="connsiteY7" fmla="*/ 0 h 2129742"/>
                <a:gd name="connsiteX8" fmla="*/ 1044566 w 2179315"/>
                <a:gd name="connsiteY8" fmla="*/ 23149 h 2129742"/>
                <a:gd name="connsiteX9" fmla="*/ 1067715 w 2179315"/>
                <a:gd name="connsiteY9" fmla="*/ 138896 h 2129742"/>
                <a:gd name="connsiteX10" fmla="*/ 1102439 w 2179315"/>
                <a:gd name="connsiteY10" fmla="*/ 231493 h 2129742"/>
                <a:gd name="connsiteX11" fmla="*/ 1114014 w 2179315"/>
                <a:gd name="connsiteY11" fmla="*/ 266217 h 2129742"/>
                <a:gd name="connsiteX12" fmla="*/ 1183462 w 2179315"/>
                <a:gd name="connsiteY12" fmla="*/ 300942 h 2129742"/>
                <a:gd name="connsiteX13" fmla="*/ 1252910 w 2179315"/>
                <a:gd name="connsiteY13" fmla="*/ 312516 h 2129742"/>
                <a:gd name="connsiteX14" fmla="*/ 1484404 w 2179315"/>
                <a:gd name="connsiteY14" fmla="*/ 335666 h 2129742"/>
                <a:gd name="connsiteX15" fmla="*/ 1553852 w 2179315"/>
                <a:gd name="connsiteY15" fmla="*/ 358815 h 2129742"/>
                <a:gd name="connsiteX16" fmla="*/ 1577002 w 2179315"/>
                <a:gd name="connsiteY16" fmla="*/ 381964 h 2129742"/>
                <a:gd name="connsiteX17" fmla="*/ 1658024 w 2179315"/>
                <a:gd name="connsiteY17" fmla="*/ 439838 h 2129742"/>
                <a:gd name="connsiteX18" fmla="*/ 1785346 w 2179315"/>
                <a:gd name="connsiteY18" fmla="*/ 544010 h 2129742"/>
                <a:gd name="connsiteX19" fmla="*/ 1889518 w 2179315"/>
                <a:gd name="connsiteY19" fmla="*/ 590309 h 2129742"/>
                <a:gd name="connsiteX20" fmla="*/ 1924242 w 2179315"/>
                <a:gd name="connsiteY20" fmla="*/ 601883 h 2129742"/>
                <a:gd name="connsiteX21" fmla="*/ 1889518 w 2179315"/>
                <a:gd name="connsiteY21" fmla="*/ 636607 h 2129742"/>
                <a:gd name="connsiteX22" fmla="*/ 1854794 w 2179315"/>
                <a:gd name="connsiteY22" fmla="*/ 694481 h 2129742"/>
                <a:gd name="connsiteX23" fmla="*/ 1820070 w 2179315"/>
                <a:gd name="connsiteY23" fmla="*/ 717630 h 2129742"/>
                <a:gd name="connsiteX24" fmla="*/ 1796921 w 2179315"/>
                <a:gd name="connsiteY24" fmla="*/ 740780 h 2129742"/>
                <a:gd name="connsiteX25" fmla="*/ 1762196 w 2179315"/>
                <a:gd name="connsiteY25" fmla="*/ 763929 h 2129742"/>
                <a:gd name="connsiteX26" fmla="*/ 1692748 w 2179315"/>
                <a:gd name="connsiteY26" fmla="*/ 844952 h 2129742"/>
                <a:gd name="connsiteX27" fmla="*/ 1646450 w 2179315"/>
                <a:gd name="connsiteY27" fmla="*/ 879676 h 2129742"/>
                <a:gd name="connsiteX28" fmla="*/ 1577002 w 2179315"/>
                <a:gd name="connsiteY28" fmla="*/ 972273 h 2129742"/>
                <a:gd name="connsiteX29" fmla="*/ 1553852 w 2179315"/>
                <a:gd name="connsiteY29" fmla="*/ 1006997 h 2129742"/>
                <a:gd name="connsiteX30" fmla="*/ 1553852 w 2179315"/>
                <a:gd name="connsiteY30" fmla="*/ 1192192 h 2129742"/>
                <a:gd name="connsiteX31" fmla="*/ 1658024 w 2179315"/>
                <a:gd name="connsiteY31" fmla="*/ 1284790 h 2129742"/>
                <a:gd name="connsiteX32" fmla="*/ 1692748 w 2179315"/>
                <a:gd name="connsiteY32" fmla="*/ 1319514 h 2129742"/>
                <a:gd name="connsiteX33" fmla="*/ 1739047 w 2179315"/>
                <a:gd name="connsiteY33" fmla="*/ 1354238 h 2129742"/>
                <a:gd name="connsiteX34" fmla="*/ 1785346 w 2179315"/>
                <a:gd name="connsiteY34" fmla="*/ 1400536 h 2129742"/>
                <a:gd name="connsiteX35" fmla="*/ 1843219 w 2179315"/>
                <a:gd name="connsiteY35" fmla="*/ 1435261 h 2129742"/>
                <a:gd name="connsiteX36" fmla="*/ 1901093 w 2179315"/>
                <a:gd name="connsiteY36" fmla="*/ 1493134 h 2129742"/>
                <a:gd name="connsiteX37" fmla="*/ 1958966 w 2179315"/>
                <a:gd name="connsiteY37" fmla="*/ 1539433 h 2129742"/>
                <a:gd name="connsiteX38" fmla="*/ 2005265 w 2179315"/>
                <a:gd name="connsiteY38" fmla="*/ 1597306 h 2129742"/>
                <a:gd name="connsiteX39" fmla="*/ 2074713 w 2179315"/>
                <a:gd name="connsiteY39" fmla="*/ 1655180 h 2129742"/>
                <a:gd name="connsiteX40" fmla="*/ 2109437 w 2179315"/>
                <a:gd name="connsiteY40" fmla="*/ 1701478 h 2129742"/>
                <a:gd name="connsiteX41" fmla="*/ 2155736 w 2179315"/>
                <a:gd name="connsiteY41" fmla="*/ 1747777 h 2129742"/>
                <a:gd name="connsiteX42" fmla="*/ 2178885 w 2179315"/>
                <a:gd name="connsiteY42" fmla="*/ 1840374 h 2129742"/>
                <a:gd name="connsiteX43" fmla="*/ 2167310 w 2179315"/>
                <a:gd name="connsiteY43" fmla="*/ 1944547 h 2129742"/>
                <a:gd name="connsiteX44" fmla="*/ 2132586 w 2179315"/>
                <a:gd name="connsiteY44" fmla="*/ 2002420 h 2129742"/>
                <a:gd name="connsiteX45" fmla="*/ 2051564 w 2179315"/>
                <a:gd name="connsiteY45" fmla="*/ 2071868 h 2129742"/>
                <a:gd name="connsiteX46" fmla="*/ 1993690 w 2179315"/>
                <a:gd name="connsiteY46" fmla="*/ 2095017 h 2129742"/>
                <a:gd name="connsiteX47" fmla="*/ 1958966 w 2179315"/>
                <a:gd name="connsiteY47" fmla="*/ 2106592 h 2129742"/>
                <a:gd name="connsiteX48" fmla="*/ 1877943 w 2179315"/>
                <a:gd name="connsiteY48" fmla="*/ 2118167 h 2129742"/>
                <a:gd name="connsiteX49" fmla="*/ 1820070 w 2179315"/>
                <a:gd name="connsiteY49" fmla="*/ 2129742 h 2129742"/>
                <a:gd name="connsiteX50" fmla="*/ 1565427 w 2179315"/>
                <a:gd name="connsiteY50" fmla="*/ 2118167 h 2129742"/>
                <a:gd name="connsiteX51" fmla="*/ 1519128 w 2179315"/>
                <a:gd name="connsiteY51" fmla="*/ 2095017 h 2129742"/>
                <a:gd name="connsiteX52" fmla="*/ 1484404 w 2179315"/>
                <a:gd name="connsiteY52" fmla="*/ 2083443 h 2129742"/>
                <a:gd name="connsiteX53" fmla="*/ 1461255 w 2179315"/>
                <a:gd name="connsiteY53" fmla="*/ 2060293 h 2129742"/>
                <a:gd name="connsiteX54" fmla="*/ 1391807 w 2179315"/>
                <a:gd name="connsiteY54" fmla="*/ 2013995 h 2129742"/>
                <a:gd name="connsiteX55" fmla="*/ 1322358 w 2179315"/>
                <a:gd name="connsiteY55" fmla="*/ 1921397 h 2129742"/>
                <a:gd name="connsiteX56" fmla="*/ 1252910 w 2179315"/>
                <a:gd name="connsiteY56" fmla="*/ 1828800 h 2129742"/>
                <a:gd name="connsiteX57" fmla="*/ 1229761 w 2179315"/>
                <a:gd name="connsiteY57" fmla="*/ 1782501 h 2129742"/>
                <a:gd name="connsiteX58" fmla="*/ 1195037 w 2179315"/>
                <a:gd name="connsiteY58" fmla="*/ 1689904 h 2129742"/>
                <a:gd name="connsiteX59" fmla="*/ 1171888 w 2179315"/>
                <a:gd name="connsiteY59" fmla="*/ 1655180 h 2129742"/>
                <a:gd name="connsiteX60" fmla="*/ 1137164 w 2179315"/>
                <a:gd name="connsiteY60" fmla="*/ 1551007 h 2129742"/>
                <a:gd name="connsiteX61" fmla="*/ 1114014 w 2179315"/>
                <a:gd name="connsiteY61" fmla="*/ 1516283 h 2129742"/>
                <a:gd name="connsiteX62" fmla="*/ 1090865 w 2179315"/>
                <a:gd name="connsiteY62" fmla="*/ 1423686 h 2129742"/>
                <a:gd name="connsiteX63" fmla="*/ 1067715 w 2179315"/>
                <a:gd name="connsiteY63" fmla="*/ 1377387 h 2129742"/>
                <a:gd name="connsiteX64" fmla="*/ 1032991 w 2179315"/>
                <a:gd name="connsiteY64" fmla="*/ 1354238 h 2129742"/>
                <a:gd name="connsiteX65" fmla="*/ 882521 w 2179315"/>
                <a:gd name="connsiteY65" fmla="*/ 1377387 h 2129742"/>
                <a:gd name="connsiteX66" fmla="*/ 789923 w 2179315"/>
                <a:gd name="connsiteY66" fmla="*/ 1446835 h 2129742"/>
                <a:gd name="connsiteX67" fmla="*/ 743624 w 2179315"/>
                <a:gd name="connsiteY67" fmla="*/ 1481559 h 2129742"/>
                <a:gd name="connsiteX68" fmla="*/ 616303 w 2179315"/>
                <a:gd name="connsiteY68" fmla="*/ 1585731 h 2129742"/>
                <a:gd name="connsiteX69" fmla="*/ 593153 w 2179315"/>
                <a:gd name="connsiteY69" fmla="*/ 1620455 h 2129742"/>
                <a:gd name="connsiteX70" fmla="*/ 558429 w 2179315"/>
                <a:gd name="connsiteY70" fmla="*/ 1666754 h 2129742"/>
                <a:gd name="connsiteX71" fmla="*/ 523705 w 2179315"/>
                <a:gd name="connsiteY71" fmla="*/ 1701478 h 2129742"/>
                <a:gd name="connsiteX72" fmla="*/ 454257 w 2179315"/>
                <a:gd name="connsiteY72" fmla="*/ 1805650 h 2129742"/>
                <a:gd name="connsiteX73" fmla="*/ 361660 w 2179315"/>
                <a:gd name="connsiteY73" fmla="*/ 1886673 h 2129742"/>
                <a:gd name="connsiteX74" fmla="*/ 280637 w 2179315"/>
                <a:gd name="connsiteY74" fmla="*/ 1956121 h 2129742"/>
                <a:gd name="connsiteX75" fmla="*/ 222764 w 2179315"/>
                <a:gd name="connsiteY75" fmla="*/ 2002420 h 2129742"/>
                <a:gd name="connsiteX76" fmla="*/ 176465 w 2179315"/>
                <a:gd name="connsiteY76" fmla="*/ 2025569 h 2129742"/>
                <a:gd name="connsiteX77" fmla="*/ 130166 w 2179315"/>
                <a:gd name="connsiteY77" fmla="*/ 2037144 h 2129742"/>
                <a:gd name="connsiteX78" fmla="*/ 95442 w 2179315"/>
                <a:gd name="connsiteY78" fmla="*/ 2048719 h 2129742"/>
                <a:gd name="connsiteX79" fmla="*/ 60718 w 2179315"/>
                <a:gd name="connsiteY79" fmla="*/ 2025569 h 2129742"/>
                <a:gd name="connsiteX80" fmla="*/ 49143 w 2179315"/>
                <a:gd name="connsiteY80" fmla="*/ 1979271 h 2129742"/>
                <a:gd name="connsiteX81" fmla="*/ 25994 w 2179315"/>
                <a:gd name="connsiteY81" fmla="*/ 1921397 h 2129742"/>
                <a:gd name="connsiteX82" fmla="*/ 14419 w 2179315"/>
                <a:gd name="connsiteY82" fmla="*/ 1886673 h 2129742"/>
                <a:gd name="connsiteX83" fmla="*/ 14419 w 2179315"/>
                <a:gd name="connsiteY83" fmla="*/ 1493134 h 2129742"/>
                <a:gd name="connsiteX84" fmla="*/ 49143 w 2179315"/>
                <a:gd name="connsiteY84" fmla="*/ 1365812 h 2129742"/>
                <a:gd name="connsiteX85" fmla="*/ 72293 w 2179315"/>
                <a:gd name="connsiteY85" fmla="*/ 1342663 h 2129742"/>
                <a:gd name="connsiteX86" fmla="*/ 153315 w 2179315"/>
                <a:gd name="connsiteY86" fmla="*/ 1238491 h 2129742"/>
                <a:gd name="connsiteX87" fmla="*/ 222764 w 2179315"/>
                <a:gd name="connsiteY87" fmla="*/ 1180617 h 2129742"/>
                <a:gd name="connsiteX88" fmla="*/ 280637 w 2179315"/>
                <a:gd name="connsiteY88" fmla="*/ 1064871 h 2129742"/>
                <a:gd name="connsiteX89" fmla="*/ 257488 w 2179315"/>
                <a:gd name="connsiteY89" fmla="*/ 914400 h 2129742"/>
                <a:gd name="connsiteX90" fmla="*/ 234338 w 2179315"/>
                <a:gd name="connsiteY90" fmla="*/ 879676 h 2129742"/>
                <a:gd name="connsiteX91" fmla="*/ 211189 w 2179315"/>
                <a:gd name="connsiteY91" fmla="*/ 856526 h 2129742"/>
                <a:gd name="connsiteX92" fmla="*/ 245913 w 2179315"/>
                <a:gd name="connsiteY92" fmla="*/ 798653 h 2129742"/>
                <a:gd name="connsiteX93" fmla="*/ 280637 w 2179315"/>
                <a:gd name="connsiteY93" fmla="*/ 821802 h 2129742"/>
                <a:gd name="connsiteX94" fmla="*/ 303786 w 2179315"/>
                <a:gd name="connsiteY94" fmla="*/ 856526 h 2129742"/>
                <a:gd name="connsiteX95" fmla="*/ 350085 w 2179315"/>
                <a:gd name="connsiteY95" fmla="*/ 914400 h 2129742"/>
                <a:gd name="connsiteX96" fmla="*/ 373234 w 2179315"/>
                <a:gd name="connsiteY96" fmla="*/ 891250 h 2129742"/>
                <a:gd name="connsiteX97" fmla="*/ 338510 w 2179315"/>
                <a:gd name="connsiteY97" fmla="*/ 821802 h 2129742"/>
                <a:gd name="connsiteX98" fmla="*/ 350085 w 2179315"/>
                <a:gd name="connsiteY98" fmla="*/ 740780 h 2129742"/>
                <a:gd name="connsiteX99" fmla="*/ 396384 w 2179315"/>
                <a:gd name="connsiteY99" fmla="*/ 752354 h 2129742"/>
                <a:gd name="connsiteX100" fmla="*/ 384809 w 2179315"/>
                <a:gd name="connsiteY100" fmla="*/ 682906 h 2129742"/>
                <a:gd name="connsiteX101" fmla="*/ 419533 w 2179315"/>
                <a:gd name="connsiteY101" fmla="*/ 671331 h 2129742"/>
                <a:gd name="connsiteX102" fmla="*/ 512131 w 2179315"/>
                <a:gd name="connsiteY102" fmla="*/ 740780 h 2129742"/>
                <a:gd name="connsiteX103" fmla="*/ 535280 w 2179315"/>
                <a:gd name="connsiteY103" fmla="*/ 775504 h 2129742"/>
                <a:gd name="connsiteX104" fmla="*/ 570004 w 2179315"/>
                <a:gd name="connsiteY104" fmla="*/ 798653 h 2129742"/>
                <a:gd name="connsiteX105" fmla="*/ 627877 w 2179315"/>
                <a:gd name="connsiteY105" fmla="*/ 787078 h 2129742"/>
                <a:gd name="connsiteX106" fmla="*/ 639452 w 2179315"/>
                <a:gd name="connsiteY106" fmla="*/ 717630 h 2129742"/>
                <a:gd name="connsiteX107" fmla="*/ 662602 w 2179315"/>
                <a:gd name="connsiteY107" fmla="*/ 694481 h 2129742"/>
                <a:gd name="connsiteX108" fmla="*/ 674176 w 2179315"/>
                <a:gd name="connsiteY108" fmla="*/ 659757 h 2129742"/>
                <a:gd name="connsiteX109" fmla="*/ 662602 w 2179315"/>
                <a:gd name="connsiteY109" fmla="*/ 601883 h 2129742"/>
                <a:gd name="connsiteX110" fmla="*/ 708900 w 2179315"/>
                <a:gd name="connsiteY110" fmla="*/ 578734 h 2129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179315" h="2129742">
                  <a:moveTo>
                    <a:pt x="708900" y="578734"/>
                  </a:moveTo>
                  <a:cubicBezTo>
                    <a:pt x="716616" y="522790"/>
                    <a:pt x="685085" y="448801"/>
                    <a:pt x="708900" y="266217"/>
                  </a:cubicBezTo>
                  <a:cubicBezTo>
                    <a:pt x="710699" y="252423"/>
                    <a:pt x="725148" y="243571"/>
                    <a:pt x="732050" y="231493"/>
                  </a:cubicBezTo>
                  <a:cubicBezTo>
                    <a:pt x="740611" y="216512"/>
                    <a:pt x="746639" y="200176"/>
                    <a:pt x="755199" y="185195"/>
                  </a:cubicBezTo>
                  <a:cubicBezTo>
                    <a:pt x="811596" y="86500"/>
                    <a:pt x="747178" y="203369"/>
                    <a:pt x="801498" y="127321"/>
                  </a:cubicBezTo>
                  <a:cubicBezTo>
                    <a:pt x="814574" y="109014"/>
                    <a:pt x="821408" y="86379"/>
                    <a:pt x="836222" y="69448"/>
                  </a:cubicBezTo>
                  <a:cubicBezTo>
                    <a:pt x="848925" y="54930"/>
                    <a:pt x="866162" y="44948"/>
                    <a:pt x="882521" y="34724"/>
                  </a:cubicBezTo>
                  <a:cubicBezTo>
                    <a:pt x="915218" y="14288"/>
                    <a:pt x="929784" y="11252"/>
                    <a:pt x="963543" y="0"/>
                  </a:cubicBezTo>
                  <a:cubicBezTo>
                    <a:pt x="990551" y="7716"/>
                    <a:pt x="1027713" y="678"/>
                    <a:pt x="1044566" y="23149"/>
                  </a:cubicBezTo>
                  <a:cubicBezTo>
                    <a:pt x="1068174" y="54626"/>
                    <a:pt x="1059999" y="100314"/>
                    <a:pt x="1067715" y="138896"/>
                  </a:cubicBezTo>
                  <a:cubicBezTo>
                    <a:pt x="1090045" y="250548"/>
                    <a:pt x="1062701" y="152018"/>
                    <a:pt x="1102439" y="231493"/>
                  </a:cubicBezTo>
                  <a:cubicBezTo>
                    <a:pt x="1107895" y="242406"/>
                    <a:pt x="1106392" y="256690"/>
                    <a:pt x="1114014" y="266217"/>
                  </a:cubicBezTo>
                  <a:cubicBezTo>
                    <a:pt x="1127513" y="283091"/>
                    <a:pt x="1163060" y="296408"/>
                    <a:pt x="1183462" y="300942"/>
                  </a:cubicBezTo>
                  <a:cubicBezTo>
                    <a:pt x="1206372" y="306033"/>
                    <a:pt x="1229714" y="308947"/>
                    <a:pt x="1252910" y="312516"/>
                  </a:cubicBezTo>
                  <a:cubicBezTo>
                    <a:pt x="1365053" y="329768"/>
                    <a:pt x="1341175" y="324648"/>
                    <a:pt x="1484404" y="335666"/>
                  </a:cubicBezTo>
                  <a:cubicBezTo>
                    <a:pt x="1507553" y="343382"/>
                    <a:pt x="1536597" y="341561"/>
                    <a:pt x="1553852" y="358815"/>
                  </a:cubicBezTo>
                  <a:cubicBezTo>
                    <a:pt x="1561569" y="366531"/>
                    <a:pt x="1568481" y="375147"/>
                    <a:pt x="1577002" y="381964"/>
                  </a:cubicBezTo>
                  <a:cubicBezTo>
                    <a:pt x="1639227" y="431744"/>
                    <a:pt x="1584719" y="374679"/>
                    <a:pt x="1658024" y="439838"/>
                  </a:cubicBezTo>
                  <a:cubicBezTo>
                    <a:pt x="1774339" y="543229"/>
                    <a:pt x="1653663" y="456221"/>
                    <a:pt x="1785346" y="544010"/>
                  </a:cubicBezTo>
                  <a:cubicBezTo>
                    <a:pt x="1840371" y="580693"/>
                    <a:pt x="1806878" y="562762"/>
                    <a:pt x="1889518" y="590309"/>
                  </a:cubicBezTo>
                  <a:lnTo>
                    <a:pt x="1924242" y="601883"/>
                  </a:lnTo>
                  <a:cubicBezTo>
                    <a:pt x="1912667" y="613458"/>
                    <a:pt x="1899339" y="623512"/>
                    <a:pt x="1889518" y="636607"/>
                  </a:cubicBezTo>
                  <a:cubicBezTo>
                    <a:pt x="1876020" y="654605"/>
                    <a:pt x="1869435" y="677400"/>
                    <a:pt x="1854794" y="694481"/>
                  </a:cubicBezTo>
                  <a:cubicBezTo>
                    <a:pt x="1845741" y="705043"/>
                    <a:pt x="1830933" y="708940"/>
                    <a:pt x="1820070" y="717630"/>
                  </a:cubicBezTo>
                  <a:cubicBezTo>
                    <a:pt x="1811549" y="724447"/>
                    <a:pt x="1805442" y="733963"/>
                    <a:pt x="1796921" y="740780"/>
                  </a:cubicBezTo>
                  <a:cubicBezTo>
                    <a:pt x="1786058" y="749470"/>
                    <a:pt x="1772883" y="755023"/>
                    <a:pt x="1762196" y="763929"/>
                  </a:cubicBezTo>
                  <a:cubicBezTo>
                    <a:pt x="1686611" y="826916"/>
                    <a:pt x="1769373" y="768326"/>
                    <a:pt x="1692748" y="844952"/>
                  </a:cubicBezTo>
                  <a:cubicBezTo>
                    <a:pt x="1679107" y="858593"/>
                    <a:pt x="1661270" y="867326"/>
                    <a:pt x="1646450" y="879676"/>
                  </a:cubicBezTo>
                  <a:cubicBezTo>
                    <a:pt x="1614329" y="906443"/>
                    <a:pt x="1602067" y="934675"/>
                    <a:pt x="1577002" y="972273"/>
                  </a:cubicBezTo>
                  <a:lnTo>
                    <a:pt x="1553852" y="1006997"/>
                  </a:lnTo>
                  <a:cubicBezTo>
                    <a:pt x="1537344" y="1073027"/>
                    <a:pt x="1522453" y="1111452"/>
                    <a:pt x="1553852" y="1192192"/>
                  </a:cubicBezTo>
                  <a:cubicBezTo>
                    <a:pt x="1575437" y="1247695"/>
                    <a:pt x="1620578" y="1253585"/>
                    <a:pt x="1658024" y="1284790"/>
                  </a:cubicBezTo>
                  <a:cubicBezTo>
                    <a:pt x="1670599" y="1295269"/>
                    <a:pt x="1680320" y="1308861"/>
                    <a:pt x="1692748" y="1319514"/>
                  </a:cubicBezTo>
                  <a:cubicBezTo>
                    <a:pt x="1707395" y="1332069"/>
                    <a:pt x="1724529" y="1341535"/>
                    <a:pt x="1739047" y="1354238"/>
                  </a:cubicBezTo>
                  <a:cubicBezTo>
                    <a:pt x="1755472" y="1368610"/>
                    <a:pt x="1768118" y="1387137"/>
                    <a:pt x="1785346" y="1400536"/>
                  </a:cubicBezTo>
                  <a:cubicBezTo>
                    <a:pt x="1803104" y="1414348"/>
                    <a:pt x="1825652" y="1421207"/>
                    <a:pt x="1843219" y="1435261"/>
                  </a:cubicBezTo>
                  <a:cubicBezTo>
                    <a:pt x="1864522" y="1452304"/>
                    <a:pt x="1880815" y="1474883"/>
                    <a:pt x="1901093" y="1493134"/>
                  </a:cubicBezTo>
                  <a:cubicBezTo>
                    <a:pt x="1919456" y="1509661"/>
                    <a:pt x="1941497" y="1521964"/>
                    <a:pt x="1958966" y="1539433"/>
                  </a:cubicBezTo>
                  <a:cubicBezTo>
                    <a:pt x="1976435" y="1556902"/>
                    <a:pt x="1987796" y="1579837"/>
                    <a:pt x="2005265" y="1597306"/>
                  </a:cubicBezTo>
                  <a:cubicBezTo>
                    <a:pt x="2064055" y="1656096"/>
                    <a:pt x="2035796" y="1608479"/>
                    <a:pt x="2074713" y="1655180"/>
                  </a:cubicBezTo>
                  <a:cubicBezTo>
                    <a:pt x="2087063" y="1670000"/>
                    <a:pt x="2096734" y="1686960"/>
                    <a:pt x="2109437" y="1701478"/>
                  </a:cubicBezTo>
                  <a:cubicBezTo>
                    <a:pt x="2123809" y="1717903"/>
                    <a:pt x="2155736" y="1747777"/>
                    <a:pt x="2155736" y="1747777"/>
                  </a:cubicBezTo>
                  <a:cubicBezTo>
                    <a:pt x="2163452" y="1778643"/>
                    <a:pt x="2182399" y="1808753"/>
                    <a:pt x="2178885" y="1840374"/>
                  </a:cubicBezTo>
                  <a:cubicBezTo>
                    <a:pt x="2175027" y="1875098"/>
                    <a:pt x="2176908" y="1910953"/>
                    <a:pt x="2167310" y="1944547"/>
                  </a:cubicBezTo>
                  <a:cubicBezTo>
                    <a:pt x="2161130" y="1966178"/>
                    <a:pt x="2146398" y="1984662"/>
                    <a:pt x="2132586" y="2002420"/>
                  </a:cubicBezTo>
                  <a:cubicBezTo>
                    <a:pt x="2114462" y="2025722"/>
                    <a:pt x="2080221" y="2057540"/>
                    <a:pt x="2051564" y="2071868"/>
                  </a:cubicBezTo>
                  <a:cubicBezTo>
                    <a:pt x="2032980" y="2081160"/>
                    <a:pt x="2013144" y="2087722"/>
                    <a:pt x="1993690" y="2095017"/>
                  </a:cubicBezTo>
                  <a:cubicBezTo>
                    <a:pt x="1982266" y="2099301"/>
                    <a:pt x="1970930" y="2104199"/>
                    <a:pt x="1958966" y="2106592"/>
                  </a:cubicBezTo>
                  <a:cubicBezTo>
                    <a:pt x="1932214" y="2111943"/>
                    <a:pt x="1904854" y="2113682"/>
                    <a:pt x="1877943" y="2118167"/>
                  </a:cubicBezTo>
                  <a:cubicBezTo>
                    <a:pt x="1858538" y="2121401"/>
                    <a:pt x="1839361" y="2125884"/>
                    <a:pt x="1820070" y="2129742"/>
                  </a:cubicBezTo>
                  <a:cubicBezTo>
                    <a:pt x="1735189" y="2125884"/>
                    <a:pt x="1649836" y="2127907"/>
                    <a:pt x="1565427" y="2118167"/>
                  </a:cubicBezTo>
                  <a:cubicBezTo>
                    <a:pt x="1548286" y="2116189"/>
                    <a:pt x="1534988" y="2101814"/>
                    <a:pt x="1519128" y="2095017"/>
                  </a:cubicBezTo>
                  <a:cubicBezTo>
                    <a:pt x="1507914" y="2090211"/>
                    <a:pt x="1495979" y="2087301"/>
                    <a:pt x="1484404" y="2083443"/>
                  </a:cubicBezTo>
                  <a:cubicBezTo>
                    <a:pt x="1476688" y="2075726"/>
                    <a:pt x="1469985" y="2066841"/>
                    <a:pt x="1461255" y="2060293"/>
                  </a:cubicBezTo>
                  <a:cubicBezTo>
                    <a:pt x="1438997" y="2043600"/>
                    <a:pt x="1411480" y="2033668"/>
                    <a:pt x="1391807" y="2013995"/>
                  </a:cubicBezTo>
                  <a:cubicBezTo>
                    <a:pt x="1343850" y="1966038"/>
                    <a:pt x="1387798" y="2013013"/>
                    <a:pt x="1322358" y="1921397"/>
                  </a:cubicBezTo>
                  <a:cubicBezTo>
                    <a:pt x="1299933" y="1890001"/>
                    <a:pt x="1270164" y="1863309"/>
                    <a:pt x="1252910" y="1828800"/>
                  </a:cubicBezTo>
                  <a:cubicBezTo>
                    <a:pt x="1245194" y="1813367"/>
                    <a:pt x="1236397" y="1798428"/>
                    <a:pt x="1229761" y="1782501"/>
                  </a:cubicBezTo>
                  <a:cubicBezTo>
                    <a:pt x="1217082" y="1752072"/>
                    <a:pt x="1208678" y="1719914"/>
                    <a:pt x="1195037" y="1689904"/>
                  </a:cubicBezTo>
                  <a:cubicBezTo>
                    <a:pt x="1189281" y="1677240"/>
                    <a:pt x="1179604" y="1666755"/>
                    <a:pt x="1171888" y="1655180"/>
                  </a:cubicBezTo>
                  <a:cubicBezTo>
                    <a:pt x="1160836" y="1610975"/>
                    <a:pt x="1158955" y="1594590"/>
                    <a:pt x="1137164" y="1551007"/>
                  </a:cubicBezTo>
                  <a:cubicBezTo>
                    <a:pt x="1130943" y="1538564"/>
                    <a:pt x="1121731" y="1527858"/>
                    <a:pt x="1114014" y="1516283"/>
                  </a:cubicBezTo>
                  <a:cubicBezTo>
                    <a:pt x="1107222" y="1482323"/>
                    <a:pt x="1104210" y="1454824"/>
                    <a:pt x="1090865" y="1423686"/>
                  </a:cubicBezTo>
                  <a:cubicBezTo>
                    <a:pt x="1084068" y="1407826"/>
                    <a:pt x="1078761" y="1390642"/>
                    <a:pt x="1067715" y="1377387"/>
                  </a:cubicBezTo>
                  <a:cubicBezTo>
                    <a:pt x="1058809" y="1366700"/>
                    <a:pt x="1044566" y="1361954"/>
                    <a:pt x="1032991" y="1354238"/>
                  </a:cubicBezTo>
                  <a:cubicBezTo>
                    <a:pt x="982834" y="1361954"/>
                    <a:pt x="929943" y="1359321"/>
                    <a:pt x="882521" y="1377387"/>
                  </a:cubicBezTo>
                  <a:cubicBezTo>
                    <a:pt x="846466" y="1391122"/>
                    <a:pt x="820789" y="1423686"/>
                    <a:pt x="789923" y="1446835"/>
                  </a:cubicBezTo>
                  <a:lnTo>
                    <a:pt x="743624" y="1481559"/>
                  </a:lnTo>
                  <a:cubicBezTo>
                    <a:pt x="698520" y="1515387"/>
                    <a:pt x="657300" y="1544735"/>
                    <a:pt x="616303" y="1585731"/>
                  </a:cubicBezTo>
                  <a:cubicBezTo>
                    <a:pt x="606466" y="1595568"/>
                    <a:pt x="601239" y="1609135"/>
                    <a:pt x="593153" y="1620455"/>
                  </a:cubicBezTo>
                  <a:cubicBezTo>
                    <a:pt x="581940" y="1636153"/>
                    <a:pt x="570984" y="1652107"/>
                    <a:pt x="558429" y="1666754"/>
                  </a:cubicBezTo>
                  <a:cubicBezTo>
                    <a:pt x="547776" y="1679182"/>
                    <a:pt x="533526" y="1688383"/>
                    <a:pt x="523705" y="1701478"/>
                  </a:cubicBezTo>
                  <a:cubicBezTo>
                    <a:pt x="498665" y="1734864"/>
                    <a:pt x="483766" y="1776140"/>
                    <a:pt x="454257" y="1805650"/>
                  </a:cubicBezTo>
                  <a:cubicBezTo>
                    <a:pt x="386548" y="1873361"/>
                    <a:pt x="419084" y="1848391"/>
                    <a:pt x="361660" y="1886673"/>
                  </a:cubicBezTo>
                  <a:cubicBezTo>
                    <a:pt x="319751" y="1949534"/>
                    <a:pt x="360593" y="1899008"/>
                    <a:pt x="280637" y="1956121"/>
                  </a:cubicBezTo>
                  <a:cubicBezTo>
                    <a:pt x="204591" y="2010441"/>
                    <a:pt x="321460" y="1946024"/>
                    <a:pt x="222764" y="2002420"/>
                  </a:cubicBezTo>
                  <a:cubicBezTo>
                    <a:pt x="207783" y="2010981"/>
                    <a:pt x="192621" y="2019511"/>
                    <a:pt x="176465" y="2025569"/>
                  </a:cubicBezTo>
                  <a:cubicBezTo>
                    <a:pt x="161570" y="2031155"/>
                    <a:pt x="145462" y="2032774"/>
                    <a:pt x="130166" y="2037144"/>
                  </a:cubicBezTo>
                  <a:cubicBezTo>
                    <a:pt x="118435" y="2040496"/>
                    <a:pt x="107017" y="2044861"/>
                    <a:pt x="95442" y="2048719"/>
                  </a:cubicBezTo>
                  <a:cubicBezTo>
                    <a:pt x="83867" y="2041002"/>
                    <a:pt x="68435" y="2037144"/>
                    <a:pt x="60718" y="2025569"/>
                  </a:cubicBezTo>
                  <a:cubicBezTo>
                    <a:pt x="51894" y="2012333"/>
                    <a:pt x="54173" y="1994362"/>
                    <a:pt x="49143" y="1979271"/>
                  </a:cubicBezTo>
                  <a:cubicBezTo>
                    <a:pt x="42573" y="1959560"/>
                    <a:pt x="33289" y="1940851"/>
                    <a:pt x="25994" y="1921397"/>
                  </a:cubicBezTo>
                  <a:cubicBezTo>
                    <a:pt x="21710" y="1909973"/>
                    <a:pt x="18277" y="1898248"/>
                    <a:pt x="14419" y="1886673"/>
                  </a:cubicBezTo>
                  <a:cubicBezTo>
                    <a:pt x="-5994" y="1702943"/>
                    <a:pt x="-3581" y="1772140"/>
                    <a:pt x="14419" y="1493134"/>
                  </a:cubicBezTo>
                  <a:cubicBezTo>
                    <a:pt x="17089" y="1451750"/>
                    <a:pt x="28186" y="1402486"/>
                    <a:pt x="49143" y="1365812"/>
                  </a:cubicBezTo>
                  <a:cubicBezTo>
                    <a:pt x="54557" y="1356337"/>
                    <a:pt x="64576" y="1350379"/>
                    <a:pt x="72293" y="1342663"/>
                  </a:cubicBezTo>
                  <a:cubicBezTo>
                    <a:pt x="94219" y="1276881"/>
                    <a:pt x="75240" y="1316566"/>
                    <a:pt x="153315" y="1238491"/>
                  </a:cubicBezTo>
                  <a:cubicBezTo>
                    <a:pt x="197876" y="1193930"/>
                    <a:pt x="174419" y="1212847"/>
                    <a:pt x="222764" y="1180617"/>
                  </a:cubicBezTo>
                  <a:cubicBezTo>
                    <a:pt x="277886" y="1097933"/>
                    <a:pt x="262314" y="1138160"/>
                    <a:pt x="280637" y="1064871"/>
                  </a:cubicBezTo>
                  <a:cubicBezTo>
                    <a:pt x="277319" y="1031688"/>
                    <a:pt x="278343" y="956110"/>
                    <a:pt x="257488" y="914400"/>
                  </a:cubicBezTo>
                  <a:cubicBezTo>
                    <a:pt x="251267" y="901957"/>
                    <a:pt x="243028" y="890539"/>
                    <a:pt x="234338" y="879676"/>
                  </a:cubicBezTo>
                  <a:cubicBezTo>
                    <a:pt x="227521" y="871155"/>
                    <a:pt x="218905" y="864243"/>
                    <a:pt x="211189" y="856526"/>
                  </a:cubicBezTo>
                  <a:cubicBezTo>
                    <a:pt x="181818" y="768414"/>
                    <a:pt x="164111" y="782292"/>
                    <a:pt x="245913" y="798653"/>
                  </a:cubicBezTo>
                  <a:cubicBezTo>
                    <a:pt x="257488" y="806369"/>
                    <a:pt x="270800" y="811965"/>
                    <a:pt x="280637" y="821802"/>
                  </a:cubicBezTo>
                  <a:cubicBezTo>
                    <a:pt x="290474" y="831639"/>
                    <a:pt x="295096" y="845663"/>
                    <a:pt x="303786" y="856526"/>
                  </a:cubicBezTo>
                  <a:cubicBezTo>
                    <a:pt x="369758" y="938991"/>
                    <a:pt x="278836" y="807525"/>
                    <a:pt x="350085" y="914400"/>
                  </a:cubicBezTo>
                  <a:cubicBezTo>
                    <a:pt x="357801" y="906683"/>
                    <a:pt x="371094" y="901951"/>
                    <a:pt x="373234" y="891250"/>
                  </a:cubicBezTo>
                  <a:cubicBezTo>
                    <a:pt x="376921" y="872817"/>
                    <a:pt x="346012" y="833055"/>
                    <a:pt x="338510" y="821802"/>
                  </a:cubicBezTo>
                  <a:cubicBezTo>
                    <a:pt x="311503" y="740779"/>
                    <a:pt x="292212" y="760070"/>
                    <a:pt x="350085" y="740780"/>
                  </a:cubicBezTo>
                  <a:cubicBezTo>
                    <a:pt x="365518" y="744638"/>
                    <a:pt x="381614" y="758262"/>
                    <a:pt x="396384" y="752354"/>
                  </a:cubicBezTo>
                  <a:cubicBezTo>
                    <a:pt x="434215" y="737221"/>
                    <a:pt x="389803" y="690397"/>
                    <a:pt x="384809" y="682906"/>
                  </a:cubicBezTo>
                  <a:cubicBezTo>
                    <a:pt x="396384" y="679048"/>
                    <a:pt x="407958" y="667473"/>
                    <a:pt x="419533" y="671331"/>
                  </a:cubicBezTo>
                  <a:cubicBezTo>
                    <a:pt x="439730" y="678063"/>
                    <a:pt x="492188" y="715851"/>
                    <a:pt x="512131" y="740780"/>
                  </a:cubicBezTo>
                  <a:cubicBezTo>
                    <a:pt x="520821" y="751643"/>
                    <a:pt x="525443" y="765667"/>
                    <a:pt x="535280" y="775504"/>
                  </a:cubicBezTo>
                  <a:cubicBezTo>
                    <a:pt x="545117" y="785341"/>
                    <a:pt x="558429" y="790937"/>
                    <a:pt x="570004" y="798653"/>
                  </a:cubicBezTo>
                  <a:cubicBezTo>
                    <a:pt x="589295" y="794795"/>
                    <a:pt x="615074" y="802015"/>
                    <a:pt x="627877" y="787078"/>
                  </a:cubicBezTo>
                  <a:cubicBezTo>
                    <a:pt x="643150" y="769259"/>
                    <a:pt x="631211" y="739604"/>
                    <a:pt x="639452" y="717630"/>
                  </a:cubicBezTo>
                  <a:cubicBezTo>
                    <a:pt x="643284" y="707412"/>
                    <a:pt x="654885" y="702197"/>
                    <a:pt x="662602" y="694481"/>
                  </a:cubicBezTo>
                  <a:cubicBezTo>
                    <a:pt x="666460" y="682906"/>
                    <a:pt x="674176" y="671958"/>
                    <a:pt x="674176" y="659757"/>
                  </a:cubicBezTo>
                  <a:cubicBezTo>
                    <a:pt x="674176" y="640084"/>
                    <a:pt x="665836" y="621289"/>
                    <a:pt x="662602" y="601883"/>
                  </a:cubicBezTo>
                  <a:cubicBezTo>
                    <a:pt x="661968" y="598077"/>
                    <a:pt x="701184" y="634678"/>
                    <a:pt x="708900" y="578734"/>
                  </a:cubicBezTo>
                  <a:close/>
                </a:path>
              </a:pathLst>
            </a:cu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DAC74D6-F04F-5248-AA01-C60C361CBE77}"/>
                </a:ext>
              </a:extLst>
            </p:cNvPr>
            <p:cNvSpPr txBox="1"/>
            <p:nvPr/>
          </p:nvSpPr>
          <p:spPr>
            <a:xfrm>
              <a:off x="1423687" y="4467828"/>
              <a:ext cx="201850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Big glob of events</a:t>
              </a:r>
            </a:p>
          </p:txBody>
        </p:sp>
      </p:grpSp>
      <p:grpSp>
        <p:nvGrpSpPr>
          <p:cNvPr id="13" name="Group 12">
            <a:extLst>
              <a:ext uri="{FF2B5EF4-FFF2-40B4-BE49-F238E27FC236}">
                <a16:creationId xmlns:a16="http://schemas.microsoft.com/office/drawing/2014/main" id="{ED7FF79F-94B9-DE48-86E5-AE58194ADFA3}"/>
              </a:ext>
            </a:extLst>
          </p:cNvPr>
          <p:cNvGrpSpPr/>
          <p:nvPr/>
        </p:nvGrpSpPr>
        <p:grpSpPr>
          <a:xfrm>
            <a:off x="4673427" y="2299947"/>
            <a:ext cx="2967479" cy="2383327"/>
            <a:chOff x="4592404" y="2453833"/>
            <a:chExt cx="2967479" cy="2383327"/>
          </a:xfrm>
        </p:grpSpPr>
        <p:sp>
          <p:nvSpPr>
            <p:cNvPr id="7" name="Freeform 6">
              <a:extLst>
                <a:ext uri="{FF2B5EF4-FFF2-40B4-BE49-F238E27FC236}">
                  <a16:creationId xmlns:a16="http://schemas.microsoft.com/office/drawing/2014/main" id="{576C50E2-6BE4-684D-AB1C-521401967F9D}"/>
                </a:ext>
              </a:extLst>
            </p:cNvPr>
            <p:cNvSpPr/>
            <p:nvPr/>
          </p:nvSpPr>
          <p:spPr>
            <a:xfrm>
              <a:off x="5239475" y="2453833"/>
              <a:ext cx="1412111" cy="1481560"/>
            </a:xfrm>
            <a:custGeom>
              <a:avLst/>
              <a:gdLst>
                <a:gd name="connsiteX0" fmla="*/ 243068 w 1412111"/>
                <a:gd name="connsiteY0" fmla="*/ 972274 h 1481560"/>
                <a:gd name="connsiteX1" fmla="*/ 173620 w 1412111"/>
                <a:gd name="connsiteY1" fmla="*/ 891251 h 1481560"/>
                <a:gd name="connsiteX2" fmla="*/ 150470 w 1412111"/>
                <a:gd name="connsiteY2" fmla="*/ 844952 h 1481560"/>
                <a:gd name="connsiteX3" fmla="*/ 127321 w 1412111"/>
                <a:gd name="connsiteY3" fmla="*/ 810228 h 1481560"/>
                <a:gd name="connsiteX4" fmla="*/ 81022 w 1412111"/>
                <a:gd name="connsiteY4" fmla="*/ 717631 h 1481560"/>
                <a:gd name="connsiteX5" fmla="*/ 57873 w 1412111"/>
                <a:gd name="connsiteY5" fmla="*/ 682907 h 1481560"/>
                <a:gd name="connsiteX6" fmla="*/ 34724 w 1412111"/>
                <a:gd name="connsiteY6" fmla="*/ 613459 h 1481560"/>
                <a:gd name="connsiteX7" fmla="*/ 11574 w 1412111"/>
                <a:gd name="connsiteY7" fmla="*/ 544010 h 1481560"/>
                <a:gd name="connsiteX8" fmla="*/ 0 w 1412111"/>
                <a:gd name="connsiteY8" fmla="*/ 497712 h 1481560"/>
                <a:gd name="connsiteX9" fmla="*/ 11574 w 1412111"/>
                <a:gd name="connsiteY9" fmla="*/ 300942 h 1481560"/>
                <a:gd name="connsiteX10" fmla="*/ 34724 w 1412111"/>
                <a:gd name="connsiteY10" fmla="*/ 266218 h 1481560"/>
                <a:gd name="connsiteX11" fmla="*/ 46298 w 1412111"/>
                <a:gd name="connsiteY11" fmla="*/ 231494 h 1481560"/>
                <a:gd name="connsiteX12" fmla="*/ 127321 w 1412111"/>
                <a:gd name="connsiteY12" fmla="*/ 138897 h 1481560"/>
                <a:gd name="connsiteX13" fmla="*/ 138896 w 1412111"/>
                <a:gd name="connsiteY13" fmla="*/ 104173 h 1481560"/>
                <a:gd name="connsiteX14" fmla="*/ 196769 w 1412111"/>
                <a:gd name="connsiteY14" fmla="*/ 46299 h 1481560"/>
                <a:gd name="connsiteX15" fmla="*/ 266217 w 1412111"/>
                <a:gd name="connsiteY15" fmla="*/ 23150 h 1481560"/>
                <a:gd name="connsiteX16" fmla="*/ 300941 w 1412111"/>
                <a:gd name="connsiteY16" fmla="*/ 11575 h 1481560"/>
                <a:gd name="connsiteX17" fmla="*/ 370389 w 1412111"/>
                <a:gd name="connsiteY17" fmla="*/ 0 h 1481560"/>
                <a:gd name="connsiteX18" fmla="*/ 567159 w 1412111"/>
                <a:gd name="connsiteY18" fmla="*/ 11575 h 1481560"/>
                <a:gd name="connsiteX19" fmla="*/ 636607 w 1412111"/>
                <a:gd name="connsiteY19" fmla="*/ 34724 h 1481560"/>
                <a:gd name="connsiteX20" fmla="*/ 659756 w 1412111"/>
                <a:gd name="connsiteY20" fmla="*/ 57874 h 1481560"/>
                <a:gd name="connsiteX21" fmla="*/ 671331 w 1412111"/>
                <a:gd name="connsiteY21" fmla="*/ 92598 h 1481560"/>
                <a:gd name="connsiteX22" fmla="*/ 740779 w 1412111"/>
                <a:gd name="connsiteY22" fmla="*/ 127322 h 1481560"/>
                <a:gd name="connsiteX23" fmla="*/ 763929 w 1412111"/>
                <a:gd name="connsiteY23" fmla="*/ 150471 h 1481560"/>
                <a:gd name="connsiteX24" fmla="*/ 833377 w 1412111"/>
                <a:gd name="connsiteY24" fmla="*/ 173621 h 1481560"/>
                <a:gd name="connsiteX25" fmla="*/ 879675 w 1412111"/>
                <a:gd name="connsiteY25" fmla="*/ 208345 h 1481560"/>
                <a:gd name="connsiteX26" fmla="*/ 949124 w 1412111"/>
                <a:gd name="connsiteY26" fmla="*/ 231494 h 1481560"/>
                <a:gd name="connsiteX27" fmla="*/ 1250065 w 1412111"/>
                <a:gd name="connsiteY27" fmla="*/ 254643 h 1481560"/>
                <a:gd name="connsiteX28" fmla="*/ 1296364 w 1412111"/>
                <a:gd name="connsiteY28" fmla="*/ 312517 h 1481560"/>
                <a:gd name="connsiteX29" fmla="*/ 1342663 w 1412111"/>
                <a:gd name="connsiteY29" fmla="*/ 416689 h 1481560"/>
                <a:gd name="connsiteX30" fmla="*/ 1388962 w 1412111"/>
                <a:gd name="connsiteY30" fmla="*/ 555585 h 1481560"/>
                <a:gd name="connsiteX31" fmla="*/ 1400536 w 1412111"/>
                <a:gd name="connsiteY31" fmla="*/ 590309 h 1481560"/>
                <a:gd name="connsiteX32" fmla="*/ 1412111 w 1412111"/>
                <a:gd name="connsiteY32" fmla="*/ 625033 h 1481560"/>
                <a:gd name="connsiteX33" fmla="*/ 1400536 w 1412111"/>
                <a:gd name="connsiteY33" fmla="*/ 763929 h 1481560"/>
                <a:gd name="connsiteX34" fmla="*/ 1365812 w 1412111"/>
                <a:gd name="connsiteY34" fmla="*/ 868102 h 1481560"/>
                <a:gd name="connsiteX35" fmla="*/ 1307939 w 1412111"/>
                <a:gd name="connsiteY35" fmla="*/ 1041722 h 1481560"/>
                <a:gd name="connsiteX36" fmla="*/ 1296364 w 1412111"/>
                <a:gd name="connsiteY36" fmla="*/ 1076446 h 1481560"/>
                <a:gd name="connsiteX37" fmla="*/ 1284789 w 1412111"/>
                <a:gd name="connsiteY37" fmla="*/ 1111170 h 1481560"/>
                <a:gd name="connsiteX38" fmla="*/ 1261640 w 1412111"/>
                <a:gd name="connsiteY38" fmla="*/ 1203767 h 1481560"/>
                <a:gd name="connsiteX39" fmla="*/ 1250065 w 1412111"/>
                <a:gd name="connsiteY39" fmla="*/ 1238492 h 1481560"/>
                <a:gd name="connsiteX40" fmla="*/ 1145893 w 1412111"/>
                <a:gd name="connsiteY40" fmla="*/ 1296365 h 1481560"/>
                <a:gd name="connsiteX41" fmla="*/ 1111169 w 1412111"/>
                <a:gd name="connsiteY41" fmla="*/ 1319514 h 1481560"/>
                <a:gd name="connsiteX42" fmla="*/ 1041721 w 1412111"/>
                <a:gd name="connsiteY42" fmla="*/ 1342664 h 1481560"/>
                <a:gd name="connsiteX43" fmla="*/ 972273 w 1412111"/>
                <a:gd name="connsiteY43" fmla="*/ 1412112 h 1481560"/>
                <a:gd name="connsiteX44" fmla="*/ 925974 w 1412111"/>
                <a:gd name="connsiteY44" fmla="*/ 1469985 h 1481560"/>
                <a:gd name="connsiteX45" fmla="*/ 891250 w 1412111"/>
                <a:gd name="connsiteY45" fmla="*/ 1481560 h 1481560"/>
                <a:gd name="connsiteX46" fmla="*/ 787078 w 1412111"/>
                <a:gd name="connsiteY46" fmla="*/ 1469985 h 1481560"/>
                <a:gd name="connsiteX47" fmla="*/ 729205 w 1412111"/>
                <a:gd name="connsiteY47" fmla="*/ 1423686 h 1481560"/>
                <a:gd name="connsiteX48" fmla="*/ 694481 w 1412111"/>
                <a:gd name="connsiteY48" fmla="*/ 1412112 h 1481560"/>
                <a:gd name="connsiteX49" fmla="*/ 636607 w 1412111"/>
                <a:gd name="connsiteY49" fmla="*/ 1342664 h 1481560"/>
                <a:gd name="connsiteX50" fmla="*/ 590308 w 1412111"/>
                <a:gd name="connsiteY50" fmla="*/ 1284790 h 1481560"/>
                <a:gd name="connsiteX51" fmla="*/ 462987 w 1412111"/>
                <a:gd name="connsiteY51" fmla="*/ 1261641 h 1481560"/>
                <a:gd name="connsiteX52" fmla="*/ 358815 w 1412111"/>
                <a:gd name="connsiteY52" fmla="*/ 1226917 h 1481560"/>
                <a:gd name="connsiteX53" fmla="*/ 324091 w 1412111"/>
                <a:gd name="connsiteY53" fmla="*/ 1215342 h 1481560"/>
                <a:gd name="connsiteX54" fmla="*/ 277792 w 1412111"/>
                <a:gd name="connsiteY54" fmla="*/ 1169043 h 1481560"/>
                <a:gd name="connsiteX55" fmla="*/ 254643 w 1412111"/>
                <a:gd name="connsiteY55" fmla="*/ 1099595 h 1481560"/>
                <a:gd name="connsiteX56" fmla="*/ 208344 w 1412111"/>
                <a:gd name="connsiteY56" fmla="*/ 1041722 h 1481560"/>
                <a:gd name="connsiteX57" fmla="*/ 243068 w 1412111"/>
                <a:gd name="connsiteY57" fmla="*/ 972274 h 148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412111" h="1481560">
                  <a:moveTo>
                    <a:pt x="243068" y="972274"/>
                  </a:moveTo>
                  <a:cubicBezTo>
                    <a:pt x="237281" y="947195"/>
                    <a:pt x="194542" y="920019"/>
                    <a:pt x="173620" y="891251"/>
                  </a:cubicBezTo>
                  <a:cubicBezTo>
                    <a:pt x="163471" y="877297"/>
                    <a:pt x="159031" y="859933"/>
                    <a:pt x="150470" y="844952"/>
                  </a:cubicBezTo>
                  <a:cubicBezTo>
                    <a:pt x="143568" y="832874"/>
                    <a:pt x="133982" y="822440"/>
                    <a:pt x="127321" y="810228"/>
                  </a:cubicBezTo>
                  <a:cubicBezTo>
                    <a:pt x="110796" y="779933"/>
                    <a:pt x="100164" y="746344"/>
                    <a:pt x="81022" y="717631"/>
                  </a:cubicBezTo>
                  <a:cubicBezTo>
                    <a:pt x="73306" y="706056"/>
                    <a:pt x="63523" y="695619"/>
                    <a:pt x="57873" y="682907"/>
                  </a:cubicBezTo>
                  <a:cubicBezTo>
                    <a:pt x="47963" y="660609"/>
                    <a:pt x="42440" y="636608"/>
                    <a:pt x="34724" y="613459"/>
                  </a:cubicBezTo>
                  <a:lnTo>
                    <a:pt x="11574" y="544010"/>
                  </a:lnTo>
                  <a:lnTo>
                    <a:pt x="0" y="497712"/>
                  </a:lnTo>
                  <a:cubicBezTo>
                    <a:pt x="3858" y="432122"/>
                    <a:pt x="1828" y="365918"/>
                    <a:pt x="11574" y="300942"/>
                  </a:cubicBezTo>
                  <a:cubicBezTo>
                    <a:pt x="13638" y="287185"/>
                    <a:pt x="28503" y="278661"/>
                    <a:pt x="34724" y="266218"/>
                  </a:cubicBezTo>
                  <a:cubicBezTo>
                    <a:pt x="40180" y="255305"/>
                    <a:pt x="40373" y="242159"/>
                    <a:pt x="46298" y="231494"/>
                  </a:cubicBezTo>
                  <a:cubicBezTo>
                    <a:pt x="86014" y="160004"/>
                    <a:pt x="76597" y="172713"/>
                    <a:pt x="127321" y="138897"/>
                  </a:cubicBezTo>
                  <a:cubicBezTo>
                    <a:pt x="131179" y="127322"/>
                    <a:pt x="131576" y="113934"/>
                    <a:pt x="138896" y="104173"/>
                  </a:cubicBezTo>
                  <a:cubicBezTo>
                    <a:pt x="155265" y="82347"/>
                    <a:pt x="170887" y="54926"/>
                    <a:pt x="196769" y="46299"/>
                  </a:cubicBezTo>
                  <a:lnTo>
                    <a:pt x="266217" y="23150"/>
                  </a:lnTo>
                  <a:cubicBezTo>
                    <a:pt x="277792" y="19292"/>
                    <a:pt x="288906" y="13581"/>
                    <a:pt x="300941" y="11575"/>
                  </a:cubicBezTo>
                  <a:lnTo>
                    <a:pt x="370389" y="0"/>
                  </a:lnTo>
                  <a:cubicBezTo>
                    <a:pt x="435979" y="3858"/>
                    <a:pt x="502007" y="3077"/>
                    <a:pt x="567159" y="11575"/>
                  </a:cubicBezTo>
                  <a:cubicBezTo>
                    <a:pt x="591356" y="14731"/>
                    <a:pt x="636607" y="34724"/>
                    <a:pt x="636607" y="34724"/>
                  </a:cubicBezTo>
                  <a:cubicBezTo>
                    <a:pt x="644323" y="42441"/>
                    <a:pt x="654141" y="48516"/>
                    <a:pt x="659756" y="57874"/>
                  </a:cubicBezTo>
                  <a:cubicBezTo>
                    <a:pt x="666033" y="68336"/>
                    <a:pt x="663709" y="83071"/>
                    <a:pt x="671331" y="92598"/>
                  </a:cubicBezTo>
                  <a:cubicBezTo>
                    <a:pt x="687649" y="112995"/>
                    <a:pt x="717905" y="119697"/>
                    <a:pt x="740779" y="127322"/>
                  </a:cubicBezTo>
                  <a:cubicBezTo>
                    <a:pt x="748496" y="135038"/>
                    <a:pt x="754168" y="145591"/>
                    <a:pt x="763929" y="150471"/>
                  </a:cubicBezTo>
                  <a:cubicBezTo>
                    <a:pt x="785754" y="161384"/>
                    <a:pt x="833377" y="173621"/>
                    <a:pt x="833377" y="173621"/>
                  </a:cubicBezTo>
                  <a:cubicBezTo>
                    <a:pt x="848810" y="185196"/>
                    <a:pt x="862421" y="199718"/>
                    <a:pt x="879675" y="208345"/>
                  </a:cubicBezTo>
                  <a:cubicBezTo>
                    <a:pt x="901501" y="219258"/>
                    <a:pt x="925974" y="223778"/>
                    <a:pt x="949124" y="231494"/>
                  </a:cubicBezTo>
                  <a:cubicBezTo>
                    <a:pt x="1068118" y="271158"/>
                    <a:pt x="971620" y="242537"/>
                    <a:pt x="1250065" y="254643"/>
                  </a:cubicBezTo>
                  <a:cubicBezTo>
                    <a:pt x="1269306" y="273884"/>
                    <a:pt x="1284683" y="286234"/>
                    <a:pt x="1296364" y="312517"/>
                  </a:cubicBezTo>
                  <a:cubicBezTo>
                    <a:pt x="1351458" y="436480"/>
                    <a:pt x="1290274" y="338107"/>
                    <a:pt x="1342663" y="416689"/>
                  </a:cubicBezTo>
                  <a:lnTo>
                    <a:pt x="1388962" y="555585"/>
                  </a:lnTo>
                  <a:lnTo>
                    <a:pt x="1400536" y="590309"/>
                  </a:lnTo>
                  <a:lnTo>
                    <a:pt x="1412111" y="625033"/>
                  </a:lnTo>
                  <a:cubicBezTo>
                    <a:pt x="1408253" y="671332"/>
                    <a:pt x="1408174" y="718102"/>
                    <a:pt x="1400536" y="763929"/>
                  </a:cubicBezTo>
                  <a:cubicBezTo>
                    <a:pt x="1400534" y="763938"/>
                    <a:pt x="1371601" y="850735"/>
                    <a:pt x="1365812" y="868102"/>
                  </a:cubicBezTo>
                  <a:lnTo>
                    <a:pt x="1307939" y="1041722"/>
                  </a:lnTo>
                  <a:lnTo>
                    <a:pt x="1296364" y="1076446"/>
                  </a:lnTo>
                  <a:cubicBezTo>
                    <a:pt x="1292506" y="1088021"/>
                    <a:pt x="1287748" y="1099333"/>
                    <a:pt x="1284789" y="1111170"/>
                  </a:cubicBezTo>
                  <a:cubicBezTo>
                    <a:pt x="1277073" y="1142036"/>
                    <a:pt x="1271701" y="1173584"/>
                    <a:pt x="1261640" y="1203767"/>
                  </a:cubicBezTo>
                  <a:cubicBezTo>
                    <a:pt x="1257782" y="1215342"/>
                    <a:pt x="1258692" y="1229865"/>
                    <a:pt x="1250065" y="1238492"/>
                  </a:cubicBezTo>
                  <a:cubicBezTo>
                    <a:pt x="1177079" y="1311478"/>
                    <a:pt x="1204111" y="1267256"/>
                    <a:pt x="1145893" y="1296365"/>
                  </a:cubicBezTo>
                  <a:cubicBezTo>
                    <a:pt x="1133451" y="1302586"/>
                    <a:pt x="1123881" y="1313864"/>
                    <a:pt x="1111169" y="1319514"/>
                  </a:cubicBezTo>
                  <a:cubicBezTo>
                    <a:pt x="1088871" y="1329424"/>
                    <a:pt x="1041721" y="1342664"/>
                    <a:pt x="1041721" y="1342664"/>
                  </a:cubicBezTo>
                  <a:cubicBezTo>
                    <a:pt x="1018572" y="1365813"/>
                    <a:pt x="990433" y="1384872"/>
                    <a:pt x="972273" y="1412112"/>
                  </a:cubicBezTo>
                  <a:cubicBezTo>
                    <a:pt x="961757" y="1427886"/>
                    <a:pt x="944302" y="1458988"/>
                    <a:pt x="925974" y="1469985"/>
                  </a:cubicBezTo>
                  <a:cubicBezTo>
                    <a:pt x="915512" y="1476262"/>
                    <a:pt x="902825" y="1477702"/>
                    <a:pt x="891250" y="1481560"/>
                  </a:cubicBezTo>
                  <a:cubicBezTo>
                    <a:pt x="856526" y="1477702"/>
                    <a:pt x="820973" y="1478459"/>
                    <a:pt x="787078" y="1469985"/>
                  </a:cubicBezTo>
                  <a:cubicBezTo>
                    <a:pt x="747361" y="1460056"/>
                    <a:pt x="758984" y="1441554"/>
                    <a:pt x="729205" y="1423686"/>
                  </a:cubicBezTo>
                  <a:cubicBezTo>
                    <a:pt x="718743" y="1417409"/>
                    <a:pt x="706056" y="1415970"/>
                    <a:pt x="694481" y="1412112"/>
                  </a:cubicBezTo>
                  <a:cubicBezTo>
                    <a:pt x="661582" y="1379213"/>
                    <a:pt x="670999" y="1390812"/>
                    <a:pt x="636607" y="1342664"/>
                  </a:cubicBezTo>
                  <a:cubicBezTo>
                    <a:pt x="624778" y="1326103"/>
                    <a:pt x="609665" y="1296404"/>
                    <a:pt x="590308" y="1284790"/>
                  </a:cubicBezTo>
                  <a:cubicBezTo>
                    <a:pt x="562138" y="1267888"/>
                    <a:pt x="475746" y="1263236"/>
                    <a:pt x="462987" y="1261641"/>
                  </a:cubicBezTo>
                  <a:lnTo>
                    <a:pt x="358815" y="1226917"/>
                  </a:lnTo>
                  <a:lnTo>
                    <a:pt x="324091" y="1215342"/>
                  </a:lnTo>
                  <a:cubicBezTo>
                    <a:pt x="308658" y="1199909"/>
                    <a:pt x="284694" y="1189749"/>
                    <a:pt x="277792" y="1169043"/>
                  </a:cubicBezTo>
                  <a:cubicBezTo>
                    <a:pt x="270076" y="1145894"/>
                    <a:pt x="271898" y="1116849"/>
                    <a:pt x="254643" y="1099595"/>
                  </a:cubicBezTo>
                  <a:cubicBezTo>
                    <a:pt x="239983" y="1084935"/>
                    <a:pt x="214185" y="1062166"/>
                    <a:pt x="208344" y="1041722"/>
                  </a:cubicBezTo>
                  <a:cubicBezTo>
                    <a:pt x="204104" y="1026883"/>
                    <a:pt x="248855" y="997353"/>
                    <a:pt x="243068" y="972274"/>
                  </a:cubicBezTo>
                  <a:close/>
                </a:path>
              </a:pathLst>
            </a:cu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D74E45C-AD1D-E946-9D2D-8D26B7582DE8}"/>
                </a:ext>
              </a:extLst>
            </p:cNvPr>
            <p:cNvSpPr txBox="1"/>
            <p:nvPr/>
          </p:nvSpPr>
          <p:spPr>
            <a:xfrm>
              <a:off x="4592404" y="4467828"/>
              <a:ext cx="29674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Intermediate glob of events</a:t>
              </a:r>
            </a:p>
          </p:txBody>
        </p:sp>
      </p:grpSp>
      <p:grpSp>
        <p:nvGrpSpPr>
          <p:cNvPr id="14" name="Group 13">
            <a:extLst>
              <a:ext uri="{FF2B5EF4-FFF2-40B4-BE49-F238E27FC236}">
                <a16:creationId xmlns:a16="http://schemas.microsoft.com/office/drawing/2014/main" id="{5FB06A13-BD5C-D043-B1FA-8F9F06344C8D}"/>
              </a:ext>
            </a:extLst>
          </p:cNvPr>
          <p:cNvGrpSpPr/>
          <p:nvPr/>
        </p:nvGrpSpPr>
        <p:grpSpPr>
          <a:xfrm>
            <a:off x="8262383" y="2299947"/>
            <a:ext cx="2864887" cy="2660325"/>
            <a:chOff x="8065613" y="2453833"/>
            <a:chExt cx="2864887" cy="2660325"/>
          </a:xfrm>
        </p:grpSpPr>
        <p:sp>
          <p:nvSpPr>
            <p:cNvPr id="8" name="Oval 7">
              <a:extLst>
                <a:ext uri="{FF2B5EF4-FFF2-40B4-BE49-F238E27FC236}">
                  <a16:creationId xmlns:a16="http://schemas.microsoft.com/office/drawing/2014/main" id="{ABD6D9C8-1EA2-6A4D-8742-0E30E75A5A4C}"/>
                </a:ext>
              </a:extLst>
            </p:cNvPr>
            <p:cNvSpPr/>
            <p:nvPr/>
          </p:nvSpPr>
          <p:spPr>
            <a:xfrm>
              <a:off x="8510669" y="2453833"/>
              <a:ext cx="1412110" cy="1481559"/>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ED12CE5-9558-884B-8E33-905D778FF3A7}"/>
                </a:ext>
              </a:extLst>
            </p:cNvPr>
            <p:cNvSpPr txBox="1"/>
            <p:nvPr/>
          </p:nvSpPr>
          <p:spPr>
            <a:xfrm>
              <a:off x="8065613" y="4467827"/>
              <a:ext cx="2864887" cy="646331"/>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The events we want in the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format we want</a:t>
              </a:r>
            </a:p>
          </p:txBody>
        </p:sp>
      </p:grpSp>
      <p:cxnSp>
        <p:nvCxnSpPr>
          <p:cNvPr id="16" name="Straight Connector 15">
            <a:extLst>
              <a:ext uri="{FF2B5EF4-FFF2-40B4-BE49-F238E27FC236}">
                <a16:creationId xmlns:a16="http://schemas.microsoft.com/office/drawing/2014/main" id="{3F9183C1-AA75-714A-AA60-A385FBE4999F}"/>
              </a:ext>
            </a:extLst>
          </p:cNvPr>
          <p:cNvCxnSpPr>
            <a:cxnSpLocks/>
          </p:cNvCxnSpPr>
          <p:nvPr/>
        </p:nvCxnSpPr>
        <p:spPr>
          <a:xfrm flipH="1">
            <a:off x="4359130" y="1343943"/>
            <a:ext cx="1" cy="41701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EF981DD-FE7A-694F-9D32-629B249BF10D}"/>
              </a:ext>
            </a:extLst>
          </p:cNvPr>
          <p:cNvCxnSpPr>
            <a:cxnSpLocks/>
          </p:cNvCxnSpPr>
          <p:nvPr/>
        </p:nvCxnSpPr>
        <p:spPr>
          <a:xfrm flipH="1">
            <a:off x="7848065" y="1343943"/>
            <a:ext cx="1" cy="41701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160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F8E03F4-ECE0-2042-B408-6A01FCA5FD25}"/>
              </a:ext>
            </a:extLst>
          </p:cNvPr>
          <p:cNvGraphicFramePr>
            <a:graphicFrameLocks noGrp="1"/>
          </p:cNvGraphicFramePr>
          <p:nvPr/>
        </p:nvGraphicFramePr>
        <p:xfrm>
          <a:off x="1074993" y="2907404"/>
          <a:ext cx="2643240" cy="2926080"/>
        </p:xfrm>
        <a:graphic>
          <a:graphicData uri="http://schemas.openxmlformats.org/drawingml/2006/table">
            <a:tbl>
              <a:tblPr firstRow="1" bandRow="1">
                <a:tableStyleId>{5C22544A-7EE6-4342-B048-85BDC9FD1C3A}</a:tableStyleId>
              </a:tblPr>
              <a:tblGrid>
                <a:gridCol w="660810">
                  <a:extLst>
                    <a:ext uri="{9D8B030D-6E8A-4147-A177-3AD203B41FA5}">
                      <a16:colId xmlns:a16="http://schemas.microsoft.com/office/drawing/2014/main" val="4207687184"/>
                    </a:ext>
                  </a:extLst>
                </a:gridCol>
                <a:gridCol w="660810">
                  <a:extLst>
                    <a:ext uri="{9D8B030D-6E8A-4147-A177-3AD203B41FA5}">
                      <a16:colId xmlns:a16="http://schemas.microsoft.com/office/drawing/2014/main" val="1890052630"/>
                    </a:ext>
                  </a:extLst>
                </a:gridCol>
                <a:gridCol w="657942">
                  <a:extLst>
                    <a:ext uri="{9D8B030D-6E8A-4147-A177-3AD203B41FA5}">
                      <a16:colId xmlns:a16="http://schemas.microsoft.com/office/drawing/2014/main" val="1272522138"/>
                    </a:ext>
                  </a:extLst>
                </a:gridCol>
                <a:gridCol w="663678">
                  <a:extLst>
                    <a:ext uri="{9D8B030D-6E8A-4147-A177-3AD203B41FA5}">
                      <a16:colId xmlns:a16="http://schemas.microsoft.com/office/drawing/2014/main" val="1314956993"/>
                    </a:ext>
                  </a:extLst>
                </a:gridCol>
              </a:tblGrid>
              <a:tr h="330371">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2387741835"/>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04152614"/>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65874699"/>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41424899"/>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08521410"/>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2926681"/>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84358994"/>
                  </a:ext>
                </a:extLst>
              </a:tr>
              <a:tr h="33037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614053825"/>
                  </a:ext>
                </a:extLst>
              </a:tr>
            </a:tbl>
          </a:graphicData>
        </a:graphic>
      </p:graphicFrame>
      <p:cxnSp>
        <p:nvCxnSpPr>
          <p:cNvPr id="7" name="Straight Connector 6">
            <a:extLst>
              <a:ext uri="{FF2B5EF4-FFF2-40B4-BE49-F238E27FC236}">
                <a16:creationId xmlns:a16="http://schemas.microsoft.com/office/drawing/2014/main" id="{E837B9EF-0862-C146-8307-7B00E2A4F6FB}"/>
              </a:ext>
            </a:extLst>
          </p:cNvPr>
          <p:cNvCxnSpPr>
            <a:cxnSpLocks/>
          </p:cNvCxnSpPr>
          <p:nvPr/>
        </p:nvCxnSpPr>
        <p:spPr>
          <a:xfrm>
            <a:off x="4203290" y="2433484"/>
            <a:ext cx="0" cy="324464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F703CB4E-A8CB-A34A-A870-739A6C162480}"/>
              </a:ext>
            </a:extLst>
          </p:cNvPr>
          <p:cNvGraphicFramePr>
            <a:graphicFrameLocks noGrp="1"/>
          </p:cNvGraphicFramePr>
          <p:nvPr/>
        </p:nvGraphicFramePr>
        <p:xfrm>
          <a:off x="4587567" y="3090284"/>
          <a:ext cx="1979562" cy="2560320"/>
        </p:xfrm>
        <a:graphic>
          <a:graphicData uri="http://schemas.openxmlformats.org/drawingml/2006/table">
            <a:tbl>
              <a:tblPr firstRow="1" bandRow="1">
                <a:tableStyleId>{5C22544A-7EE6-4342-B048-85BDC9FD1C3A}</a:tableStyleId>
              </a:tblPr>
              <a:tblGrid>
                <a:gridCol w="660810">
                  <a:extLst>
                    <a:ext uri="{9D8B030D-6E8A-4147-A177-3AD203B41FA5}">
                      <a16:colId xmlns:a16="http://schemas.microsoft.com/office/drawing/2014/main" val="4207687184"/>
                    </a:ext>
                  </a:extLst>
                </a:gridCol>
                <a:gridCol w="660810">
                  <a:extLst>
                    <a:ext uri="{9D8B030D-6E8A-4147-A177-3AD203B41FA5}">
                      <a16:colId xmlns:a16="http://schemas.microsoft.com/office/drawing/2014/main" val="1890052630"/>
                    </a:ext>
                  </a:extLst>
                </a:gridCol>
                <a:gridCol w="657942">
                  <a:extLst>
                    <a:ext uri="{9D8B030D-6E8A-4147-A177-3AD203B41FA5}">
                      <a16:colId xmlns:a16="http://schemas.microsoft.com/office/drawing/2014/main" val="1272522138"/>
                    </a:ext>
                  </a:extLst>
                </a:gridCol>
              </a:tblGrid>
              <a:tr h="330371">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87741835"/>
                  </a:ext>
                </a:extLst>
              </a:tr>
              <a:tr h="330371">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04152614"/>
                  </a:ext>
                </a:extLst>
              </a:tr>
              <a:tr h="330371">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2865874699"/>
                  </a:ext>
                </a:extLst>
              </a:tr>
              <a:tr h="330371">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341424899"/>
                  </a:ext>
                </a:extLst>
              </a:tr>
              <a:tr h="330371">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08521410"/>
                  </a:ext>
                </a:extLst>
              </a:tr>
              <a:tr h="330371">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62926681"/>
                  </a:ext>
                </a:extLst>
              </a:tr>
              <a:tr h="330371">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984358994"/>
                  </a:ext>
                </a:extLst>
              </a:tr>
            </a:tbl>
          </a:graphicData>
        </a:graphic>
      </p:graphicFrame>
      <p:graphicFrame>
        <p:nvGraphicFramePr>
          <p:cNvPr id="11" name="Table 10">
            <a:extLst>
              <a:ext uri="{FF2B5EF4-FFF2-40B4-BE49-F238E27FC236}">
                <a16:creationId xmlns:a16="http://schemas.microsoft.com/office/drawing/2014/main" id="{1078BB34-3431-4B48-94D4-1794F425854B}"/>
              </a:ext>
            </a:extLst>
          </p:cNvPr>
          <p:cNvGraphicFramePr>
            <a:graphicFrameLocks noGrp="1"/>
          </p:cNvGraphicFramePr>
          <p:nvPr/>
        </p:nvGraphicFramePr>
        <p:xfrm>
          <a:off x="7235720" y="3638924"/>
          <a:ext cx="1979562" cy="1463040"/>
        </p:xfrm>
        <a:graphic>
          <a:graphicData uri="http://schemas.openxmlformats.org/drawingml/2006/table">
            <a:tbl>
              <a:tblPr firstRow="1" bandRow="1">
                <a:tableStyleId>{5C22544A-7EE6-4342-B048-85BDC9FD1C3A}</a:tableStyleId>
              </a:tblPr>
              <a:tblGrid>
                <a:gridCol w="660810">
                  <a:extLst>
                    <a:ext uri="{9D8B030D-6E8A-4147-A177-3AD203B41FA5}">
                      <a16:colId xmlns:a16="http://schemas.microsoft.com/office/drawing/2014/main" val="4207687184"/>
                    </a:ext>
                  </a:extLst>
                </a:gridCol>
                <a:gridCol w="660810">
                  <a:extLst>
                    <a:ext uri="{9D8B030D-6E8A-4147-A177-3AD203B41FA5}">
                      <a16:colId xmlns:a16="http://schemas.microsoft.com/office/drawing/2014/main" val="1890052630"/>
                    </a:ext>
                  </a:extLst>
                </a:gridCol>
                <a:gridCol w="657942">
                  <a:extLst>
                    <a:ext uri="{9D8B030D-6E8A-4147-A177-3AD203B41FA5}">
                      <a16:colId xmlns:a16="http://schemas.microsoft.com/office/drawing/2014/main" val="1272522138"/>
                    </a:ext>
                  </a:extLst>
                </a:gridCol>
              </a:tblGrid>
              <a:tr h="330371">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87741835"/>
                  </a:ext>
                </a:extLst>
              </a:tr>
              <a:tr h="330371">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04152614"/>
                  </a:ext>
                </a:extLst>
              </a:tr>
              <a:tr h="330371">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2865874699"/>
                  </a:ext>
                </a:extLst>
              </a:tr>
              <a:tr h="330371">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341424899"/>
                  </a:ext>
                </a:extLst>
              </a:tr>
            </a:tbl>
          </a:graphicData>
        </a:graphic>
      </p:graphicFrame>
      <p:cxnSp>
        <p:nvCxnSpPr>
          <p:cNvPr id="12" name="Straight Connector 11">
            <a:extLst>
              <a:ext uri="{FF2B5EF4-FFF2-40B4-BE49-F238E27FC236}">
                <a16:creationId xmlns:a16="http://schemas.microsoft.com/office/drawing/2014/main" id="{7C5F9523-E8C1-424A-8180-3C1F824A934A}"/>
              </a:ext>
            </a:extLst>
          </p:cNvPr>
          <p:cNvCxnSpPr>
            <a:cxnSpLocks/>
          </p:cNvCxnSpPr>
          <p:nvPr/>
        </p:nvCxnSpPr>
        <p:spPr>
          <a:xfrm>
            <a:off x="6951406" y="2433484"/>
            <a:ext cx="0" cy="324464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Magnetic Disk 1">
            <a:extLst>
              <a:ext uri="{FF2B5EF4-FFF2-40B4-BE49-F238E27FC236}">
                <a16:creationId xmlns:a16="http://schemas.microsoft.com/office/drawing/2014/main" id="{6CD0A18D-28FE-EA49-99AE-C95F8FBC00C5}"/>
              </a:ext>
            </a:extLst>
          </p:cNvPr>
          <p:cNvSpPr/>
          <p:nvPr/>
        </p:nvSpPr>
        <p:spPr>
          <a:xfrm>
            <a:off x="438766" y="2433484"/>
            <a:ext cx="988142" cy="995516"/>
          </a:xfrm>
          <a:prstGeom prst="flowChartMagneticDisk">
            <a:avLst/>
          </a:prstGeom>
          <a:solidFill>
            <a:schemeClr val="accent6"/>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8607CC1-B98A-4541-B267-657641C29A72}"/>
              </a:ext>
            </a:extLst>
          </p:cNvPr>
          <p:cNvCxnSpPr>
            <a:cxnSpLocks/>
          </p:cNvCxnSpPr>
          <p:nvPr/>
        </p:nvCxnSpPr>
        <p:spPr>
          <a:xfrm>
            <a:off x="9404554" y="2433484"/>
            <a:ext cx="0" cy="324464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Graphic 16" descr="Bar chart">
            <a:extLst>
              <a:ext uri="{FF2B5EF4-FFF2-40B4-BE49-F238E27FC236}">
                <a16:creationId xmlns:a16="http://schemas.microsoft.com/office/drawing/2014/main" id="{F9D1362D-F4B6-E54B-B823-0D04C4BB7F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99595" y="3333153"/>
            <a:ext cx="2074583" cy="2074583"/>
          </a:xfrm>
          <a:prstGeom prst="rect">
            <a:avLst/>
          </a:prstGeom>
        </p:spPr>
      </p:pic>
      <p:sp>
        <p:nvSpPr>
          <p:cNvPr id="18" name="TextBox 17">
            <a:extLst>
              <a:ext uri="{FF2B5EF4-FFF2-40B4-BE49-F238E27FC236}">
                <a16:creationId xmlns:a16="http://schemas.microsoft.com/office/drawing/2014/main" id="{22CA77E1-7FC6-D844-9C98-4727D2F09A65}"/>
              </a:ext>
            </a:extLst>
          </p:cNvPr>
          <p:cNvSpPr txBox="1"/>
          <p:nvPr/>
        </p:nvSpPr>
        <p:spPr>
          <a:xfrm>
            <a:off x="386476" y="512842"/>
            <a:ext cx="11698202" cy="461665"/>
          </a:xfrm>
          <a:prstGeom prst="rect">
            <a:avLst/>
          </a:prstGeom>
          <a:noFill/>
        </p:spPr>
        <p:txBody>
          <a:bodyPr wrap="none" rtlCol="0">
            <a:spAutoFit/>
          </a:bodyPr>
          <a:lstStyle/>
          <a:p>
            <a:r>
              <a:rPr lang="en-US" sz="2400" dirty="0">
                <a:latin typeface="Stone Sans" pitchFamily="2" charset="0"/>
                <a:cs typeface="Arial" panose="020B0604020202020204" pitchFamily="34" charset="0"/>
              </a:rPr>
              <a:t>Pipe: Take the previous data, do something to it, then output it to the next step</a:t>
            </a:r>
          </a:p>
        </p:txBody>
      </p:sp>
      <p:sp>
        <p:nvSpPr>
          <p:cNvPr id="19" name="Circular Arrow 18">
            <a:extLst>
              <a:ext uri="{FF2B5EF4-FFF2-40B4-BE49-F238E27FC236}">
                <a16:creationId xmlns:a16="http://schemas.microsoft.com/office/drawing/2014/main" id="{A34FA643-F0D1-A24B-A4AE-318009C4A1E7}"/>
              </a:ext>
            </a:extLst>
          </p:cNvPr>
          <p:cNvSpPr/>
          <p:nvPr/>
        </p:nvSpPr>
        <p:spPr>
          <a:xfrm>
            <a:off x="3596741" y="1772675"/>
            <a:ext cx="1213098" cy="1578407"/>
          </a:xfrm>
          <a:prstGeom prst="circularArrow">
            <a:avLst>
              <a:gd name="adj1" fmla="val 12500"/>
              <a:gd name="adj2" fmla="val 1142319"/>
              <a:gd name="adj3" fmla="val 20457681"/>
              <a:gd name="adj4" fmla="val 11162957"/>
              <a:gd name="adj5" fmla="val 12500"/>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Circular Arrow 19">
            <a:extLst>
              <a:ext uri="{FF2B5EF4-FFF2-40B4-BE49-F238E27FC236}">
                <a16:creationId xmlns:a16="http://schemas.microsoft.com/office/drawing/2014/main" id="{CF19D453-284F-844C-9520-37CFC363E26D}"/>
              </a:ext>
            </a:extLst>
          </p:cNvPr>
          <p:cNvSpPr/>
          <p:nvPr/>
        </p:nvSpPr>
        <p:spPr>
          <a:xfrm>
            <a:off x="6235577" y="1754746"/>
            <a:ext cx="1213098" cy="1578407"/>
          </a:xfrm>
          <a:prstGeom prst="circularArrow">
            <a:avLst>
              <a:gd name="adj1" fmla="val 12500"/>
              <a:gd name="adj2" fmla="val 1142319"/>
              <a:gd name="adj3" fmla="val 20457681"/>
              <a:gd name="adj4" fmla="val 11162957"/>
              <a:gd name="adj5" fmla="val 12500"/>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ircular Arrow 20">
            <a:extLst>
              <a:ext uri="{FF2B5EF4-FFF2-40B4-BE49-F238E27FC236}">
                <a16:creationId xmlns:a16="http://schemas.microsoft.com/office/drawing/2014/main" id="{3F965FE2-B441-BB49-9F83-5150C7DA8396}"/>
              </a:ext>
            </a:extLst>
          </p:cNvPr>
          <p:cNvSpPr/>
          <p:nvPr/>
        </p:nvSpPr>
        <p:spPr>
          <a:xfrm>
            <a:off x="8798005" y="1772675"/>
            <a:ext cx="1213098" cy="1578407"/>
          </a:xfrm>
          <a:prstGeom prst="circularArrow">
            <a:avLst>
              <a:gd name="adj1" fmla="val 12500"/>
              <a:gd name="adj2" fmla="val 1142319"/>
              <a:gd name="adj3" fmla="val 20457681"/>
              <a:gd name="adj4" fmla="val 11162957"/>
              <a:gd name="adj5" fmla="val 12500"/>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48174676-F0D7-B942-8A5C-52770BC3FD8B}"/>
              </a:ext>
            </a:extLst>
          </p:cNvPr>
          <p:cNvSpPr txBox="1"/>
          <p:nvPr/>
        </p:nvSpPr>
        <p:spPr>
          <a:xfrm>
            <a:off x="558375" y="1970708"/>
            <a:ext cx="74892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Index</a:t>
            </a:r>
          </a:p>
        </p:txBody>
      </p:sp>
      <p:sp>
        <p:nvSpPr>
          <p:cNvPr id="4" name="TextBox 3">
            <a:extLst>
              <a:ext uri="{FF2B5EF4-FFF2-40B4-BE49-F238E27FC236}">
                <a16:creationId xmlns:a16="http://schemas.microsoft.com/office/drawing/2014/main" id="{4D7B8735-EBC2-8E4B-8B4B-CB87DB5907D5}"/>
              </a:ext>
            </a:extLst>
          </p:cNvPr>
          <p:cNvSpPr txBox="1"/>
          <p:nvPr/>
        </p:nvSpPr>
        <p:spPr>
          <a:xfrm>
            <a:off x="1395377" y="5938072"/>
            <a:ext cx="1830053" cy="369332"/>
          </a:xfrm>
          <a:prstGeom prst="rect">
            <a:avLst/>
          </a:prstGeom>
          <a:noFill/>
        </p:spPr>
        <p:txBody>
          <a:bodyPr wrap="none" rtlCol="0">
            <a:spAutoFit/>
          </a:bodyPr>
          <a:lstStyle/>
          <a:p>
            <a:r>
              <a:rPr lang="en-US" dirty="0"/>
              <a:t>Raw event search</a:t>
            </a:r>
          </a:p>
        </p:txBody>
      </p:sp>
      <p:sp>
        <p:nvSpPr>
          <p:cNvPr id="6" name="Rectangle 5">
            <a:extLst>
              <a:ext uri="{FF2B5EF4-FFF2-40B4-BE49-F238E27FC236}">
                <a16:creationId xmlns:a16="http://schemas.microsoft.com/office/drawing/2014/main" id="{76D9517C-8581-D747-827E-BCA39E88AD64}"/>
              </a:ext>
            </a:extLst>
          </p:cNvPr>
          <p:cNvSpPr/>
          <p:nvPr/>
        </p:nvSpPr>
        <p:spPr>
          <a:xfrm>
            <a:off x="4809839" y="5938072"/>
            <a:ext cx="1242648" cy="369332"/>
          </a:xfrm>
          <a:prstGeom prst="rect">
            <a:avLst/>
          </a:prstGeom>
        </p:spPr>
        <p:txBody>
          <a:bodyPr wrap="none">
            <a:spAutoFit/>
          </a:bodyPr>
          <a:lstStyle/>
          <a:p>
            <a:r>
              <a:rPr lang="en-US" dirty="0"/>
              <a:t>Commands</a:t>
            </a:r>
          </a:p>
        </p:txBody>
      </p:sp>
      <p:sp>
        <p:nvSpPr>
          <p:cNvPr id="22" name="Rectangle 21">
            <a:extLst>
              <a:ext uri="{FF2B5EF4-FFF2-40B4-BE49-F238E27FC236}">
                <a16:creationId xmlns:a16="http://schemas.microsoft.com/office/drawing/2014/main" id="{A97FDBA2-2485-C340-BE8B-FCC871E3F6F3}"/>
              </a:ext>
            </a:extLst>
          </p:cNvPr>
          <p:cNvSpPr/>
          <p:nvPr/>
        </p:nvSpPr>
        <p:spPr>
          <a:xfrm>
            <a:off x="7551506" y="5938072"/>
            <a:ext cx="1242648" cy="369332"/>
          </a:xfrm>
          <a:prstGeom prst="rect">
            <a:avLst/>
          </a:prstGeom>
        </p:spPr>
        <p:txBody>
          <a:bodyPr wrap="none">
            <a:spAutoFit/>
          </a:bodyPr>
          <a:lstStyle/>
          <a:p>
            <a:r>
              <a:rPr lang="en-US" dirty="0"/>
              <a:t>Commands</a:t>
            </a:r>
          </a:p>
        </p:txBody>
      </p:sp>
      <p:sp>
        <p:nvSpPr>
          <p:cNvPr id="23" name="Rectangle 22">
            <a:extLst>
              <a:ext uri="{FF2B5EF4-FFF2-40B4-BE49-F238E27FC236}">
                <a16:creationId xmlns:a16="http://schemas.microsoft.com/office/drawing/2014/main" id="{B575C3E9-44C0-ED4A-92DE-75F6F1110F6B}"/>
              </a:ext>
            </a:extLst>
          </p:cNvPr>
          <p:cNvSpPr/>
          <p:nvPr/>
        </p:nvSpPr>
        <p:spPr>
          <a:xfrm>
            <a:off x="10011103" y="5938072"/>
            <a:ext cx="852285" cy="369332"/>
          </a:xfrm>
          <a:prstGeom prst="rect">
            <a:avLst/>
          </a:prstGeom>
        </p:spPr>
        <p:txBody>
          <a:bodyPr wrap="none">
            <a:spAutoFit/>
          </a:bodyPr>
          <a:lstStyle/>
          <a:p>
            <a:r>
              <a:rPr lang="en-US" dirty="0"/>
              <a:t>Results</a:t>
            </a:r>
          </a:p>
        </p:txBody>
      </p:sp>
    </p:spTree>
    <p:extLst>
      <p:ext uri="{BB962C8B-B14F-4D97-AF65-F5344CB8AC3E}">
        <p14:creationId xmlns:p14="http://schemas.microsoft.com/office/powerpoint/2010/main" val="400068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727FA-CFB8-6646-9F68-47E5A7F30CC6}"/>
              </a:ext>
            </a:extLst>
          </p:cNvPr>
          <p:cNvSpPr>
            <a:spLocks noGrp="1"/>
          </p:cNvSpPr>
          <p:nvPr>
            <p:ph type="ctrTitle"/>
          </p:nvPr>
        </p:nvSpPr>
        <p:spPr/>
        <p:txBody>
          <a:bodyPr/>
          <a:lstStyle/>
          <a:p>
            <a:r>
              <a:rPr lang="en-US" dirty="0"/>
              <a:t>Time</a:t>
            </a:r>
          </a:p>
        </p:txBody>
      </p:sp>
    </p:spTree>
    <p:extLst>
      <p:ext uri="{BB962C8B-B14F-4D97-AF65-F5344CB8AC3E}">
        <p14:creationId xmlns:p14="http://schemas.microsoft.com/office/powerpoint/2010/main" val="3395218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46BFF4-D1FD-A242-95D3-B8A3BC328CF0}"/>
              </a:ext>
            </a:extLst>
          </p:cNvPr>
          <p:cNvSpPr>
            <a:spLocks noGrp="1"/>
          </p:cNvSpPr>
          <p:nvPr>
            <p:ph idx="1"/>
          </p:nvPr>
        </p:nvSpPr>
        <p:spPr>
          <a:ln>
            <a:noFill/>
          </a:ln>
        </p:spPr>
        <p:txBody>
          <a:bodyPr>
            <a:normAutofit/>
          </a:bodyPr>
          <a:lstStyle/>
          <a:p>
            <a:r>
              <a:rPr lang="en-US" dirty="0"/>
              <a:t>Timestamps are converted to UNIX time and stored in the </a:t>
            </a:r>
            <a:r>
              <a:rPr lang="en-US" dirty="0">
                <a:latin typeface="Courier New" panose="02070309020205020404" pitchFamily="49" charset="0"/>
                <a:cs typeface="Courier New" panose="02070309020205020404" pitchFamily="49" charset="0"/>
              </a:rPr>
              <a:t>_time </a:t>
            </a:r>
            <a:r>
              <a:rPr lang="en-US" dirty="0"/>
              <a:t>field</a:t>
            </a:r>
          </a:p>
          <a:p>
            <a:r>
              <a:rPr lang="en-US" dirty="0"/>
              <a:t>Splunk assumes that any data indexed is in the time zone of the Splunk instance</a:t>
            </a:r>
          </a:p>
        </p:txBody>
      </p:sp>
      <p:pic>
        <p:nvPicPr>
          <p:cNvPr id="6" name="Picture Placeholder 5" descr="Clock">
            <a:extLst>
              <a:ext uri="{FF2B5EF4-FFF2-40B4-BE49-F238E27FC236}">
                <a16:creationId xmlns:a16="http://schemas.microsoft.com/office/drawing/2014/main" id="{46072E4B-3177-A04B-87CD-5143A4C667FA}"/>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t="684" b="684"/>
          <a:stretch>
            <a:fillRect/>
          </a:stretch>
        </p:blipFill>
        <p:spPr/>
      </p:pic>
      <p:sp>
        <p:nvSpPr>
          <p:cNvPr id="4" name="Title 3">
            <a:extLst>
              <a:ext uri="{FF2B5EF4-FFF2-40B4-BE49-F238E27FC236}">
                <a16:creationId xmlns:a16="http://schemas.microsoft.com/office/drawing/2014/main" id="{836B648A-1F2C-FB48-A716-57D9712ED398}"/>
              </a:ext>
            </a:extLst>
          </p:cNvPr>
          <p:cNvSpPr>
            <a:spLocks noGrp="1"/>
          </p:cNvSpPr>
          <p:nvPr>
            <p:ph type="title"/>
          </p:nvPr>
        </p:nvSpPr>
        <p:spPr/>
        <p:txBody>
          <a:bodyPr/>
          <a:lstStyle/>
          <a:p>
            <a:r>
              <a:rPr lang="en-US" dirty="0"/>
              <a:t>Timestamps</a:t>
            </a:r>
          </a:p>
        </p:txBody>
      </p:sp>
    </p:spTree>
    <p:extLst>
      <p:ext uri="{BB962C8B-B14F-4D97-AF65-F5344CB8AC3E}">
        <p14:creationId xmlns:p14="http://schemas.microsoft.com/office/powerpoint/2010/main" val="278939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84D18B-A144-C74D-AEFF-64ED84D35681}"/>
              </a:ext>
            </a:extLst>
          </p:cNvPr>
          <p:cNvSpPr>
            <a:spLocks noGrp="1"/>
          </p:cNvSpPr>
          <p:nvPr>
            <p:ph idx="1"/>
          </p:nvPr>
        </p:nvSpPr>
        <p:spPr/>
        <p:txBody>
          <a:bodyPr>
            <a:normAutofit lnSpcReduction="10000"/>
          </a:bodyPr>
          <a:lstStyle/>
          <a:p>
            <a:r>
              <a:rPr lang="en-US" dirty="0"/>
              <a:t>A default, and essential, field</a:t>
            </a:r>
          </a:p>
          <a:p>
            <a:r>
              <a:rPr lang="en-US" dirty="0"/>
              <a:t>Values in the </a:t>
            </a:r>
            <a:r>
              <a:rPr lang="en-US" dirty="0">
                <a:latin typeface="Courier New" panose="02070309020205020404" pitchFamily="49" charset="0"/>
                <a:cs typeface="Courier New" panose="02070309020205020404" pitchFamily="49" charset="0"/>
              </a:rPr>
              <a:t>_time </a:t>
            </a:r>
            <a:r>
              <a:rPr lang="en-US" dirty="0"/>
              <a:t>field are stored in UNIX time</a:t>
            </a:r>
          </a:p>
          <a:p>
            <a:r>
              <a:rPr lang="en-US" dirty="0"/>
              <a:t>In Splunk web, the </a:t>
            </a:r>
            <a:r>
              <a:rPr lang="en-US" dirty="0">
                <a:latin typeface="Courier New" panose="02070309020205020404" pitchFamily="49" charset="0"/>
                <a:cs typeface="Courier New" panose="02070309020205020404" pitchFamily="49" charset="0"/>
              </a:rPr>
              <a:t>_time </a:t>
            </a:r>
            <a:r>
              <a:rPr lang="en-US" dirty="0"/>
              <a:t>field appears in human-readable format</a:t>
            </a:r>
          </a:p>
          <a:p>
            <a:r>
              <a:rPr lang="en-US" dirty="0"/>
              <a:t>Use search commands to manipulate the time format</a:t>
            </a:r>
          </a:p>
          <a:p>
            <a:endParaRPr lang="en-US" dirty="0"/>
          </a:p>
        </p:txBody>
      </p:sp>
      <p:sp>
        <p:nvSpPr>
          <p:cNvPr id="4" name="Title 3">
            <a:extLst>
              <a:ext uri="{FF2B5EF4-FFF2-40B4-BE49-F238E27FC236}">
                <a16:creationId xmlns:a16="http://schemas.microsoft.com/office/drawing/2014/main" id="{C650236D-698F-F146-81C1-B1BA18E516B3}"/>
              </a:ext>
            </a:extLst>
          </p:cNvPr>
          <p:cNvSpPr>
            <a:spLocks noGrp="1"/>
          </p:cNvSpPr>
          <p:nvPr>
            <p:ph type="title"/>
          </p:nvPr>
        </p:nvSpPr>
        <p:spPr/>
        <p:txBody>
          <a:bodyPr/>
          <a:lstStyle/>
          <a:p>
            <a:r>
              <a:rPr lang="en-US" dirty="0"/>
              <a:t>The </a:t>
            </a:r>
            <a:r>
              <a:rPr lang="en-US" sz="3600" dirty="0">
                <a:latin typeface="Oxygen Mono" panose="02000509030000090004" pitchFamily="49" charset="77"/>
              </a:rPr>
              <a:t>_time </a:t>
            </a:r>
            <a:r>
              <a:rPr lang="en-US" dirty="0"/>
              <a:t>Field</a:t>
            </a:r>
          </a:p>
        </p:txBody>
      </p:sp>
      <p:pic>
        <p:nvPicPr>
          <p:cNvPr id="10" name="Picture 2">
            <a:extLst>
              <a:ext uri="{FF2B5EF4-FFF2-40B4-BE49-F238E27FC236}">
                <a16:creationId xmlns:a16="http://schemas.microsoft.com/office/drawing/2014/main" id="{F1DCD1F3-D314-5F43-BA73-C28C07CDF5DB}"/>
              </a:ext>
            </a:extLst>
          </p:cNvPr>
          <p:cNvPicPr>
            <a:picLocks noGrp="1" noChangeAspect="1" noChangeArrowheads="1"/>
          </p:cNvPicPr>
          <p:nvPr>
            <p:ph type="pic" sz="quarter" idx="10"/>
          </p:nvPr>
        </p:nvPicPr>
        <p:blipFill rotWithShape="1">
          <a:blip r:embed="rId3">
            <a:biLevel thresh="50000"/>
            <a:extLst>
              <a:ext uri="{28A0092B-C50C-407E-A947-70E740481C1C}">
                <a14:useLocalDpi xmlns:a14="http://schemas.microsoft.com/office/drawing/2010/main" val="0"/>
              </a:ext>
            </a:extLst>
          </a:blip>
          <a:srcRect l="7286" t="-5634" r="6274" b="27676"/>
          <a:stretch/>
        </p:blipFill>
        <p:spPr bwMode="auto">
          <a:xfrm>
            <a:off x="209405" y="2084832"/>
            <a:ext cx="3829184" cy="352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374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82453-032A-F64E-BB3C-E5F532B1AB1E}"/>
              </a:ext>
            </a:extLst>
          </p:cNvPr>
          <p:cNvSpPr>
            <a:spLocks noGrp="1"/>
          </p:cNvSpPr>
          <p:nvPr>
            <p:ph sz="quarter" idx="11"/>
          </p:nvPr>
        </p:nvSpPr>
        <p:spPr/>
        <p:txBody>
          <a:bodyPr/>
          <a:lstStyle/>
          <a:p>
            <a:r>
              <a:rPr lang="en-US" dirty="0">
                <a:solidFill>
                  <a:schemeClr val="bg1"/>
                </a:solidFill>
              </a:rPr>
              <a:t>Looks for timestamps in the event data</a:t>
            </a:r>
          </a:p>
        </p:txBody>
      </p:sp>
      <p:sp>
        <p:nvSpPr>
          <p:cNvPr id="3" name="Content Placeholder 2">
            <a:extLst>
              <a:ext uri="{FF2B5EF4-FFF2-40B4-BE49-F238E27FC236}">
                <a16:creationId xmlns:a16="http://schemas.microsoft.com/office/drawing/2014/main" id="{9837F1C3-CB87-E548-9BE3-FE5085AB1AC9}"/>
              </a:ext>
            </a:extLst>
          </p:cNvPr>
          <p:cNvSpPr>
            <a:spLocks noGrp="1"/>
          </p:cNvSpPr>
          <p:nvPr>
            <p:ph sz="quarter" idx="12"/>
          </p:nvPr>
        </p:nvSpPr>
        <p:spPr/>
        <p:txBody>
          <a:bodyPr/>
          <a:lstStyle/>
          <a:p>
            <a:r>
              <a:rPr lang="en-US" dirty="0">
                <a:solidFill>
                  <a:schemeClr val="bg1"/>
                </a:solidFill>
              </a:rPr>
              <a:t>Source name or file name</a:t>
            </a:r>
          </a:p>
        </p:txBody>
      </p:sp>
      <p:sp>
        <p:nvSpPr>
          <p:cNvPr id="4" name="Content Placeholder 3">
            <a:extLst>
              <a:ext uri="{FF2B5EF4-FFF2-40B4-BE49-F238E27FC236}">
                <a16:creationId xmlns:a16="http://schemas.microsoft.com/office/drawing/2014/main" id="{A7D7EA15-4437-CE4B-BC27-0042F97DCCA4}"/>
              </a:ext>
            </a:extLst>
          </p:cNvPr>
          <p:cNvSpPr>
            <a:spLocks noGrp="1"/>
          </p:cNvSpPr>
          <p:nvPr>
            <p:ph sz="quarter" idx="13"/>
          </p:nvPr>
        </p:nvSpPr>
        <p:spPr/>
        <p:txBody>
          <a:bodyPr/>
          <a:lstStyle/>
          <a:p>
            <a:r>
              <a:rPr lang="en-US" dirty="0">
                <a:solidFill>
                  <a:schemeClr val="bg1"/>
                </a:solidFill>
              </a:rPr>
              <a:t>File modification time</a:t>
            </a:r>
          </a:p>
        </p:txBody>
      </p:sp>
      <p:sp>
        <p:nvSpPr>
          <p:cNvPr id="5" name="Content Placeholder 4">
            <a:extLst>
              <a:ext uri="{FF2B5EF4-FFF2-40B4-BE49-F238E27FC236}">
                <a16:creationId xmlns:a16="http://schemas.microsoft.com/office/drawing/2014/main" id="{9F943E0B-9964-4045-A1CB-55D4FE94B682}"/>
              </a:ext>
            </a:extLst>
          </p:cNvPr>
          <p:cNvSpPr>
            <a:spLocks noGrp="1"/>
          </p:cNvSpPr>
          <p:nvPr>
            <p:ph sz="quarter" idx="14"/>
          </p:nvPr>
        </p:nvSpPr>
        <p:spPr/>
        <p:txBody>
          <a:bodyPr/>
          <a:lstStyle/>
          <a:p>
            <a:r>
              <a:rPr lang="en-US" dirty="0">
                <a:solidFill>
                  <a:schemeClr val="bg1"/>
                </a:solidFill>
              </a:rPr>
              <a:t>Current system time</a:t>
            </a:r>
          </a:p>
        </p:txBody>
      </p:sp>
    </p:spTree>
    <p:extLst>
      <p:ext uri="{BB962C8B-B14F-4D97-AF65-F5344CB8AC3E}">
        <p14:creationId xmlns:p14="http://schemas.microsoft.com/office/powerpoint/2010/main" val="3776972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3F29-61DE-448B-823C-8B694D9E0BE1}"/>
              </a:ext>
            </a:extLst>
          </p:cNvPr>
          <p:cNvSpPr>
            <a:spLocks noGrp="1"/>
          </p:cNvSpPr>
          <p:nvPr>
            <p:ph type="title"/>
          </p:nvPr>
        </p:nvSpPr>
        <p:spPr/>
        <p:txBody>
          <a:bodyPr/>
          <a:lstStyle/>
          <a:p>
            <a:r>
              <a:rPr lang="en-US" dirty="0"/>
              <a:t>The Time Range Picker</a:t>
            </a:r>
          </a:p>
        </p:txBody>
      </p:sp>
      <p:sp>
        <p:nvSpPr>
          <p:cNvPr id="3" name="Content Placeholder 2">
            <a:extLst>
              <a:ext uri="{FF2B5EF4-FFF2-40B4-BE49-F238E27FC236}">
                <a16:creationId xmlns:a16="http://schemas.microsoft.com/office/drawing/2014/main" id="{8147C401-D810-472A-8340-95A4504BD225}"/>
              </a:ext>
            </a:extLst>
          </p:cNvPr>
          <p:cNvSpPr>
            <a:spLocks noGrp="1"/>
          </p:cNvSpPr>
          <p:nvPr>
            <p:ph idx="1"/>
          </p:nvPr>
        </p:nvSpPr>
        <p:spPr>
          <a:xfrm>
            <a:off x="838200" y="1825625"/>
            <a:ext cx="5023047" cy="4351338"/>
          </a:xfrm>
        </p:spPr>
        <p:txBody>
          <a:bodyPr/>
          <a:lstStyle/>
          <a:p>
            <a:r>
              <a:rPr lang="en-US" dirty="0"/>
              <a:t>Splunk uses time stamps for the time range picker</a:t>
            </a:r>
          </a:p>
          <a:p>
            <a:r>
              <a:rPr lang="en-US" dirty="0"/>
              <a:t>The defaults for the time range picker are Real-Time, Relative, and Other</a:t>
            </a:r>
          </a:p>
          <a:p>
            <a:r>
              <a:rPr lang="en-US" dirty="0"/>
              <a:t>We can also do some more granular things with time selection</a:t>
            </a:r>
          </a:p>
          <a:p>
            <a:pPr marL="0" indent="0">
              <a:buNone/>
            </a:pPr>
            <a:endParaRPr lang="en-US" dirty="0"/>
          </a:p>
        </p:txBody>
      </p:sp>
      <p:pic>
        <p:nvPicPr>
          <p:cNvPr id="4" name="Picture 3">
            <a:extLst>
              <a:ext uri="{FF2B5EF4-FFF2-40B4-BE49-F238E27FC236}">
                <a16:creationId xmlns:a16="http://schemas.microsoft.com/office/drawing/2014/main" id="{2A3FA5D1-72AB-4D2B-A2F1-2080766732B8}"/>
              </a:ext>
            </a:extLst>
          </p:cNvPr>
          <p:cNvPicPr>
            <a:picLocks noChangeAspect="1"/>
          </p:cNvPicPr>
          <p:nvPr/>
        </p:nvPicPr>
        <p:blipFill rotWithShape="1">
          <a:blip r:embed="rId2"/>
          <a:srcRect r="2732"/>
          <a:stretch/>
        </p:blipFill>
        <p:spPr>
          <a:xfrm>
            <a:off x="6096000" y="1479368"/>
            <a:ext cx="5620815" cy="4509997"/>
          </a:xfrm>
          <a:prstGeom prst="rect">
            <a:avLst/>
          </a:prstGeom>
        </p:spPr>
      </p:pic>
    </p:spTree>
    <p:extLst>
      <p:ext uri="{BB962C8B-B14F-4D97-AF65-F5344CB8AC3E}">
        <p14:creationId xmlns:p14="http://schemas.microsoft.com/office/powerpoint/2010/main" val="13001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81E3-1164-4F0C-AE4D-2689186EA731}"/>
              </a:ext>
            </a:extLst>
          </p:cNvPr>
          <p:cNvSpPr>
            <a:spLocks noGrp="1"/>
          </p:cNvSpPr>
          <p:nvPr>
            <p:ph type="title"/>
          </p:nvPr>
        </p:nvSpPr>
        <p:spPr/>
        <p:txBody>
          <a:bodyPr/>
          <a:lstStyle/>
          <a:p>
            <a:r>
              <a:rPr lang="en-US" dirty="0"/>
              <a:t>Specify Absolute Time Ranges Using SPL</a:t>
            </a:r>
          </a:p>
        </p:txBody>
      </p:sp>
      <p:sp>
        <p:nvSpPr>
          <p:cNvPr id="3" name="Content Placeholder 2">
            <a:extLst>
              <a:ext uri="{FF2B5EF4-FFF2-40B4-BE49-F238E27FC236}">
                <a16:creationId xmlns:a16="http://schemas.microsoft.com/office/drawing/2014/main" id="{8BEF94B1-EC3F-4010-9DF4-0B41095634FD}"/>
              </a:ext>
            </a:extLst>
          </p:cNvPr>
          <p:cNvSpPr>
            <a:spLocks noGrp="1"/>
          </p:cNvSpPr>
          <p:nvPr>
            <p:ph idx="1"/>
          </p:nvPr>
        </p:nvSpPr>
        <p:spPr/>
        <p:txBody>
          <a:bodyPr/>
          <a:lstStyle/>
          <a:p>
            <a:r>
              <a:rPr lang="en-US" dirty="0"/>
              <a:t>Specify time ranges directly in your search</a:t>
            </a:r>
          </a:p>
          <a:p>
            <a:r>
              <a:rPr lang="en-US" dirty="0"/>
              <a:t>For absolute ranges: </a:t>
            </a:r>
          </a:p>
          <a:p>
            <a:pPr marL="0" indent="0">
              <a:buNone/>
            </a:pPr>
            <a:endParaRPr lang="en-US" dirty="0"/>
          </a:p>
          <a:p>
            <a:pPr marL="0" indent="0">
              <a:buNone/>
            </a:pPr>
            <a:r>
              <a:rPr lang="en-US" sz="2000" dirty="0">
                <a:latin typeface="Courier"/>
              </a:rPr>
              <a:t>earliest=&lt;%m/%d/%Y:%H:%M:%S&gt; latest=&lt;%m/%d/%Y:%H:%M:%S&gt;</a:t>
            </a:r>
          </a:p>
          <a:p>
            <a:pPr marL="0" indent="0">
              <a:buNone/>
            </a:pPr>
            <a:r>
              <a:rPr lang="en-US" sz="2000" dirty="0">
                <a:latin typeface="Courier"/>
              </a:rPr>
              <a:t> </a:t>
            </a:r>
          </a:p>
          <a:p>
            <a:pPr marL="0" indent="0">
              <a:buNone/>
            </a:pPr>
            <a:r>
              <a:rPr lang="en-US" sz="2000" dirty="0">
                <a:latin typeface="Courier"/>
              </a:rPr>
              <a:t>earliest=01/14/2021:16:32:00 latest=07/14/2021:21:00:00</a:t>
            </a:r>
          </a:p>
          <a:p>
            <a:pPr marL="0" indent="0">
              <a:buNone/>
            </a:pPr>
            <a:endParaRPr lang="en-US" sz="2000" dirty="0">
              <a:latin typeface="Courier"/>
            </a:endParaRPr>
          </a:p>
        </p:txBody>
      </p:sp>
    </p:spTree>
    <p:extLst>
      <p:ext uri="{BB962C8B-B14F-4D97-AF65-F5344CB8AC3E}">
        <p14:creationId xmlns:p14="http://schemas.microsoft.com/office/powerpoint/2010/main" val="369686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81E3-1164-4F0C-AE4D-2689186EA731}"/>
              </a:ext>
            </a:extLst>
          </p:cNvPr>
          <p:cNvSpPr>
            <a:spLocks noGrp="1"/>
          </p:cNvSpPr>
          <p:nvPr>
            <p:ph type="title"/>
          </p:nvPr>
        </p:nvSpPr>
        <p:spPr/>
        <p:txBody>
          <a:bodyPr/>
          <a:lstStyle/>
          <a:p>
            <a:r>
              <a:rPr lang="en-US" dirty="0"/>
              <a:t>Specify Absolute Time Ranges Using SPL</a:t>
            </a:r>
          </a:p>
        </p:txBody>
      </p:sp>
      <p:sp>
        <p:nvSpPr>
          <p:cNvPr id="3" name="Content Placeholder 2">
            <a:extLst>
              <a:ext uri="{FF2B5EF4-FFF2-40B4-BE49-F238E27FC236}">
                <a16:creationId xmlns:a16="http://schemas.microsoft.com/office/drawing/2014/main" id="{8BEF94B1-EC3F-4010-9DF4-0B41095634FD}"/>
              </a:ext>
            </a:extLst>
          </p:cNvPr>
          <p:cNvSpPr>
            <a:spLocks noGrp="1"/>
          </p:cNvSpPr>
          <p:nvPr>
            <p:ph idx="1"/>
          </p:nvPr>
        </p:nvSpPr>
        <p:spPr/>
        <p:txBody>
          <a:bodyPr/>
          <a:lstStyle/>
          <a:p>
            <a:r>
              <a:rPr lang="en-US" dirty="0"/>
              <a:t>Specify time ranges directly in your search</a:t>
            </a:r>
          </a:p>
          <a:p>
            <a:r>
              <a:rPr lang="en-US" dirty="0"/>
              <a:t>For relative ranges: </a:t>
            </a:r>
          </a:p>
          <a:p>
            <a:pPr lvl="1"/>
            <a:r>
              <a:rPr lang="en-US" dirty="0"/>
              <a:t>+ or – to indicate the offset</a:t>
            </a:r>
          </a:p>
          <a:p>
            <a:pPr lvl="1"/>
            <a:r>
              <a:rPr lang="en-US" dirty="0"/>
              <a:t>Number</a:t>
            </a:r>
          </a:p>
          <a:p>
            <a:pPr lvl="1"/>
            <a:r>
              <a:rPr lang="en-US" dirty="0"/>
              <a:t>Time unit (years </a:t>
            </a:r>
            <a:r>
              <a:rPr lang="en-US" dirty="0">
                <a:latin typeface="Courier New" panose="02070309020205020404" pitchFamily="49" charset="0"/>
                <a:cs typeface="Courier New" panose="02070309020205020404" pitchFamily="49" charset="0"/>
              </a:rPr>
              <a:t>y</a:t>
            </a:r>
            <a:r>
              <a:rPr lang="en-US" dirty="0"/>
              <a:t>, quarters </a:t>
            </a:r>
            <a:r>
              <a:rPr lang="en-US" dirty="0">
                <a:latin typeface="Courier New" panose="02070309020205020404" pitchFamily="49" charset="0"/>
                <a:cs typeface="Courier New" panose="02070309020205020404" pitchFamily="49" charset="0"/>
              </a:rPr>
              <a:t>q</a:t>
            </a:r>
            <a:r>
              <a:rPr lang="en-US" dirty="0"/>
              <a:t>, months </a:t>
            </a:r>
            <a:r>
              <a:rPr lang="en-US" dirty="0">
                <a:latin typeface="Courier New" panose="02070309020205020404" pitchFamily="49" charset="0"/>
                <a:cs typeface="Courier New" panose="02070309020205020404" pitchFamily="49" charset="0"/>
              </a:rPr>
              <a:t>mon</a:t>
            </a:r>
            <a:r>
              <a:rPr lang="en-US" dirty="0">
                <a:latin typeface="Oxygen" panose="02000503000000000000" pitchFamily="2" charset="0"/>
                <a:cs typeface="Courier New" panose="02070309020205020404" pitchFamily="49" charset="0"/>
              </a:rPr>
              <a:t>,</a:t>
            </a:r>
            <a:r>
              <a:rPr lang="en-US" dirty="0"/>
              <a:t> weeks </a:t>
            </a:r>
            <a:r>
              <a:rPr lang="en-US" dirty="0">
                <a:latin typeface="Courier New" panose="02070309020205020404" pitchFamily="49" charset="0"/>
                <a:cs typeface="Courier New" panose="02070309020205020404" pitchFamily="49" charset="0"/>
              </a:rPr>
              <a:t>w</a:t>
            </a:r>
            <a:r>
              <a:rPr lang="en-US" dirty="0"/>
              <a:t>, days </a:t>
            </a:r>
            <a:r>
              <a:rPr lang="en-US" dirty="0">
                <a:latin typeface="Courier New" panose="02070309020205020404" pitchFamily="49" charset="0"/>
                <a:cs typeface="Courier New" panose="02070309020205020404" pitchFamily="49" charset="0"/>
              </a:rPr>
              <a:t>d</a:t>
            </a:r>
            <a:r>
              <a:rPr lang="en-US" dirty="0"/>
              <a:t>, hours </a:t>
            </a:r>
            <a:r>
              <a:rPr lang="en-US" dirty="0">
                <a:latin typeface="Courier New" panose="02070309020205020404" pitchFamily="49" charset="0"/>
                <a:cs typeface="Courier New" panose="02070309020205020404" pitchFamily="49" charset="0"/>
              </a:rPr>
              <a:t>h</a:t>
            </a:r>
            <a:r>
              <a:rPr lang="en-US" dirty="0"/>
              <a:t>, minutes </a:t>
            </a:r>
            <a:r>
              <a:rPr lang="en-US" dirty="0">
                <a:latin typeface="Courier New" panose="02070309020205020404" pitchFamily="49" charset="0"/>
                <a:cs typeface="Courier New" panose="02070309020205020404" pitchFamily="49" charset="0"/>
              </a:rPr>
              <a:t>m</a:t>
            </a:r>
            <a:r>
              <a:rPr lang="en-US" dirty="0"/>
              <a:t>, seconds </a:t>
            </a:r>
            <a:r>
              <a:rPr lang="en-US" dirty="0">
                <a:latin typeface="Courier New" panose="02070309020205020404" pitchFamily="49" charset="0"/>
                <a:cs typeface="Courier New" panose="02070309020205020404" pitchFamily="49" charset="0"/>
              </a:rPr>
              <a:t>s</a:t>
            </a:r>
            <a:r>
              <a:rPr lang="en-US" dirty="0"/>
              <a:t>)</a:t>
            </a:r>
          </a:p>
          <a:p>
            <a:pPr marL="457200" lvl="1" indent="0">
              <a:buNone/>
            </a:pPr>
            <a:endParaRPr lang="en-US" dirty="0"/>
          </a:p>
          <a:p>
            <a:pPr marL="0" indent="0">
              <a:buNone/>
            </a:pPr>
            <a:endParaRPr lang="en-US" dirty="0"/>
          </a:p>
          <a:p>
            <a:pPr marL="0" indent="0">
              <a:buNone/>
            </a:pPr>
            <a:endParaRPr lang="en-US" sz="2000" dirty="0">
              <a:latin typeface="Courier"/>
            </a:endParaRPr>
          </a:p>
        </p:txBody>
      </p:sp>
      <p:graphicFrame>
        <p:nvGraphicFramePr>
          <p:cNvPr id="4" name="Table 4">
            <a:extLst>
              <a:ext uri="{FF2B5EF4-FFF2-40B4-BE49-F238E27FC236}">
                <a16:creationId xmlns:a16="http://schemas.microsoft.com/office/drawing/2014/main" id="{CE6E16C9-53D7-400D-A110-9939F3B19BBF}"/>
              </a:ext>
            </a:extLst>
          </p:cNvPr>
          <p:cNvGraphicFramePr>
            <a:graphicFrameLocks noGrp="1"/>
          </p:cNvGraphicFramePr>
          <p:nvPr>
            <p:extLst>
              <p:ext uri="{D42A27DB-BD31-4B8C-83A1-F6EECF244321}">
                <p14:modId xmlns:p14="http://schemas.microsoft.com/office/powerpoint/2010/main" val="1026201153"/>
              </p:ext>
            </p:extLst>
          </p:nvPr>
        </p:nvGraphicFramePr>
        <p:xfrm>
          <a:off x="1643131" y="4615095"/>
          <a:ext cx="4101863" cy="1112520"/>
        </p:xfrm>
        <a:graphic>
          <a:graphicData uri="http://schemas.openxmlformats.org/drawingml/2006/table">
            <a:tbl>
              <a:tblPr firstRow="1" bandRow="1">
                <a:tableStyleId>{2D5ABB26-0587-4C30-8999-92F81FD0307C}</a:tableStyleId>
              </a:tblPr>
              <a:tblGrid>
                <a:gridCol w="1636959">
                  <a:extLst>
                    <a:ext uri="{9D8B030D-6E8A-4147-A177-3AD203B41FA5}">
                      <a16:colId xmlns:a16="http://schemas.microsoft.com/office/drawing/2014/main" val="3131199820"/>
                    </a:ext>
                  </a:extLst>
                </a:gridCol>
                <a:gridCol w="2464904">
                  <a:extLst>
                    <a:ext uri="{9D8B030D-6E8A-4147-A177-3AD203B41FA5}">
                      <a16:colId xmlns:a16="http://schemas.microsoft.com/office/drawing/2014/main" val="630798712"/>
                    </a:ext>
                  </a:extLst>
                </a:gridCol>
              </a:tblGrid>
              <a:tr h="370840">
                <a:tc>
                  <a:txBody>
                    <a:bodyPr/>
                    <a:lstStyle/>
                    <a:p>
                      <a:r>
                        <a:rPr lang="en-US" dirty="0">
                          <a:latin typeface="Courier New" panose="02070309020205020404" pitchFamily="49" charset="0"/>
                          <a:cs typeface="Courier New" panose="02070309020205020404" pitchFamily="49" charset="0"/>
                        </a:rPr>
                        <a:t>-30m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Courier New" panose="02070309020205020404" pitchFamily="49" charset="0"/>
                          <a:cs typeface="Courier New" panose="02070309020205020404" pitchFamily="49" charset="0"/>
                        </a:rPr>
                        <a:t>30 minutes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0117526"/>
                  </a:ext>
                </a:extLst>
              </a:tr>
              <a:tr h="370840">
                <a:tc>
                  <a:txBody>
                    <a:bodyPr/>
                    <a:lstStyle/>
                    <a:p>
                      <a:r>
                        <a:rPr lang="en-US" dirty="0">
                          <a:latin typeface="Courier New" panose="02070309020205020404" pitchFamily="49" charset="0"/>
                          <a:cs typeface="Courier New" panose="02070309020205020404" pitchFamily="49" charset="0"/>
                        </a:rPr>
                        <a:t>-7d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Courier New" panose="02070309020205020404" pitchFamily="49" charset="0"/>
                          <a:cs typeface="Courier New" panose="02070309020205020404" pitchFamily="49" charset="0"/>
                        </a:rPr>
                        <a:t>7 days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4548059"/>
                  </a:ext>
                </a:extLst>
              </a:tr>
              <a:tr h="370840">
                <a:tc>
                  <a:txBody>
                    <a:bodyPr/>
                    <a:lstStyle/>
                    <a:p>
                      <a:r>
                        <a:rPr lang="en-US" dirty="0">
                          <a:latin typeface="Courier New" panose="02070309020205020404" pitchFamily="49" charset="0"/>
                          <a:cs typeface="Courier New" panose="02070309020205020404" pitchFamily="49" charset="0"/>
                        </a:rPr>
                        <a:t>+1d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Courier New" panose="02070309020205020404" pitchFamily="49" charset="0"/>
                          <a:cs typeface="Courier New" panose="02070309020205020404" pitchFamily="49" charset="0"/>
                        </a:rPr>
                        <a:t>1 day from now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4508744"/>
                  </a:ext>
                </a:extLst>
              </a:tr>
            </a:tbl>
          </a:graphicData>
        </a:graphic>
      </p:graphicFrame>
    </p:spTree>
    <p:extLst>
      <p:ext uri="{BB962C8B-B14F-4D97-AF65-F5344CB8AC3E}">
        <p14:creationId xmlns:p14="http://schemas.microsoft.com/office/powerpoint/2010/main" val="69157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7CFC-C1ED-446D-B8E6-142DDCA46CC9}"/>
              </a:ext>
            </a:extLst>
          </p:cNvPr>
          <p:cNvSpPr>
            <a:spLocks noGrp="1"/>
          </p:cNvSpPr>
          <p:nvPr>
            <p:ph type="title"/>
          </p:nvPr>
        </p:nvSpPr>
        <p:spPr/>
        <p:txBody>
          <a:bodyPr/>
          <a:lstStyle/>
          <a:p>
            <a:r>
              <a:rPr lang="en-US" dirty="0"/>
              <a:t>Time Variables</a:t>
            </a:r>
          </a:p>
        </p:txBody>
      </p:sp>
      <p:sp>
        <p:nvSpPr>
          <p:cNvPr id="3" name="Content Placeholder 2">
            <a:extLst>
              <a:ext uri="{FF2B5EF4-FFF2-40B4-BE49-F238E27FC236}">
                <a16:creationId xmlns:a16="http://schemas.microsoft.com/office/drawing/2014/main" id="{89608FC9-3EDA-490F-ACD7-92231437D776}"/>
              </a:ext>
            </a:extLst>
          </p:cNvPr>
          <p:cNvSpPr>
            <a:spLocks noGrp="1"/>
          </p:cNvSpPr>
          <p:nvPr>
            <p:ph idx="1"/>
          </p:nvPr>
        </p:nvSpPr>
        <p:spPr/>
        <p:txBody>
          <a:bodyPr/>
          <a:lstStyle/>
          <a:p>
            <a:r>
              <a:rPr lang="en-US" dirty="0"/>
              <a:t>Format time using time variables</a:t>
            </a:r>
          </a:p>
          <a:p>
            <a:r>
              <a:rPr lang="en-US" dirty="0"/>
              <a:t>Useful when evaluating time and specifying time in SPL</a:t>
            </a:r>
          </a:p>
        </p:txBody>
      </p:sp>
      <p:graphicFrame>
        <p:nvGraphicFramePr>
          <p:cNvPr id="4" name="Table 4">
            <a:extLst>
              <a:ext uri="{FF2B5EF4-FFF2-40B4-BE49-F238E27FC236}">
                <a16:creationId xmlns:a16="http://schemas.microsoft.com/office/drawing/2014/main" id="{B2FCEC02-3C92-4FD3-B307-404248A4ED31}"/>
              </a:ext>
            </a:extLst>
          </p:cNvPr>
          <p:cNvGraphicFramePr>
            <a:graphicFrameLocks noGrp="1"/>
          </p:cNvGraphicFramePr>
          <p:nvPr>
            <p:extLst>
              <p:ext uri="{D42A27DB-BD31-4B8C-83A1-F6EECF244321}">
                <p14:modId xmlns:p14="http://schemas.microsoft.com/office/powerpoint/2010/main" val="3688356742"/>
              </p:ext>
            </p:extLst>
          </p:nvPr>
        </p:nvGraphicFramePr>
        <p:xfrm>
          <a:off x="1816179" y="3139134"/>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97351740"/>
                    </a:ext>
                  </a:extLst>
                </a:gridCol>
                <a:gridCol w="4064000">
                  <a:extLst>
                    <a:ext uri="{9D8B030D-6E8A-4147-A177-3AD203B41FA5}">
                      <a16:colId xmlns:a16="http://schemas.microsoft.com/office/drawing/2014/main" val="3014994432"/>
                    </a:ext>
                  </a:extLst>
                </a:gridCol>
              </a:tblGrid>
              <a:tr h="370840">
                <a:tc>
                  <a:txBody>
                    <a:bodyPr/>
                    <a:lstStyle/>
                    <a:p>
                      <a:r>
                        <a:rPr lang="en-US" dirty="0"/>
                        <a:t>Variable</a:t>
                      </a:r>
                    </a:p>
                  </a:txBody>
                  <a:tcPr/>
                </a:tc>
                <a:tc>
                  <a:txBody>
                    <a:bodyPr/>
                    <a:lstStyle/>
                    <a:p>
                      <a:r>
                        <a:rPr lang="en-US" dirty="0"/>
                        <a:t>Description</a:t>
                      </a:r>
                    </a:p>
                  </a:txBody>
                  <a:tcPr/>
                </a:tc>
                <a:extLst>
                  <a:ext uri="{0D108BD9-81ED-4DB2-BD59-A6C34878D82A}">
                    <a16:rowId xmlns:a16="http://schemas.microsoft.com/office/drawing/2014/main" val="3461428269"/>
                  </a:ext>
                </a:extLst>
              </a:tr>
              <a:tr h="370840">
                <a:tc>
                  <a:txBody>
                    <a:bodyPr/>
                    <a:lstStyle/>
                    <a:p>
                      <a:r>
                        <a:rPr lang="en-US" dirty="0"/>
                        <a:t>%c</a:t>
                      </a:r>
                    </a:p>
                  </a:txBody>
                  <a:tcPr/>
                </a:tc>
                <a:tc>
                  <a:txBody>
                    <a:bodyPr/>
                    <a:lstStyle/>
                    <a:p>
                      <a:r>
                        <a:rPr lang="en-US" dirty="0"/>
                        <a:t>Date and time in the format of the server</a:t>
                      </a:r>
                    </a:p>
                  </a:txBody>
                  <a:tcPr/>
                </a:tc>
                <a:extLst>
                  <a:ext uri="{0D108BD9-81ED-4DB2-BD59-A6C34878D82A}">
                    <a16:rowId xmlns:a16="http://schemas.microsoft.com/office/drawing/2014/main" val="444316747"/>
                  </a:ext>
                </a:extLst>
              </a:tr>
              <a:tr h="370840">
                <a:tc>
                  <a:txBody>
                    <a:bodyPr/>
                    <a:lstStyle/>
                    <a:p>
                      <a:r>
                        <a:rPr lang="en-US" dirty="0"/>
                        <a:t>%H</a:t>
                      </a:r>
                    </a:p>
                  </a:txBody>
                  <a:tcPr/>
                </a:tc>
                <a:tc>
                  <a:txBody>
                    <a:bodyPr/>
                    <a:lstStyle/>
                    <a:p>
                      <a:r>
                        <a:rPr lang="en-US" dirty="0"/>
                        <a:t>Hour (24-hour clock)</a:t>
                      </a:r>
                    </a:p>
                  </a:txBody>
                  <a:tcPr/>
                </a:tc>
                <a:extLst>
                  <a:ext uri="{0D108BD9-81ED-4DB2-BD59-A6C34878D82A}">
                    <a16:rowId xmlns:a16="http://schemas.microsoft.com/office/drawing/2014/main" val="998230673"/>
                  </a:ext>
                </a:extLst>
              </a:tr>
              <a:tr h="370840">
                <a:tc>
                  <a:txBody>
                    <a:bodyPr/>
                    <a:lstStyle/>
                    <a:p>
                      <a:r>
                        <a:rPr lang="en-US" dirty="0"/>
                        <a:t>%I</a:t>
                      </a:r>
                    </a:p>
                  </a:txBody>
                  <a:tcPr/>
                </a:tc>
                <a:tc>
                  <a:txBody>
                    <a:bodyPr/>
                    <a:lstStyle/>
                    <a:p>
                      <a:r>
                        <a:rPr lang="en-US" dirty="0"/>
                        <a:t>Hour (12-hour clock)</a:t>
                      </a:r>
                    </a:p>
                  </a:txBody>
                  <a:tcPr/>
                </a:tc>
                <a:extLst>
                  <a:ext uri="{0D108BD9-81ED-4DB2-BD59-A6C34878D82A}">
                    <a16:rowId xmlns:a16="http://schemas.microsoft.com/office/drawing/2014/main" val="3304184422"/>
                  </a:ext>
                </a:extLst>
              </a:tr>
              <a:tr h="370840">
                <a:tc>
                  <a:txBody>
                    <a:bodyPr/>
                    <a:lstStyle/>
                    <a:p>
                      <a:r>
                        <a:rPr lang="en-US" dirty="0"/>
                        <a:t>%M</a:t>
                      </a:r>
                    </a:p>
                  </a:txBody>
                  <a:tcPr/>
                </a:tc>
                <a:tc>
                  <a:txBody>
                    <a:bodyPr/>
                    <a:lstStyle/>
                    <a:p>
                      <a:r>
                        <a:rPr lang="en-US" dirty="0"/>
                        <a:t>Minutes (00 – 59)</a:t>
                      </a:r>
                    </a:p>
                  </a:txBody>
                  <a:tcPr/>
                </a:tc>
                <a:extLst>
                  <a:ext uri="{0D108BD9-81ED-4DB2-BD59-A6C34878D82A}">
                    <a16:rowId xmlns:a16="http://schemas.microsoft.com/office/drawing/2014/main" val="67595451"/>
                  </a:ext>
                </a:extLst>
              </a:tr>
              <a:tr h="370840">
                <a:tc>
                  <a:txBody>
                    <a:bodyPr/>
                    <a:lstStyle/>
                    <a:p>
                      <a:r>
                        <a:rPr lang="en-US" dirty="0"/>
                        <a:t>%p</a:t>
                      </a:r>
                    </a:p>
                  </a:txBody>
                  <a:tcPr/>
                </a:tc>
                <a:tc>
                  <a:txBody>
                    <a:bodyPr/>
                    <a:lstStyle/>
                    <a:p>
                      <a:r>
                        <a:rPr lang="en-US" dirty="0"/>
                        <a:t>AM or PM</a:t>
                      </a:r>
                    </a:p>
                  </a:txBody>
                  <a:tcPr/>
                </a:tc>
                <a:extLst>
                  <a:ext uri="{0D108BD9-81ED-4DB2-BD59-A6C34878D82A}">
                    <a16:rowId xmlns:a16="http://schemas.microsoft.com/office/drawing/2014/main" val="814698928"/>
                  </a:ext>
                </a:extLst>
              </a:tr>
              <a:tr h="370840">
                <a:tc>
                  <a:txBody>
                    <a:bodyPr/>
                    <a:lstStyle/>
                    <a:p>
                      <a:r>
                        <a:rPr lang="en-US" dirty="0"/>
                        <a:t>%S</a:t>
                      </a:r>
                    </a:p>
                  </a:txBody>
                  <a:tcPr/>
                </a:tc>
                <a:tc>
                  <a:txBody>
                    <a:bodyPr/>
                    <a:lstStyle/>
                    <a:p>
                      <a:r>
                        <a:rPr lang="en-US" dirty="0"/>
                        <a:t>Seconds (00 – 59)</a:t>
                      </a:r>
                    </a:p>
                  </a:txBody>
                  <a:tcPr/>
                </a:tc>
                <a:extLst>
                  <a:ext uri="{0D108BD9-81ED-4DB2-BD59-A6C34878D82A}">
                    <a16:rowId xmlns:a16="http://schemas.microsoft.com/office/drawing/2014/main" val="2141225660"/>
                  </a:ext>
                </a:extLst>
              </a:tr>
            </a:tbl>
          </a:graphicData>
        </a:graphic>
      </p:graphicFrame>
    </p:spTree>
    <p:extLst>
      <p:ext uri="{BB962C8B-B14F-4D97-AF65-F5344CB8AC3E}">
        <p14:creationId xmlns:p14="http://schemas.microsoft.com/office/powerpoint/2010/main" val="3304782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7CFC-C1ED-446D-B8E6-142DDCA46CC9}"/>
              </a:ext>
            </a:extLst>
          </p:cNvPr>
          <p:cNvSpPr>
            <a:spLocks noGrp="1"/>
          </p:cNvSpPr>
          <p:nvPr>
            <p:ph type="title"/>
          </p:nvPr>
        </p:nvSpPr>
        <p:spPr/>
        <p:txBody>
          <a:bodyPr/>
          <a:lstStyle/>
          <a:p>
            <a:r>
              <a:rPr lang="en-US" dirty="0"/>
              <a:t>Time Variables</a:t>
            </a:r>
          </a:p>
        </p:txBody>
      </p:sp>
      <p:sp>
        <p:nvSpPr>
          <p:cNvPr id="3" name="Content Placeholder 2">
            <a:extLst>
              <a:ext uri="{FF2B5EF4-FFF2-40B4-BE49-F238E27FC236}">
                <a16:creationId xmlns:a16="http://schemas.microsoft.com/office/drawing/2014/main" id="{89608FC9-3EDA-490F-ACD7-92231437D776}"/>
              </a:ext>
            </a:extLst>
          </p:cNvPr>
          <p:cNvSpPr>
            <a:spLocks noGrp="1"/>
          </p:cNvSpPr>
          <p:nvPr>
            <p:ph idx="1"/>
          </p:nvPr>
        </p:nvSpPr>
        <p:spPr/>
        <p:txBody>
          <a:bodyPr/>
          <a:lstStyle/>
          <a:p>
            <a:r>
              <a:rPr lang="en-US" dirty="0"/>
              <a:t>Format dates using variables</a:t>
            </a:r>
          </a:p>
        </p:txBody>
      </p:sp>
      <p:graphicFrame>
        <p:nvGraphicFramePr>
          <p:cNvPr id="4" name="Table 4">
            <a:extLst>
              <a:ext uri="{FF2B5EF4-FFF2-40B4-BE49-F238E27FC236}">
                <a16:creationId xmlns:a16="http://schemas.microsoft.com/office/drawing/2014/main" id="{B2FCEC02-3C92-4FD3-B307-404248A4ED31}"/>
              </a:ext>
            </a:extLst>
          </p:cNvPr>
          <p:cNvGraphicFramePr>
            <a:graphicFrameLocks noGrp="1"/>
          </p:cNvGraphicFramePr>
          <p:nvPr>
            <p:extLst>
              <p:ext uri="{D42A27DB-BD31-4B8C-83A1-F6EECF244321}">
                <p14:modId xmlns:p14="http://schemas.microsoft.com/office/powerpoint/2010/main" val="3008555579"/>
              </p:ext>
            </p:extLst>
          </p:nvPr>
        </p:nvGraphicFramePr>
        <p:xfrm>
          <a:off x="1872974" y="2656376"/>
          <a:ext cx="8128000" cy="3337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97351740"/>
                    </a:ext>
                  </a:extLst>
                </a:gridCol>
                <a:gridCol w="4064000">
                  <a:extLst>
                    <a:ext uri="{9D8B030D-6E8A-4147-A177-3AD203B41FA5}">
                      <a16:colId xmlns:a16="http://schemas.microsoft.com/office/drawing/2014/main" val="3014994432"/>
                    </a:ext>
                  </a:extLst>
                </a:gridCol>
              </a:tblGrid>
              <a:tr h="370840">
                <a:tc>
                  <a:txBody>
                    <a:bodyPr/>
                    <a:lstStyle/>
                    <a:p>
                      <a:r>
                        <a:rPr lang="en-US" dirty="0"/>
                        <a:t>Variable</a:t>
                      </a:r>
                    </a:p>
                  </a:txBody>
                  <a:tcPr/>
                </a:tc>
                <a:tc>
                  <a:txBody>
                    <a:bodyPr/>
                    <a:lstStyle/>
                    <a:p>
                      <a:r>
                        <a:rPr lang="en-US" dirty="0"/>
                        <a:t>Description</a:t>
                      </a:r>
                    </a:p>
                  </a:txBody>
                  <a:tcPr/>
                </a:tc>
                <a:extLst>
                  <a:ext uri="{0D108BD9-81ED-4DB2-BD59-A6C34878D82A}">
                    <a16:rowId xmlns:a16="http://schemas.microsoft.com/office/drawing/2014/main" val="3461428269"/>
                  </a:ext>
                </a:extLst>
              </a:tr>
              <a:tr h="370840">
                <a:tc>
                  <a:txBody>
                    <a:bodyPr/>
                    <a:lstStyle/>
                    <a:p>
                      <a:r>
                        <a:rPr lang="en-US" dirty="0"/>
                        <a:t>%F</a:t>
                      </a:r>
                    </a:p>
                  </a:txBody>
                  <a:tcPr/>
                </a:tc>
                <a:tc>
                  <a:txBody>
                    <a:bodyPr/>
                    <a:lstStyle/>
                    <a:p>
                      <a:r>
                        <a:rPr lang="en-US" dirty="0"/>
                        <a:t>Date in ISO 8601 format (</a:t>
                      </a:r>
                      <a:r>
                        <a:rPr lang="en-US" dirty="0" err="1"/>
                        <a:t>yyyy</a:t>
                      </a:r>
                      <a:r>
                        <a:rPr lang="en-US" dirty="0"/>
                        <a:t>-mm-dd)</a:t>
                      </a:r>
                    </a:p>
                  </a:txBody>
                  <a:tcPr/>
                </a:tc>
                <a:extLst>
                  <a:ext uri="{0D108BD9-81ED-4DB2-BD59-A6C34878D82A}">
                    <a16:rowId xmlns:a16="http://schemas.microsoft.com/office/drawing/2014/main" val="444316747"/>
                  </a:ext>
                </a:extLst>
              </a:tr>
              <a:tr h="370840">
                <a:tc>
                  <a:txBody>
                    <a:bodyPr/>
                    <a:lstStyle/>
                    <a:p>
                      <a:r>
                        <a:rPr lang="en-US" dirty="0"/>
                        <a:t>%A</a:t>
                      </a:r>
                    </a:p>
                  </a:txBody>
                  <a:tcPr/>
                </a:tc>
                <a:tc>
                  <a:txBody>
                    <a:bodyPr/>
                    <a:lstStyle/>
                    <a:p>
                      <a:r>
                        <a:rPr lang="en-US" dirty="0"/>
                        <a:t>Full weekday name (Monday)</a:t>
                      </a:r>
                    </a:p>
                  </a:txBody>
                  <a:tcPr/>
                </a:tc>
                <a:extLst>
                  <a:ext uri="{0D108BD9-81ED-4DB2-BD59-A6C34878D82A}">
                    <a16:rowId xmlns:a16="http://schemas.microsoft.com/office/drawing/2014/main" val="998230673"/>
                  </a:ext>
                </a:extLst>
              </a:tr>
              <a:tr h="370840">
                <a:tc>
                  <a:txBody>
                    <a:bodyPr/>
                    <a:lstStyle/>
                    <a:p>
                      <a:r>
                        <a:rPr lang="en-US" dirty="0"/>
                        <a:t>%d</a:t>
                      </a:r>
                    </a:p>
                  </a:txBody>
                  <a:tcPr/>
                </a:tc>
                <a:tc>
                  <a:txBody>
                    <a:bodyPr/>
                    <a:lstStyle/>
                    <a:p>
                      <a:r>
                        <a:rPr lang="en-US" dirty="0"/>
                        <a:t>Day of month (01 – 31)</a:t>
                      </a:r>
                    </a:p>
                  </a:txBody>
                  <a:tcPr/>
                </a:tc>
                <a:extLst>
                  <a:ext uri="{0D108BD9-81ED-4DB2-BD59-A6C34878D82A}">
                    <a16:rowId xmlns:a16="http://schemas.microsoft.com/office/drawing/2014/main" val="3304184422"/>
                  </a:ext>
                </a:extLst>
              </a:tr>
              <a:tr h="370840">
                <a:tc>
                  <a:txBody>
                    <a:bodyPr/>
                    <a:lstStyle/>
                    <a:p>
                      <a:r>
                        <a:rPr lang="en-US" dirty="0"/>
                        <a:t>%j</a:t>
                      </a:r>
                    </a:p>
                  </a:txBody>
                  <a:tcPr/>
                </a:tc>
                <a:tc>
                  <a:txBody>
                    <a:bodyPr/>
                    <a:lstStyle/>
                    <a:p>
                      <a:r>
                        <a:rPr lang="en-US" dirty="0"/>
                        <a:t>Day of year</a:t>
                      </a:r>
                    </a:p>
                  </a:txBody>
                  <a:tcPr/>
                </a:tc>
                <a:extLst>
                  <a:ext uri="{0D108BD9-81ED-4DB2-BD59-A6C34878D82A}">
                    <a16:rowId xmlns:a16="http://schemas.microsoft.com/office/drawing/2014/main" val="67595451"/>
                  </a:ext>
                </a:extLst>
              </a:tr>
              <a:tr h="370840">
                <a:tc>
                  <a:txBody>
                    <a:bodyPr/>
                    <a:lstStyle/>
                    <a:p>
                      <a:r>
                        <a:rPr lang="en-US" dirty="0"/>
                        <a:t>%B</a:t>
                      </a:r>
                    </a:p>
                  </a:txBody>
                  <a:tcPr/>
                </a:tc>
                <a:tc>
                  <a:txBody>
                    <a:bodyPr/>
                    <a:lstStyle/>
                    <a:p>
                      <a:r>
                        <a:rPr lang="en-US" dirty="0"/>
                        <a:t>Full month name (January)</a:t>
                      </a:r>
                    </a:p>
                  </a:txBody>
                  <a:tcPr/>
                </a:tc>
                <a:extLst>
                  <a:ext uri="{0D108BD9-81ED-4DB2-BD59-A6C34878D82A}">
                    <a16:rowId xmlns:a16="http://schemas.microsoft.com/office/drawing/2014/main" val="814698928"/>
                  </a:ext>
                </a:extLst>
              </a:tr>
              <a:tr h="370840">
                <a:tc>
                  <a:txBody>
                    <a:bodyPr/>
                    <a:lstStyle/>
                    <a:p>
                      <a:r>
                        <a:rPr lang="en-US" dirty="0"/>
                        <a:t>%m</a:t>
                      </a:r>
                    </a:p>
                  </a:txBody>
                  <a:tcPr/>
                </a:tc>
                <a:tc>
                  <a:txBody>
                    <a:bodyPr/>
                    <a:lstStyle/>
                    <a:p>
                      <a:r>
                        <a:rPr lang="en-US" dirty="0"/>
                        <a:t>Month (01 – 12)</a:t>
                      </a:r>
                    </a:p>
                  </a:txBody>
                  <a:tcPr/>
                </a:tc>
                <a:extLst>
                  <a:ext uri="{0D108BD9-81ED-4DB2-BD59-A6C34878D82A}">
                    <a16:rowId xmlns:a16="http://schemas.microsoft.com/office/drawing/2014/main" val="2141225660"/>
                  </a:ext>
                </a:extLst>
              </a:tr>
              <a:tr h="370840">
                <a:tc>
                  <a:txBody>
                    <a:bodyPr/>
                    <a:lstStyle/>
                    <a:p>
                      <a:r>
                        <a:rPr lang="en-US" dirty="0"/>
                        <a:t>%y</a:t>
                      </a:r>
                    </a:p>
                  </a:txBody>
                  <a:tcPr/>
                </a:tc>
                <a:tc>
                  <a:txBody>
                    <a:bodyPr/>
                    <a:lstStyle/>
                    <a:p>
                      <a:r>
                        <a:rPr lang="en-US" dirty="0"/>
                        <a:t>Year as a two-digit number (00 – 99)</a:t>
                      </a:r>
                    </a:p>
                  </a:txBody>
                  <a:tcPr/>
                </a:tc>
                <a:extLst>
                  <a:ext uri="{0D108BD9-81ED-4DB2-BD59-A6C34878D82A}">
                    <a16:rowId xmlns:a16="http://schemas.microsoft.com/office/drawing/2014/main" val="1873638222"/>
                  </a:ext>
                </a:extLst>
              </a:tr>
              <a:tr h="370840">
                <a:tc>
                  <a:txBody>
                    <a:bodyPr/>
                    <a:lstStyle/>
                    <a:p>
                      <a:r>
                        <a:rPr lang="en-US" dirty="0"/>
                        <a:t>%Y</a:t>
                      </a:r>
                    </a:p>
                  </a:txBody>
                  <a:tcPr/>
                </a:tc>
                <a:tc>
                  <a:txBody>
                    <a:bodyPr/>
                    <a:lstStyle/>
                    <a:p>
                      <a:r>
                        <a:rPr lang="en-US" dirty="0"/>
                        <a:t>Year as a four-digit number (</a:t>
                      </a:r>
                      <a:r>
                        <a:rPr lang="en-US" dirty="0" err="1"/>
                        <a:t>yyyy</a:t>
                      </a:r>
                      <a:r>
                        <a:rPr lang="en-US" dirty="0"/>
                        <a:t>)</a:t>
                      </a:r>
                    </a:p>
                  </a:txBody>
                  <a:tcPr/>
                </a:tc>
                <a:extLst>
                  <a:ext uri="{0D108BD9-81ED-4DB2-BD59-A6C34878D82A}">
                    <a16:rowId xmlns:a16="http://schemas.microsoft.com/office/drawing/2014/main" val="2203021909"/>
                  </a:ext>
                </a:extLst>
              </a:tr>
            </a:tbl>
          </a:graphicData>
        </a:graphic>
      </p:graphicFrame>
    </p:spTree>
    <p:extLst>
      <p:ext uri="{BB962C8B-B14F-4D97-AF65-F5344CB8AC3E}">
        <p14:creationId xmlns:p14="http://schemas.microsoft.com/office/powerpoint/2010/main" val="4104741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C4DA-4245-7C4B-B9CB-4DC1E73AB1C8}"/>
              </a:ext>
            </a:extLst>
          </p:cNvPr>
          <p:cNvSpPr>
            <a:spLocks noGrp="1"/>
          </p:cNvSpPr>
          <p:nvPr>
            <p:ph type="title"/>
          </p:nvPr>
        </p:nvSpPr>
        <p:spPr/>
        <p:txBody>
          <a:bodyPr/>
          <a:lstStyle/>
          <a:p>
            <a:r>
              <a:rPr lang="en-US" dirty="0"/>
              <a:t>Converting Time Using </a:t>
            </a:r>
            <a:r>
              <a:rPr lang="en-US" dirty="0" err="1">
                <a:latin typeface="Courier New" panose="02070309020205020404" pitchFamily="49" charset="0"/>
                <a:cs typeface="Courier New" panose="02070309020205020404" pitchFamily="49" charset="0"/>
              </a:rPr>
              <a:t>strftime</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E9DDB589-029D-7C4E-83D7-4E9C1252C8DF}"/>
              </a:ext>
            </a:extLst>
          </p:cNvPr>
          <p:cNvSpPr>
            <a:spLocks noGrp="1"/>
          </p:cNvSpPr>
          <p:nvPr>
            <p:ph idx="1"/>
          </p:nvPr>
        </p:nvSpPr>
        <p:spPr/>
        <p:txBody>
          <a:bodyPr/>
          <a:lstStyle/>
          <a:p>
            <a:r>
              <a:rPr lang="en-US" dirty="0"/>
              <a:t>We can convert time into the format we want during search time using and </a:t>
            </a:r>
            <a:r>
              <a:rPr lang="en-US" dirty="0">
                <a:latin typeface="Courier New" panose="02070309020205020404" pitchFamily="49" charset="0"/>
                <a:cs typeface="Courier New" panose="02070309020205020404" pitchFamily="49" charset="0"/>
              </a:rPr>
              <a:t>eval</a:t>
            </a:r>
            <a:r>
              <a:rPr lang="en-US" dirty="0"/>
              <a:t> expression, </a:t>
            </a:r>
            <a:r>
              <a:rPr lang="en-US" dirty="0" err="1">
                <a:latin typeface="Courier New" panose="02070309020205020404" pitchFamily="49" charset="0"/>
                <a:cs typeface="Courier New" panose="02070309020205020404" pitchFamily="49" charset="0"/>
              </a:rPr>
              <a:t>strftime</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and time variables</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on the</a:t>
            </a:r>
            <a:r>
              <a:rPr lang="en-US" dirty="0">
                <a:latin typeface="Courier New" panose="02070309020205020404" pitchFamily="49" charset="0"/>
                <a:cs typeface="Courier New" panose="02070309020205020404" pitchFamily="49" charset="0"/>
              </a:rPr>
              <a:t> _time </a:t>
            </a:r>
            <a:r>
              <a:rPr lang="en-US" dirty="0">
                <a:cs typeface="Courier New" panose="02070309020205020404" pitchFamily="49" charset="0"/>
              </a:rPr>
              <a:t>field</a:t>
            </a:r>
          </a:p>
          <a:p>
            <a:pPr marL="0" indent="0">
              <a:buNone/>
            </a:pPr>
            <a:endParaRPr lang="en-US" dirty="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eval &lt;new field&gt; = </a:t>
            </a:r>
            <a:r>
              <a:rPr lang="en-US" sz="2400" dirty="0" err="1">
                <a:latin typeface="Courier New" panose="02070309020205020404" pitchFamily="49" charset="0"/>
                <a:cs typeface="Courier New" panose="02070309020205020404" pitchFamily="49" charset="0"/>
              </a:rPr>
              <a:t>strftime</a:t>
            </a:r>
            <a:r>
              <a:rPr lang="en-US" sz="2400" dirty="0">
                <a:latin typeface="Courier New" panose="02070309020205020404" pitchFamily="49" charset="0"/>
                <a:cs typeface="Courier New" panose="02070309020205020404" pitchFamily="49" charset="0"/>
              </a:rPr>
              <a:t>(&lt;time field&gt;, “&lt;format&gt;”)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eval </a:t>
            </a:r>
            <a:r>
              <a:rPr lang="en-US" sz="2400" dirty="0" err="1">
                <a:latin typeface="Courier New" panose="02070309020205020404" pitchFamily="49" charset="0"/>
                <a:cs typeface="Courier New" panose="02070309020205020404" pitchFamily="49" charset="0"/>
              </a:rPr>
              <a:t>New_Time</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strftime</a:t>
            </a:r>
            <a:r>
              <a:rPr lang="en-US" sz="2400" dirty="0">
                <a:latin typeface="Courier New" panose="02070309020205020404" pitchFamily="49" charset="0"/>
                <a:cs typeface="Courier New" panose="02070309020205020404" pitchFamily="49" charset="0"/>
              </a:rPr>
              <a:t>(_time, “%I:%M, %p”)</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endParaRPr lang="en-US" dirty="0"/>
          </a:p>
        </p:txBody>
      </p:sp>
      <p:graphicFrame>
        <p:nvGraphicFramePr>
          <p:cNvPr id="4" name="Table 4">
            <a:extLst>
              <a:ext uri="{FF2B5EF4-FFF2-40B4-BE49-F238E27FC236}">
                <a16:creationId xmlns:a16="http://schemas.microsoft.com/office/drawing/2014/main" id="{F66CAC64-02F6-4BCC-890B-29CE7A593D55}"/>
              </a:ext>
            </a:extLst>
          </p:cNvPr>
          <p:cNvGraphicFramePr>
            <a:graphicFrameLocks noGrp="1"/>
          </p:cNvGraphicFramePr>
          <p:nvPr>
            <p:extLst>
              <p:ext uri="{D42A27DB-BD31-4B8C-83A1-F6EECF244321}">
                <p14:modId xmlns:p14="http://schemas.microsoft.com/office/powerpoint/2010/main" val="3238325064"/>
              </p:ext>
            </p:extLst>
          </p:nvPr>
        </p:nvGraphicFramePr>
        <p:xfrm>
          <a:off x="6917662" y="5435283"/>
          <a:ext cx="1593702" cy="741680"/>
        </p:xfrm>
        <a:graphic>
          <a:graphicData uri="http://schemas.openxmlformats.org/drawingml/2006/table">
            <a:tbl>
              <a:tblPr firstRow="1" bandRow="1">
                <a:tableStyleId>{5C22544A-7EE6-4342-B048-85BDC9FD1C3A}</a:tableStyleId>
              </a:tblPr>
              <a:tblGrid>
                <a:gridCol w="1593702">
                  <a:extLst>
                    <a:ext uri="{9D8B030D-6E8A-4147-A177-3AD203B41FA5}">
                      <a16:colId xmlns:a16="http://schemas.microsoft.com/office/drawing/2014/main" val="1530499081"/>
                    </a:ext>
                  </a:extLst>
                </a:gridCol>
              </a:tblGrid>
              <a:tr h="370840">
                <a:tc>
                  <a:txBody>
                    <a:bodyPr/>
                    <a:lstStyle/>
                    <a:p>
                      <a:r>
                        <a:rPr lang="en-US" dirty="0" err="1"/>
                        <a:t>New_Time</a:t>
                      </a:r>
                      <a:endParaRPr lang="en-US" dirty="0"/>
                    </a:p>
                  </a:txBody>
                  <a:tcPr/>
                </a:tc>
                <a:extLst>
                  <a:ext uri="{0D108BD9-81ED-4DB2-BD59-A6C34878D82A}">
                    <a16:rowId xmlns:a16="http://schemas.microsoft.com/office/drawing/2014/main" val="1176119801"/>
                  </a:ext>
                </a:extLst>
              </a:tr>
              <a:tr h="370840">
                <a:tc>
                  <a:txBody>
                    <a:bodyPr/>
                    <a:lstStyle/>
                    <a:p>
                      <a:r>
                        <a:rPr lang="en-US" dirty="0"/>
                        <a:t>1:05, PM</a:t>
                      </a:r>
                    </a:p>
                  </a:txBody>
                  <a:tcPr/>
                </a:tc>
                <a:extLst>
                  <a:ext uri="{0D108BD9-81ED-4DB2-BD59-A6C34878D82A}">
                    <a16:rowId xmlns:a16="http://schemas.microsoft.com/office/drawing/2014/main" val="3922563436"/>
                  </a:ext>
                </a:extLst>
              </a:tr>
            </a:tbl>
          </a:graphicData>
        </a:graphic>
      </p:graphicFrame>
      <p:graphicFrame>
        <p:nvGraphicFramePr>
          <p:cNvPr id="6" name="Table 4">
            <a:extLst>
              <a:ext uri="{FF2B5EF4-FFF2-40B4-BE49-F238E27FC236}">
                <a16:creationId xmlns:a16="http://schemas.microsoft.com/office/drawing/2014/main" id="{25427B5B-4357-4576-825F-4E305D8D9279}"/>
              </a:ext>
            </a:extLst>
          </p:cNvPr>
          <p:cNvGraphicFramePr>
            <a:graphicFrameLocks noGrp="1"/>
          </p:cNvGraphicFramePr>
          <p:nvPr>
            <p:extLst>
              <p:ext uri="{D42A27DB-BD31-4B8C-83A1-F6EECF244321}">
                <p14:modId xmlns:p14="http://schemas.microsoft.com/office/powerpoint/2010/main" val="4013666666"/>
              </p:ext>
            </p:extLst>
          </p:nvPr>
        </p:nvGraphicFramePr>
        <p:xfrm>
          <a:off x="3489843" y="5435283"/>
          <a:ext cx="1593702" cy="741680"/>
        </p:xfrm>
        <a:graphic>
          <a:graphicData uri="http://schemas.openxmlformats.org/drawingml/2006/table">
            <a:tbl>
              <a:tblPr firstRow="1" bandRow="1">
                <a:tableStyleId>{5940675A-B579-460E-94D1-54222C63F5DA}</a:tableStyleId>
              </a:tblPr>
              <a:tblGrid>
                <a:gridCol w="1593702">
                  <a:extLst>
                    <a:ext uri="{9D8B030D-6E8A-4147-A177-3AD203B41FA5}">
                      <a16:colId xmlns:a16="http://schemas.microsoft.com/office/drawing/2014/main" val="1530499081"/>
                    </a:ext>
                  </a:extLst>
                </a:gridCol>
              </a:tblGrid>
              <a:tr h="370840">
                <a:tc>
                  <a:txBody>
                    <a:bodyPr/>
                    <a:lstStyle/>
                    <a:p>
                      <a:r>
                        <a:rPr lang="en-US" dirty="0"/>
                        <a:t>_time</a:t>
                      </a:r>
                    </a:p>
                  </a:txBody>
                  <a:tcPr/>
                </a:tc>
                <a:extLst>
                  <a:ext uri="{0D108BD9-81ED-4DB2-BD59-A6C34878D82A}">
                    <a16:rowId xmlns:a16="http://schemas.microsoft.com/office/drawing/2014/main" val="1176119801"/>
                  </a:ext>
                </a:extLst>
              </a:tr>
              <a:tr h="370840">
                <a:tc>
                  <a:txBody>
                    <a:bodyPr/>
                    <a:lstStyle/>
                    <a:p>
                      <a:r>
                        <a:rPr lang="en-US" dirty="0"/>
                        <a:t>160617990</a:t>
                      </a:r>
                    </a:p>
                  </a:txBody>
                  <a:tcPr/>
                </a:tc>
                <a:extLst>
                  <a:ext uri="{0D108BD9-81ED-4DB2-BD59-A6C34878D82A}">
                    <a16:rowId xmlns:a16="http://schemas.microsoft.com/office/drawing/2014/main" val="3922563436"/>
                  </a:ext>
                </a:extLst>
              </a:tr>
            </a:tbl>
          </a:graphicData>
        </a:graphic>
      </p:graphicFrame>
      <p:cxnSp>
        <p:nvCxnSpPr>
          <p:cNvPr id="8" name="Straight Arrow Connector 7">
            <a:extLst>
              <a:ext uri="{FF2B5EF4-FFF2-40B4-BE49-F238E27FC236}">
                <a16:creationId xmlns:a16="http://schemas.microsoft.com/office/drawing/2014/main" id="{6C6D7028-31C6-413E-994C-02678C80BCF5}"/>
              </a:ext>
            </a:extLst>
          </p:cNvPr>
          <p:cNvCxnSpPr/>
          <p:nvPr/>
        </p:nvCxnSpPr>
        <p:spPr>
          <a:xfrm>
            <a:off x="5199321" y="5806123"/>
            <a:ext cx="1461977" cy="139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174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D9D44-A694-4B2E-9FAF-E9B1610ED1C4}"/>
              </a:ext>
            </a:extLst>
          </p:cNvPr>
          <p:cNvSpPr>
            <a:spLocks noGrp="1"/>
          </p:cNvSpPr>
          <p:nvPr>
            <p:ph type="title"/>
          </p:nvPr>
        </p:nvSpPr>
        <p:spPr/>
        <p:txBody>
          <a:bodyPr/>
          <a:lstStyle/>
          <a:p>
            <a:r>
              <a:rPr lang="en-US" dirty="0"/>
              <a:t>POP QUIZ!</a:t>
            </a:r>
          </a:p>
        </p:txBody>
      </p:sp>
      <p:graphicFrame>
        <p:nvGraphicFramePr>
          <p:cNvPr id="4" name="Table 4">
            <a:extLst>
              <a:ext uri="{FF2B5EF4-FFF2-40B4-BE49-F238E27FC236}">
                <a16:creationId xmlns:a16="http://schemas.microsoft.com/office/drawing/2014/main" id="{BBEEF7A6-371D-462F-A290-C6A448AE2E1F}"/>
              </a:ext>
            </a:extLst>
          </p:cNvPr>
          <p:cNvGraphicFramePr>
            <a:graphicFrameLocks noGrp="1"/>
          </p:cNvGraphicFramePr>
          <p:nvPr>
            <p:extLst>
              <p:ext uri="{D42A27DB-BD31-4B8C-83A1-F6EECF244321}">
                <p14:modId xmlns:p14="http://schemas.microsoft.com/office/powerpoint/2010/main" val="1899266283"/>
              </p:ext>
            </p:extLst>
          </p:nvPr>
        </p:nvGraphicFramePr>
        <p:xfrm>
          <a:off x="1901371" y="3098248"/>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43614609"/>
                    </a:ext>
                  </a:extLst>
                </a:gridCol>
                <a:gridCol w="4064000">
                  <a:extLst>
                    <a:ext uri="{9D8B030D-6E8A-4147-A177-3AD203B41FA5}">
                      <a16:colId xmlns:a16="http://schemas.microsoft.com/office/drawing/2014/main" val="1552125428"/>
                    </a:ext>
                  </a:extLst>
                </a:gridCol>
              </a:tblGrid>
              <a:tr h="370840">
                <a:tc>
                  <a:txBody>
                    <a:bodyPr/>
                    <a:lstStyle/>
                    <a:p>
                      <a:r>
                        <a:rPr lang="en-US" dirty="0"/>
                        <a:t>String</a:t>
                      </a:r>
                    </a:p>
                  </a:txBody>
                  <a:tcPr/>
                </a:tc>
                <a:tc>
                  <a:txBody>
                    <a:bodyPr/>
                    <a:lstStyle/>
                    <a:p>
                      <a:r>
                        <a:rPr lang="en-US" dirty="0"/>
                        <a:t>Answer</a:t>
                      </a:r>
                    </a:p>
                  </a:txBody>
                  <a:tcPr/>
                </a:tc>
                <a:extLst>
                  <a:ext uri="{0D108BD9-81ED-4DB2-BD59-A6C34878D82A}">
                    <a16:rowId xmlns:a16="http://schemas.microsoft.com/office/drawing/2014/main" val="1346869476"/>
                  </a:ext>
                </a:extLst>
              </a:tr>
              <a:tr h="370840">
                <a:tc>
                  <a:txBody>
                    <a:bodyPr/>
                    <a:lstStyle/>
                    <a:p>
                      <a:r>
                        <a:rPr lang="en-US" dirty="0"/>
                        <a:t>%A, %B %d, %Y - %I:%M %p</a:t>
                      </a:r>
                    </a:p>
                  </a:txBody>
                  <a:tcPr/>
                </a:tc>
                <a:tc>
                  <a:txBody>
                    <a:bodyPr/>
                    <a:lstStyle/>
                    <a:p>
                      <a:r>
                        <a:rPr lang="en-US" dirty="0"/>
                        <a:t>Monday, January 01, 1900 – 5:00 PM</a:t>
                      </a:r>
                    </a:p>
                  </a:txBody>
                  <a:tcPr/>
                </a:tc>
                <a:extLst>
                  <a:ext uri="{0D108BD9-81ED-4DB2-BD59-A6C34878D82A}">
                    <a16:rowId xmlns:a16="http://schemas.microsoft.com/office/drawing/2014/main" val="1832557161"/>
                  </a:ext>
                </a:extLst>
              </a:tr>
            </a:tbl>
          </a:graphicData>
        </a:graphic>
      </p:graphicFrame>
      <p:sp>
        <p:nvSpPr>
          <p:cNvPr id="5" name="TextBox 4">
            <a:extLst>
              <a:ext uri="{FF2B5EF4-FFF2-40B4-BE49-F238E27FC236}">
                <a16:creationId xmlns:a16="http://schemas.microsoft.com/office/drawing/2014/main" id="{A5CC7D3E-C3F6-494D-9E51-8C7CE04EBABB}"/>
              </a:ext>
            </a:extLst>
          </p:cNvPr>
          <p:cNvSpPr txBox="1"/>
          <p:nvPr/>
        </p:nvSpPr>
        <p:spPr>
          <a:xfrm>
            <a:off x="965516" y="1737928"/>
            <a:ext cx="10414582" cy="369332"/>
          </a:xfrm>
          <a:prstGeom prst="rect">
            <a:avLst/>
          </a:prstGeom>
          <a:noFill/>
        </p:spPr>
        <p:txBody>
          <a:bodyPr wrap="none" rtlCol="0">
            <a:spAutoFit/>
          </a:bodyPr>
          <a:lstStyle/>
          <a:p>
            <a:r>
              <a:rPr lang="en-US" dirty="0"/>
              <a:t>It is currently Monday, January 1</a:t>
            </a:r>
            <a:r>
              <a:rPr lang="en-US" baseline="30000" dirty="0"/>
              <a:t>st</a:t>
            </a:r>
            <a:r>
              <a:rPr lang="en-US" dirty="0"/>
              <a:t>, 1900 at 5:00 PM. How will the following string format this time and date?</a:t>
            </a:r>
          </a:p>
        </p:txBody>
      </p:sp>
      <p:sp>
        <p:nvSpPr>
          <p:cNvPr id="6" name="Rectangle 5">
            <a:extLst>
              <a:ext uri="{FF2B5EF4-FFF2-40B4-BE49-F238E27FC236}">
                <a16:creationId xmlns:a16="http://schemas.microsoft.com/office/drawing/2014/main" id="{F1DF4515-F535-48B3-8C0B-EAAC49BDD2E7}"/>
              </a:ext>
            </a:extLst>
          </p:cNvPr>
          <p:cNvSpPr/>
          <p:nvPr/>
        </p:nvSpPr>
        <p:spPr>
          <a:xfrm>
            <a:off x="6025952" y="3469088"/>
            <a:ext cx="4003419" cy="3708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199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ECC36-89AA-C743-8F97-A3D14E7B41A4}"/>
              </a:ext>
            </a:extLst>
          </p:cNvPr>
          <p:cNvSpPr>
            <a:spLocks noGrp="1"/>
          </p:cNvSpPr>
          <p:nvPr>
            <p:ph type="ctrTitle"/>
          </p:nvPr>
        </p:nvSpPr>
        <p:spPr/>
        <p:txBody>
          <a:bodyPr/>
          <a:lstStyle/>
          <a:p>
            <a:r>
              <a:rPr lang="en-US" dirty="0"/>
              <a:t>Basic Searching</a:t>
            </a:r>
          </a:p>
        </p:txBody>
      </p:sp>
    </p:spTree>
    <p:extLst>
      <p:ext uri="{BB962C8B-B14F-4D97-AF65-F5344CB8AC3E}">
        <p14:creationId xmlns:p14="http://schemas.microsoft.com/office/powerpoint/2010/main" val="1455346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Basic Searching</a:t>
            </a:r>
            <a:endParaRPr lang="en-US" dirty="0"/>
          </a:p>
        </p:txBody>
      </p:sp>
      <p:sp>
        <p:nvSpPr>
          <p:cNvPr id="3" name="Content Placeholder 2"/>
          <p:cNvSpPr>
            <a:spLocks noGrp="1"/>
          </p:cNvSpPr>
          <p:nvPr>
            <p:ph idx="1"/>
          </p:nvPr>
        </p:nvSpPr>
        <p:spPr>
          <a:xfrm>
            <a:off x="838200" y="2355390"/>
            <a:ext cx="9677400" cy="3291807"/>
          </a:xfrm>
        </p:spPr>
        <p:txBody>
          <a:bodyPr>
            <a:normAutofit/>
          </a:bodyPr>
          <a:lstStyle/>
          <a:p>
            <a:r>
              <a:rPr lang="en-US" dirty="0">
                <a:latin typeface="Oxygen" charset="0"/>
                <a:ea typeface="Oxygen" charset="0"/>
                <a:cs typeface="Oxygen" charset="0"/>
              </a:rPr>
              <a:t>Index</a:t>
            </a:r>
          </a:p>
          <a:p>
            <a:pPr lvl="1"/>
            <a:r>
              <a:rPr lang="en-US" dirty="0">
                <a:latin typeface="Courier New" panose="02070309020205020404" pitchFamily="49" charset="0"/>
                <a:ea typeface="Oxygen" charset="0"/>
                <a:cs typeface="Courier New" panose="02070309020205020404" pitchFamily="49" charset="0"/>
              </a:rPr>
              <a:t>index = main, index = default</a:t>
            </a:r>
          </a:p>
          <a:p>
            <a:r>
              <a:rPr lang="en-US" dirty="0">
                <a:latin typeface="Oxygen" charset="0"/>
                <a:ea typeface="Oxygen" charset="0"/>
                <a:cs typeface="Oxygen" charset="0"/>
              </a:rPr>
              <a:t>Host</a:t>
            </a:r>
          </a:p>
          <a:p>
            <a:pPr lvl="1"/>
            <a:r>
              <a:rPr lang="en-US" dirty="0">
                <a:latin typeface="Courier New" panose="02070309020205020404" pitchFamily="49" charset="0"/>
                <a:ea typeface="Consolas" charset="0"/>
                <a:cs typeface="Courier New" panose="02070309020205020404" pitchFamily="49" charset="0"/>
              </a:rPr>
              <a:t>host = </a:t>
            </a:r>
            <a:r>
              <a:rPr lang="en-US" dirty="0" err="1">
                <a:latin typeface="Courier New" panose="02070309020205020404" pitchFamily="49" charset="0"/>
                <a:ea typeface="Consolas" charset="0"/>
                <a:cs typeface="Courier New" panose="02070309020205020404" pitchFamily="49" charset="0"/>
              </a:rPr>
              <a:t>server.com</a:t>
            </a:r>
            <a:r>
              <a:rPr lang="en-US" dirty="0">
                <a:latin typeface="Courier New" panose="02070309020205020404" pitchFamily="49" charset="0"/>
                <a:ea typeface="Consolas" charset="0"/>
                <a:cs typeface="Courier New" panose="02070309020205020404" pitchFamily="49" charset="0"/>
              </a:rPr>
              <a:t>, host = 192.168.1.1</a:t>
            </a:r>
          </a:p>
          <a:p>
            <a:r>
              <a:rPr lang="en-US" dirty="0">
                <a:latin typeface="Oxygen" charset="0"/>
                <a:ea typeface="Oxygen" charset="0"/>
                <a:cs typeface="Oxygen" charset="0"/>
              </a:rPr>
              <a:t>Source , </a:t>
            </a:r>
            <a:r>
              <a:rPr lang="en-US" dirty="0" err="1">
                <a:latin typeface="Oxygen" charset="0"/>
                <a:ea typeface="Oxygen" charset="0"/>
                <a:cs typeface="Oxygen" charset="0"/>
              </a:rPr>
              <a:t>sourcetype</a:t>
            </a:r>
            <a:endParaRPr lang="en-US" dirty="0">
              <a:latin typeface="Oxygen" charset="0"/>
              <a:ea typeface="Oxygen" charset="0"/>
              <a:cs typeface="Oxygen" charset="0"/>
            </a:endParaRPr>
          </a:p>
          <a:p>
            <a:pPr lvl="1"/>
            <a:r>
              <a:rPr lang="en-US" dirty="0">
                <a:latin typeface="Courier New" panose="02070309020205020404" pitchFamily="49" charset="0"/>
                <a:ea typeface="Consolas" charset="0"/>
                <a:cs typeface="Courier New" panose="02070309020205020404" pitchFamily="49" charset="0"/>
              </a:rPr>
              <a:t>source = /var/lib, </a:t>
            </a:r>
            <a:r>
              <a:rPr lang="en-US" dirty="0" err="1">
                <a:latin typeface="Courier New" panose="02070309020205020404" pitchFamily="49" charset="0"/>
                <a:ea typeface="Consolas" charset="0"/>
                <a:cs typeface="Courier New" panose="02070309020205020404" pitchFamily="49" charset="0"/>
              </a:rPr>
              <a:t>sourcetype</a:t>
            </a:r>
            <a:r>
              <a:rPr lang="en-US" dirty="0">
                <a:latin typeface="Courier New" panose="02070309020205020404" pitchFamily="49" charset="0"/>
                <a:ea typeface="Consolas" charset="0"/>
                <a:cs typeface="Courier New" panose="02070309020205020404" pitchFamily="49" charset="0"/>
              </a:rPr>
              <a:t> = csv</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7" name="TextBox 6"/>
          <p:cNvSpPr txBox="1"/>
          <p:nvPr/>
        </p:nvSpPr>
        <p:spPr>
          <a:xfrm>
            <a:off x="838200" y="1609086"/>
            <a:ext cx="5155579" cy="523220"/>
          </a:xfrm>
          <a:prstGeom prst="rect">
            <a:avLst/>
          </a:prstGeom>
          <a:noFill/>
        </p:spPr>
        <p:txBody>
          <a:bodyPr wrap="none" rtlCol="0">
            <a:spAutoFit/>
          </a:bodyPr>
          <a:lstStyle/>
          <a:p>
            <a:r>
              <a:rPr lang="en-US" sz="2800" dirty="0">
                <a:latin typeface="Oxygen" charset="0"/>
                <a:ea typeface="Oxygen" charset="0"/>
                <a:cs typeface="Oxygen" charset="0"/>
              </a:rPr>
              <a:t>Broad search terms - metadata</a:t>
            </a:r>
          </a:p>
        </p:txBody>
      </p:sp>
    </p:spTree>
    <p:extLst>
      <p:ext uri="{BB962C8B-B14F-4D97-AF65-F5344CB8AC3E}">
        <p14:creationId xmlns:p14="http://schemas.microsoft.com/office/powerpoint/2010/main" val="1018835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Basic Searching</a:t>
            </a:r>
            <a:endParaRPr lang="en-US" dirty="0"/>
          </a:p>
        </p:txBody>
      </p:sp>
      <p:sp>
        <p:nvSpPr>
          <p:cNvPr id="3" name="Content Placeholder 2"/>
          <p:cNvSpPr>
            <a:spLocks noGrp="1"/>
          </p:cNvSpPr>
          <p:nvPr>
            <p:ph idx="1"/>
          </p:nvPr>
        </p:nvSpPr>
        <p:spPr>
          <a:xfrm>
            <a:off x="838200" y="2355390"/>
            <a:ext cx="4664242" cy="3291807"/>
          </a:xfrm>
        </p:spPr>
        <p:txBody>
          <a:bodyPr>
            <a:normAutofit/>
          </a:bodyPr>
          <a:lstStyle/>
          <a:p>
            <a:r>
              <a:rPr lang="en-US" dirty="0">
                <a:latin typeface="Oxygen" charset="0"/>
                <a:ea typeface="Oxygen" charset="0"/>
                <a:cs typeface="Oxygen" charset="0"/>
              </a:rPr>
              <a:t>Keywords</a:t>
            </a:r>
          </a:p>
          <a:p>
            <a:pPr lvl="1"/>
            <a:r>
              <a:rPr lang="en-US" dirty="0">
                <a:latin typeface="Courier New" panose="02070309020205020404" pitchFamily="49" charset="0"/>
                <a:ea typeface="Consolas" charset="0"/>
                <a:cs typeface="Courier New" panose="02070309020205020404" pitchFamily="49" charset="0"/>
              </a:rPr>
              <a:t>failed</a:t>
            </a:r>
            <a:r>
              <a:rPr lang="en-US" dirty="0">
                <a:ea typeface="Oxygen" charset="0"/>
                <a:cs typeface="Courier New" panose="02070309020205020404" pitchFamily="49" charset="0"/>
              </a:rPr>
              <a:t>,</a:t>
            </a:r>
            <a:r>
              <a:rPr lang="en-US" dirty="0">
                <a:latin typeface="Courier New" panose="02070309020205020404" pitchFamily="49" charset="0"/>
                <a:ea typeface="Oxygen" charset="0"/>
                <a:cs typeface="Courier New" panose="02070309020205020404" pitchFamily="49" charset="0"/>
              </a:rPr>
              <a:t> </a:t>
            </a:r>
            <a:r>
              <a:rPr lang="en-US" dirty="0">
                <a:latin typeface="Courier New" panose="02070309020205020404" pitchFamily="49" charset="0"/>
                <a:ea typeface="Consolas" charset="0"/>
                <a:cs typeface="Courier New" panose="02070309020205020404" pitchFamily="49" charset="0"/>
              </a:rPr>
              <a:t>error</a:t>
            </a:r>
          </a:p>
          <a:p>
            <a:r>
              <a:rPr lang="en-US" dirty="0">
                <a:latin typeface="Oxygen" charset="0"/>
                <a:ea typeface="Oxygen" charset="0"/>
                <a:cs typeface="Oxygen" charset="0"/>
              </a:rPr>
              <a:t>Phrases</a:t>
            </a:r>
          </a:p>
          <a:p>
            <a:pPr lvl="1"/>
            <a:r>
              <a:rPr lang="en-US" dirty="0">
                <a:latin typeface="Courier New" panose="02070309020205020404" pitchFamily="49" charset="0"/>
                <a:ea typeface="Consolas" charset="0"/>
                <a:cs typeface="Courier New" panose="02070309020205020404" pitchFamily="49" charset="0"/>
              </a:rPr>
              <a:t>“failed login”</a:t>
            </a:r>
          </a:p>
          <a:p>
            <a:r>
              <a:rPr lang="en-US" dirty="0">
                <a:latin typeface="Oxygen" charset="0"/>
                <a:ea typeface="Oxygen" charset="0"/>
                <a:cs typeface="Oxygen" charset="0"/>
              </a:rPr>
              <a:t>Fields</a:t>
            </a:r>
          </a:p>
          <a:p>
            <a:pPr lvl="1"/>
            <a:r>
              <a:rPr lang="en-US" dirty="0">
                <a:latin typeface="Oxygen" charset="0"/>
                <a:ea typeface="Oxygen" charset="0"/>
                <a:cs typeface="Oxygen" charset="0"/>
              </a:rPr>
              <a:t>Key value pairs</a:t>
            </a:r>
          </a:p>
          <a:p>
            <a:pPr lvl="1"/>
            <a:r>
              <a:rPr lang="en-US" sz="2000" dirty="0">
                <a:latin typeface="Courier New" panose="02070309020205020404" pitchFamily="49" charset="0"/>
                <a:ea typeface="Consolas" charset="0"/>
                <a:cs typeface="Courier New" panose="02070309020205020404" pitchFamily="49" charset="0"/>
              </a:rPr>
              <a:t>user=user1.domain.com</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7" name="TextBox 6"/>
          <p:cNvSpPr txBox="1"/>
          <p:nvPr/>
        </p:nvSpPr>
        <p:spPr>
          <a:xfrm>
            <a:off x="838200" y="1609086"/>
            <a:ext cx="3313728" cy="523220"/>
          </a:xfrm>
          <a:prstGeom prst="rect">
            <a:avLst/>
          </a:prstGeom>
          <a:noFill/>
        </p:spPr>
        <p:txBody>
          <a:bodyPr wrap="none" rtlCol="0">
            <a:spAutoFit/>
          </a:bodyPr>
          <a:lstStyle/>
          <a:p>
            <a:r>
              <a:rPr lang="en-US" sz="2800" dirty="0">
                <a:latin typeface="Oxygen" charset="0"/>
                <a:ea typeface="Oxygen" charset="0"/>
                <a:cs typeface="Oxygen" charset="0"/>
              </a:rPr>
              <a:t>Broad search terms</a:t>
            </a:r>
          </a:p>
        </p:txBody>
      </p:sp>
      <p:sp>
        <p:nvSpPr>
          <p:cNvPr id="8" name="Content Placeholder 2">
            <a:extLst>
              <a:ext uri="{FF2B5EF4-FFF2-40B4-BE49-F238E27FC236}">
                <a16:creationId xmlns:a16="http://schemas.microsoft.com/office/drawing/2014/main" id="{DC068548-F6BB-DB47-9742-B7CE1CEB607F}"/>
              </a:ext>
            </a:extLst>
          </p:cNvPr>
          <p:cNvSpPr txBox="1">
            <a:spLocks/>
          </p:cNvSpPr>
          <p:nvPr/>
        </p:nvSpPr>
        <p:spPr>
          <a:xfrm>
            <a:off x="5830613" y="2355390"/>
            <a:ext cx="4664242" cy="3291807"/>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chemeClr val="accent2"/>
              </a:buClr>
              <a:buFont typeface=".Lucida Grande UI Regular"/>
              <a:buChar char="⇢"/>
              <a:defRPr sz="2800" kern="1200">
                <a:solidFill>
                  <a:schemeClr val="tx1"/>
                </a:solidFill>
                <a:latin typeface="Oxygen" panose="02000503000000000000" pitchFamily="2" charset="77"/>
                <a:ea typeface="+mn-ea"/>
                <a:cs typeface="+mn-cs"/>
              </a:defRPr>
            </a:lvl1pPr>
            <a:lvl2pPr marL="685800" indent="-228600" algn="l" defTabSz="914400" rtl="0" eaLnBrk="1" latinLnBrk="0" hangingPunct="1">
              <a:lnSpc>
                <a:spcPct val="90000"/>
              </a:lnSpc>
              <a:spcBef>
                <a:spcPts val="500"/>
              </a:spcBef>
              <a:buClr>
                <a:schemeClr val="accent5"/>
              </a:buClr>
              <a:buFont typeface=".Lucida Grande UI Regular"/>
              <a:buChar char="⇢"/>
              <a:defRPr sz="2400" kern="1200">
                <a:solidFill>
                  <a:schemeClr val="tx1"/>
                </a:solidFill>
                <a:latin typeface="Oxygen" panose="02000503000000000000" pitchFamily="2" charset="77"/>
                <a:ea typeface="+mn-ea"/>
                <a:cs typeface="+mn-cs"/>
              </a:defRPr>
            </a:lvl2pPr>
            <a:lvl3pPr marL="1143000" indent="-228600" algn="l" defTabSz="914400" rtl="0" eaLnBrk="1" latinLnBrk="0" hangingPunct="1">
              <a:lnSpc>
                <a:spcPct val="90000"/>
              </a:lnSpc>
              <a:spcBef>
                <a:spcPts val="500"/>
              </a:spcBef>
              <a:buClr>
                <a:schemeClr val="accent5"/>
              </a:buClr>
              <a:buFont typeface=".Lucida Grande UI Regular"/>
              <a:buChar char="⇢"/>
              <a:defRPr sz="2000" kern="1200">
                <a:solidFill>
                  <a:schemeClr val="tx1"/>
                </a:solidFill>
                <a:latin typeface="Oxygen" panose="02000503000000000000" pitchFamily="2" charset="77"/>
                <a:ea typeface="+mn-ea"/>
                <a:cs typeface="+mn-cs"/>
              </a:defRPr>
            </a:lvl3pPr>
            <a:lvl4pPr marL="16002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4pPr>
            <a:lvl5pPr marL="20574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latin typeface="Oxygen" charset="0"/>
                <a:ea typeface="Oxygen" charset="0"/>
                <a:cs typeface="Oxygen" charset="0"/>
              </a:rPr>
              <a:t>Wildcards</a:t>
            </a:r>
          </a:p>
          <a:p>
            <a:pPr lvl="1"/>
            <a:r>
              <a:rPr lang="en-US" dirty="0">
                <a:latin typeface="Courier New" panose="02070309020205020404" pitchFamily="49" charset="0"/>
                <a:ea typeface="Consolas" charset="0"/>
                <a:cs typeface="Courier New" panose="02070309020205020404" pitchFamily="49" charset="0"/>
              </a:rPr>
              <a:t>*ailed</a:t>
            </a:r>
            <a:r>
              <a:rPr lang="en-US" dirty="0">
                <a:ea typeface="Oxygen" charset="0"/>
                <a:cs typeface="Courier New" panose="02070309020205020404" pitchFamily="49" charset="0"/>
              </a:rPr>
              <a:t>,</a:t>
            </a:r>
            <a:r>
              <a:rPr lang="en-US" dirty="0">
                <a:latin typeface="Courier New" panose="02070309020205020404" pitchFamily="49" charset="0"/>
                <a:ea typeface="Oxygen" charset="0"/>
                <a:cs typeface="Courier New" panose="02070309020205020404" pitchFamily="49" charset="0"/>
              </a:rPr>
              <a:t> fail*, user=*</a:t>
            </a:r>
            <a:endParaRPr lang="en-US" dirty="0">
              <a:latin typeface="Courier New" panose="02070309020205020404" pitchFamily="49" charset="0"/>
              <a:ea typeface="Consolas" charset="0"/>
              <a:cs typeface="Courier New" panose="02070309020205020404" pitchFamily="49" charset="0"/>
            </a:endParaRPr>
          </a:p>
          <a:p>
            <a:r>
              <a:rPr lang="en-US" dirty="0">
                <a:latin typeface="Oxygen" charset="0"/>
                <a:ea typeface="Oxygen" charset="0"/>
                <a:cs typeface="Oxygen" charset="0"/>
              </a:rPr>
              <a:t>Booleans</a:t>
            </a:r>
          </a:p>
          <a:p>
            <a:pPr lvl="1"/>
            <a:r>
              <a:rPr lang="en-US" dirty="0">
                <a:latin typeface="Courier New" panose="02070309020205020404" pitchFamily="49" charset="0"/>
                <a:ea typeface="Consolas" charset="0"/>
                <a:cs typeface="Courier New" panose="02070309020205020404" pitchFamily="49" charset="0"/>
              </a:rPr>
              <a:t>AND, OR, NOT</a:t>
            </a:r>
          </a:p>
        </p:txBody>
      </p:sp>
    </p:spTree>
    <p:extLst>
      <p:ext uri="{BB962C8B-B14F-4D97-AF65-F5344CB8AC3E}">
        <p14:creationId xmlns:p14="http://schemas.microsoft.com/office/powerpoint/2010/main" val="51511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Basic Searching</a:t>
            </a:r>
            <a:endParaRPr lang="en-US" dirty="0"/>
          </a:p>
        </p:txBody>
      </p:sp>
      <p:sp>
        <p:nvSpPr>
          <p:cNvPr id="3" name="Content Placeholder 2"/>
          <p:cNvSpPr>
            <a:spLocks noGrp="1"/>
          </p:cNvSpPr>
          <p:nvPr>
            <p:ph idx="1"/>
          </p:nvPr>
        </p:nvSpPr>
        <p:spPr>
          <a:xfrm>
            <a:off x="838200" y="2355389"/>
            <a:ext cx="4664242" cy="3291807"/>
          </a:xfrm>
        </p:spPr>
        <p:txBody>
          <a:bodyPr>
            <a:normAutofit lnSpcReduction="10000"/>
          </a:bodyPr>
          <a:lstStyle/>
          <a:p>
            <a:r>
              <a:rPr lang="en-US" dirty="0">
                <a:latin typeface="Courier New" panose="02070309020205020404" pitchFamily="49" charset="0"/>
                <a:ea typeface="Consolas" charset="0"/>
                <a:cs typeface="Courier New" panose="02070309020205020404" pitchFamily="49" charset="0"/>
              </a:rPr>
              <a:t>chart / </a:t>
            </a:r>
            <a:r>
              <a:rPr lang="en-US" dirty="0" err="1">
                <a:latin typeface="Courier New" panose="02070309020205020404" pitchFamily="49" charset="0"/>
                <a:ea typeface="Consolas" charset="0"/>
                <a:cs typeface="Courier New" panose="02070309020205020404" pitchFamily="49" charset="0"/>
              </a:rPr>
              <a:t>timechart</a:t>
            </a:r>
            <a:endParaRPr lang="en-US" dirty="0">
              <a:latin typeface="Courier New" panose="02070309020205020404" pitchFamily="49" charset="0"/>
              <a:ea typeface="Consolas" charset="0"/>
              <a:cs typeface="Courier New" panose="02070309020205020404" pitchFamily="49" charset="0"/>
            </a:endParaRPr>
          </a:p>
          <a:p>
            <a:pPr lvl="1"/>
            <a:r>
              <a:rPr lang="en-US" dirty="0">
                <a:latin typeface="Oxygen" charset="0"/>
                <a:ea typeface="Oxygen" charset="0"/>
                <a:cs typeface="Oxygen" charset="0"/>
              </a:rPr>
              <a:t>Returns results in tabular output for charting</a:t>
            </a:r>
          </a:p>
          <a:p>
            <a:r>
              <a:rPr lang="en-US" dirty="0">
                <a:latin typeface="Courier New" panose="02070309020205020404" pitchFamily="49" charset="0"/>
                <a:ea typeface="Consolas" charset="0"/>
                <a:cs typeface="Courier New" panose="02070309020205020404" pitchFamily="49" charset="0"/>
              </a:rPr>
              <a:t>rename</a:t>
            </a:r>
          </a:p>
          <a:p>
            <a:pPr lvl="1"/>
            <a:r>
              <a:rPr lang="en-US" dirty="0">
                <a:latin typeface="Oxygen" charset="0"/>
                <a:ea typeface="Oxygen" charset="0"/>
                <a:cs typeface="Oxygen" charset="0"/>
              </a:rPr>
              <a:t>Renames a specific field</a:t>
            </a:r>
          </a:p>
          <a:p>
            <a:r>
              <a:rPr lang="en-US" dirty="0">
                <a:latin typeface="Courier New" panose="02070309020205020404" pitchFamily="49" charset="0"/>
                <a:ea typeface="Consolas" charset="0"/>
                <a:cs typeface="Courier New" panose="02070309020205020404" pitchFamily="49" charset="0"/>
              </a:rPr>
              <a:t>sort</a:t>
            </a:r>
          </a:p>
          <a:p>
            <a:pPr lvl="1"/>
            <a:r>
              <a:rPr lang="en-US" dirty="0">
                <a:latin typeface="Oxygen" charset="0"/>
                <a:ea typeface="Oxygen" charset="0"/>
                <a:cs typeface="Oxygen" charset="0"/>
              </a:rPr>
              <a:t>Sorts results by specified fields</a:t>
            </a:r>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7" name="TextBox 6"/>
          <p:cNvSpPr txBox="1"/>
          <p:nvPr/>
        </p:nvSpPr>
        <p:spPr>
          <a:xfrm>
            <a:off x="838200" y="1609086"/>
            <a:ext cx="4039888" cy="523220"/>
          </a:xfrm>
          <a:prstGeom prst="rect">
            <a:avLst/>
          </a:prstGeom>
          <a:noFill/>
        </p:spPr>
        <p:txBody>
          <a:bodyPr wrap="none" rtlCol="0">
            <a:spAutoFit/>
          </a:bodyPr>
          <a:lstStyle/>
          <a:p>
            <a:r>
              <a:rPr lang="en-US" sz="2800" dirty="0">
                <a:latin typeface="Oxygen" charset="0"/>
                <a:ea typeface="Oxygen" charset="0"/>
                <a:cs typeface="Oxygen" charset="0"/>
              </a:rPr>
              <a:t>Basic search commands</a:t>
            </a:r>
          </a:p>
        </p:txBody>
      </p:sp>
      <p:sp>
        <p:nvSpPr>
          <p:cNvPr id="8" name="Content Placeholder 2">
            <a:extLst>
              <a:ext uri="{FF2B5EF4-FFF2-40B4-BE49-F238E27FC236}">
                <a16:creationId xmlns:a16="http://schemas.microsoft.com/office/drawing/2014/main" id="{E71B0323-56BA-FF4A-8213-7CA4DA4E8551}"/>
              </a:ext>
            </a:extLst>
          </p:cNvPr>
          <p:cNvSpPr txBox="1">
            <a:spLocks/>
          </p:cNvSpPr>
          <p:nvPr/>
        </p:nvSpPr>
        <p:spPr>
          <a:xfrm>
            <a:off x="6689558" y="2179113"/>
            <a:ext cx="4664242" cy="3644357"/>
          </a:xfrm>
          <a:prstGeom prst="rect">
            <a:avLst/>
          </a:prstGeom>
        </p:spPr>
        <p:txBody>
          <a:bodyPr vert="horz" lIns="91440" tIns="45720" rIns="91440" bIns="45720" rtlCol="0">
            <a:normAutofit fontScale="92500" lnSpcReduction="10000"/>
          </a:bodyPr>
          <a:lstStyle>
            <a:lvl1pPr marL="457200" indent="-457200" algn="l" defTabSz="914400" rtl="0" eaLnBrk="1" latinLnBrk="0" hangingPunct="1">
              <a:lnSpc>
                <a:spcPct val="90000"/>
              </a:lnSpc>
              <a:spcBef>
                <a:spcPts val="1000"/>
              </a:spcBef>
              <a:buClr>
                <a:schemeClr val="accent2"/>
              </a:buClr>
              <a:buFont typeface=".Lucida Grande UI Regular"/>
              <a:buChar char="⇢"/>
              <a:defRPr sz="2800" kern="1200">
                <a:solidFill>
                  <a:schemeClr val="tx1"/>
                </a:solidFill>
                <a:latin typeface="Oxygen" panose="02000503000000000000" pitchFamily="2" charset="77"/>
                <a:ea typeface="+mn-ea"/>
                <a:cs typeface="+mn-cs"/>
              </a:defRPr>
            </a:lvl1pPr>
            <a:lvl2pPr marL="685800" indent="-228600" algn="l" defTabSz="914400" rtl="0" eaLnBrk="1" latinLnBrk="0" hangingPunct="1">
              <a:lnSpc>
                <a:spcPct val="90000"/>
              </a:lnSpc>
              <a:spcBef>
                <a:spcPts val="500"/>
              </a:spcBef>
              <a:buClr>
                <a:schemeClr val="accent5"/>
              </a:buClr>
              <a:buFont typeface=".Lucida Grande UI Regular"/>
              <a:buChar char="⇢"/>
              <a:defRPr sz="2400" kern="1200">
                <a:solidFill>
                  <a:schemeClr val="tx1"/>
                </a:solidFill>
                <a:latin typeface="Oxygen" panose="02000503000000000000" pitchFamily="2" charset="77"/>
                <a:ea typeface="+mn-ea"/>
                <a:cs typeface="+mn-cs"/>
              </a:defRPr>
            </a:lvl2pPr>
            <a:lvl3pPr marL="1143000" indent="-228600" algn="l" defTabSz="914400" rtl="0" eaLnBrk="1" latinLnBrk="0" hangingPunct="1">
              <a:lnSpc>
                <a:spcPct val="90000"/>
              </a:lnSpc>
              <a:spcBef>
                <a:spcPts val="500"/>
              </a:spcBef>
              <a:buClr>
                <a:schemeClr val="accent5"/>
              </a:buClr>
              <a:buFont typeface=".Lucida Grande UI Regular"/>
              <a:buChar char="⇢"/>
              <a:defRPr sz="2000" kern="1200">
                <a:solidFill>
                  <a:schemeClr val="tx1"/>
                </a:solidFill>
                <a:latin typeface="Oxygen" panose="02000503000000000000" pitchFamily="2" charset="77"/>
                <a:ea typeface="+mn-ea"/>
                <a:cs typeface="+mn-cs"/>
              </a:defRPr>
            </a:lvl3pPr>
            <a:lvl4pPr marL="16002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4pPr>
            <a:lvl5pPr marL="20574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3000" dirty="0">
                <a:latin typeface="Courier New" panose="02070309020205020404" pitchFamily="49" charset="0"/>
                <a:ea typeface="Consolas" charset="0"/>
                <a:cs typeface="Courier New" panose="02070309020205020404" pitchFamily="49" charset="0"/>
              </a:rPr>
              <a:t>stats</a:t>
            </a:r>
            <a:endParaRPr lang="en-US" dirty="0">
              <a:latin typeface="Courier New" panose="02070309020205020404" pitchFamily="49" charset="0"/>
              <a:ea typeface="Consolas" charset="0"/>
              <a:cs typeface="Courier New" panose="02070309020205020404" pitchFamily="49" charset="0"/>
            </a:endParaRPr>
          </a:p>
          <a:p>
            <a:pPr lvl="1"/>
            <a:r>
              <a:rPr lang="en-US" sz="2600" dirty="0">
                <a:latin typeface="Oxygen" charset="0"/>
                <a:ea typeface="Oxygen" charset="0"/>
                <a:cs typeface="Oxygen" charset="0"/>
              </a:rPr>
              <a:t>Statistics</a:t>
            </a:r>
            <a:endParaRPr lang="en-US" dirty="0">
              <a:latin typeface="Oxygen" charset="0"/>
              <a:ea typeface="Oxygen" charset="0"/>
              <a:cs typeface="Oxygen" charset="0"/>
            </a:endParaRPr>
          </a:p>
          <a:p>
            <a:r>
              <a:rPr lang="en-US" sz="3000" dirty="0">
                <a:latin typeface="Courier New" panose="02070309020205020404" pitchFamily="49" charset="0"/>
                <a:ea typeface="Consolas" charset="0"/>
                <a:cs typeface="Courier New" panose="02070309020205020404" pitchFamily="49" charset="0"/>
              </a:rPr>
              <a:t>eval</a:t>
            </a:r>
            <a:endParaRPr lang="en-US" dirty="0">
              <a:latin typeface="Courier New" panose="02070309020205020404" pitchFamily="49" charset="0"/>
              <a:ea typeface="Consolas" charset="0"/>
              <a:cs typeface="Courier New" panose="02070309020205020404" pitchFamily="49" charset="0"/>
            </a:endParaRPr>
          </a:p>
          <a:p>
            <a:pPr lvl="1"/>
            <a:r>
              <a:rPr lang="en-US" sz="2600" dirty="0">
                <a:latin typeface="Oxygen" charset="0"/>
                <a:ea typeface="Oxygen" charset="0"/>
                <a:cs typeface="Oxygen" charset="0"/>
              </a:rPr>
              <a:t>Calculates an expression</a:t>
            </a:r>
          </a:p>
          <a:p>
            <a:r>
              <a:rPr lang="en-US" sz="3000" dirty="0" err="1">
                <a:latin typeface="Courier New" panose="02070309020205020404" pitchFamily="49" charset="0"/>
                <a:ea typeface="Consolas" charset="0"/>
                <a:cs typeface="Courier New" panose="02070309020205020404" pitchFamily="49" charset="0"/>
              </a:rPr>
              <a:t>dedup</a:t>
            </a:r>
            <a:endParaRPr lang="en-US" dirty="0">
              <a:latin typeface="Courier New" panose="02070309020205020404" pitchFamily="49" charset="0"/>
              <a:ea typeface="Consolas" charset="0"/>
              <a:cs typeface="Courier New" panose="02070309020205020404" pitchFamily="49" charset="0"/>
            </a:endParaRPr>
          </a:p>
          <a:p>
            <a:pPr lvl="1"/>
            <a:r>
              <a:rPr lang="en-US" sz="2600" dirty="0">
                <a:latin typeface="Oxygen" charset="0"/>
                <a:ea typeface="Oxygen" charset="0"/>
                <a:cs typeface="Oxygen" charset="0"/>
              </a:rPr>
              <a:t>Removes duplicates</a:t>
            </a:r>
          </a:p>
          <a:p>
            <a:r>
              <a:rPr lang="en-US" sz="3000" dirty="0">
                <a:latin typeface="Courier New" panose="02070309020205020404" pitchFamily="49" charset="0"/>
                <a:ea typeface="Oxygen" charset="0"/>
                <a:cs typeface="Courier New" panose="02070309020205020404" pitchFamily="49" charset="0"/>
              </a:rPr>
              <a:t>Table</a:t>
            </a:r>
          </a:p>
          <a:p>
            <a:pPr lvl="1"/>
            <a:r>
              <a:rPr lang="en-US" sz="2600" dirty="0">
                <a:latin typeface="Oxygen" charset="0"/>
                <a:ea typeface="Oxygen" charset="0"/>
                <a:cs typeface="Oxygen" charset="0"/>
              </a:rPr>
              <a:t>Builds a table with specified fields</a:t>
            </a:r>
          </a:p>
        </p:txBody>
      </p:sp>
    </p:spTree>
    <p:extLst>
      <p:ext uri="{BB962C8B-B14F-4D97-AF65-F5344CB8AC3E}">
        <p14:creationId xmlns:p14="http://schemas.microsoft.com/office/powerpoint/2010/main" val="3274066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Basic Searching</a:t>
            </a:r>
            <a:endParaRPr lang="en-US" dirty="0"/>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sp>
        <p:nvSpPr>
          <p:cNvPr id="8" name="Content Placeholder 7"/>
          <p:cNvSpPr>
            <a:spLocks noGrp="1"/>
          </p:cNvSpPr>
          <p:nvPr>
            <p:ph idx="1"/>
          </p:nvPr>
        </p:nvSpPr>
        <p:spPr/>
        <p:txBody>
          <a:bodyPr/>
          <a:lstStyle/>
          <a:p>
            <a:pPr marL="0" indent="0">
              <a:buNone/>
            </a:pPr>
            <a:r>
              <a:rPr lang="en-US" dirty="0">
                <a:latin typeface="Oxygen" charset="0"/>
                <a:ea typeface="Oxygen" charset="0"/>
                <a:cs typeface="Oxygen" charset="0"/>
              </a:rPr>
              <a:t>Constructing a basic search</a:t>
            </a:r>
          </a:p>
        </p:txBody>
      </p:sp>
      <p:sp>
        <p:nvSpPr>
          <p:cNvPr id="9" name="Rectangle 8"/>
          <p:cNvSpPr/>
          <p:nvPr/>
        </p:nvSpPr>
        <p:spPr>
          <a:xfrm>
            <a:off x="838200" y="2550695"/>
            <a:ext cx="3525253" cy="105877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Oxygen" charset="0"/>
                <a:ea typeface="Oxygen" charset="0"/>
                <a:cs typeface="Oxygen" charset="0"/>
              </a:rPr>
              <a:t>Search Terms</a:t>
            </a:r>
          </a:p>
        </p:txBody>
      </p:sp>
      <p:sp>
        <p:nvSpPr>
          <p:cNvPr id="10" name="Rectangle 9"/>
          <p:cNvSpPr/>
          <p:nvPr/>
        </p:nvSpPr>
        <p:spPr>
          <a:xfrm>
            <a:off x="4863734" y="2550694"/>
            <a:ext cx="3525253" cy="1058779"/>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Oxygen" charset="0"/>
                <a:ea typeface="Oxygen" charset="0"/>
                <a:cs typeface="Oxygen" charset="0"/>
              </a:rPr>
              <a:t>Commands</a:t>
            </a:r>
          </a:p>
        </p:txBody>
      </p:sp>
      <p:cxnSp>
        <p:nvCxnSpPr>
          <p:cNvPr id="12" name="Straight Connector 11"/>
          <p:cNvCxnSpPr>
            <a:cxnSpLocks/>
          </p:cNvCxnSpPr>
          <p:nvPr/>
        </p:nvCxnSpPr>
        <p:spPr>
          <a:xfrm>
            <a:off x="4613593" y="2550695"/>
            <a:ext cx="0" cy="119950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8200" y="3978612"/>
            <a:ext cx="11418510" cy="1015663"/>
          </a:xfrm>
          <a:prstGeom prst="rect">
            <a:avLst/>
          </a:prstGeom>
          <a:noFill/>
        </p:spPr>
        <p:txBody>
          <a:bodyPr wrap="none" rtlCol="0">
            <a:spAutoFit/>
          </a:bodyPr>
          <a:lstStyle/>
          <a:p>
            <a:r>
              <a:rPr lang="en-US" sz="2000" dirty="0">
                <a:latin typeface="Courier New" panose="02070309020205020404" pitchFamily="49" charset="0"/>
                <a:ea typeface="Consolas" charset="0"/>
                <a:cs typeface="Courier New" panose="02070309020205020404" pitchFamily="49" charset="0"/>
              </a:rPr>
              <a:t>host=</a:t>
            </a:r>
            <a:r>
              <a:rPr lang="en-US" sz="2000" dirty="0" err="1">
                <a:latin typeface="Courier New" panose="02070309020205020404" pitchFamily="49" charset="0"/>
                <a:ea typeface="Consolas" charset="0"/>
                <a:cs typeface="Courier New" panose="02070309020205020404" pitchFamily="49" charset="0"/>
              </a:rPr>
              <a:t>myhost.lcl</a:t>
            </a:r>
            <a:r>
              <a:rPr lang="en-US" sz="2000" dirty="0">
                <a:latin typeface="Courier New" panose="02070309020205020404" pitchFamily="49" charset="0"/>
                <a:ea typeface="Consolas" charset="0"/>
                <a:cs typeface="Courier New" panose="02070309020205020404" pitchFamily="49" charset="0"/>
              </a:rPr>
              <a:t>  source=</a:t>
            </a:r>
            <a:r>
              <a:rPr lang="en-US" sz="2000" dirty="0" err="1">
                <a:latin typeface="Courier New" panose="02070309020205020404" pitchFamily="49" charset="0"/>
                <a:ea typeface="Consolas" charset="0"/>
                <a:cs typeface="Courier New" panose="02070309020205020404" pitchFamily="49" charset="0"/>
              </a:rPr>
              <a:t>hstlogs</a:t>
            </a:r>
            <a:r>
              <a:rPr lang="en-US" sz="2000" dirty="0">
                <a:latin typeface="Courier New" panose="02070309020205020404" pitchFamily="49" charset="0"/>
                <a:ea typeface="Consolas" charset="0"/>
                <a:cs typeface="Courier New" panose="02070309020205020404" pitchFamily="49" charset="0"/>
              </a:rPr>
              <a:t>  user=* (message=fail* OR message=lock*) </a:t>
            </a:r>
            <a:br>
              <a:rPr lang="en-US" sz="2000" dirty="0">
                <a:latin typeface="Courier New" panose="02070309020205020404" pitchFamily="49" charset="0"/>
                <a:ea typeface="Consolas" charset="0"/>
                <a:cs typeface="Courier New" panose="02070309020205020404" pitchFamily="49" charset="0"/>
              </a:rPr>
            </a:br>
            <a:r>
              <a:rPr lang="en-US" sz="2000" dirty="0">
                <a:latin typeface="Courier New" panose="02070309020205020404" pitchFamily="49" charset="0"/>
                <a:ea typeface="Consolas" charset="0"/>
                <a:cs typeface="Courier New" panose="02070309020205020404" pitchFamily="49" charset="0"/>
              </a:rPr>
              <a:t>| table _time user message </a:t>
            </a:r>
            <a:br>
              <a:rPr lang="en-US" sz="2000" dirty="0">
                <a:latin typeface="Courier New" panose="02070309020205020404" pitchFamily="49" charset="0"/>
                <a:ea typeface="Consolas" charset="0"/>
                <a:cs typeface="Courier New" panose="02070309020205020404" pitchFamily="49" charset="0"/>
              </a:rPr>
            </a:br>
            <a:r>
              <a:rPr lang="en-US" sz="2000" dirty="0">
                <a:latin typeface="Courier New" panose="02070309020205020404" pitchFamily="49" charset="0"/>
                <a:ea typeface="Consolas" charset="0"/>
                <a:cs typeface="Courier New" panose="02070309020205020404" pitchFamily="49" charset="0"/>
              </a:rPr>
              <a:t>| sort -_time</a:t>
            </a:r>
          </a:p>
        </p:txBody>
      </p:sp>
    </p:spTree>
    <p:extLst>
      <p:ext uri="{BB962C8B-B14F-4D97-AF65-F5344CB8AC3E}">
        <p14:creationId xmlns:p14="http://schemas.microsoft.com/office/powerpoint/2010/main" val="4000934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tone Sans" charset="0"/>
                <a:ea typeface="Stone Sans" charset="0"/>
                <a:cs typeface="Stone Sans" charset="0"/>
              </a:rPr>
              <a:t>Basic Searching </a:t>
            </a:r>
            <a:endParaRPr lang="en-US" dirty="0"/>
          </a:p>
        </p:txBody>
      </p:sp>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charset="0"/>
                <a:ea typeface="Oxygen" charset="0"/>
                <a:cs typeface="Oxygen" charset="0"/>
              </a:rPr>
              <a:t>© Adam Frisbee, </a:t>
            </a:r>
            <a:r>
              <a:rPr lang="de-DE" dirty="0" err="1">
                <a:latin typeface="Oxygen" charset="0"/>
                <a:ea typeface="Oxygen" charset="0"/>
                <a:cs typeface="Oxygen" charset="0"/>
              </a:rPr>
              <a:t>adamfrisbee.com</a:t>
            </a:r>
            <a:endParaRPr lang="en-US" dirty="0">
              <a:latin typeface="Oxygen" charset="0"/>
              <a:ea typeface="Oxygen" charset="0"/>
              <a:cs typeface="Oxygen"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903116210"/>
              </p:ext>
            </p:extLst>
          </p:nvPr>
        </p:nvGraphicFramePr>
        <p:xfrm>
          <a:off x="838200" y="2772109"/>
          <a:ext cx="9357043" cy="1609257"/>
        </p:xfrm>
        <a:graphic>
          <a:graphicData uri="http://schemas.openxmlformats.org/drawingml/2006/table">
            <a:tbl>
              <a:tblPr firstRow="1" bandRow="1">
                <a:tableStyleId>{5C22544A-7EE6-4342-B048-85BDC9FD1C3A}</a:tableStyleId>
              </a:tblPr>
              <a:tblGrid>
                <a:gridCol w="2346643">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r>
                        <a:rPr lang="en-US" dirty="0">
                          <a:latin typeface="Oxygen" charset="0"/>
                          <a:ea typeface="Oxygen" charset="0"/>
                          <a:cs typeface="Oxygen" charset="0"/>
                        </a:rPr>
                        <a:t>_time</a:t>
                      </a:r>
                    </a:p>
                  </a:txBody>
                  <a:tcPr/>
                </a:tc>
                <a:tc>
                  <a:txBody>
                    <a:bodyPr/>
                    <a:lstStyle/>
                    <a:p>
                      <a:r>
                        <a:rPr lang="en-US" dirty="0">
                          <a:latin typeface="Oxygen" charset="0"/>
                          <a:ea typeface="Oxygen" charset="0"/>
                          <a:cs typeface="Oxygen" charset="0"/>
                        </a:rPr>
                        <a:t>user</a:t>
                      </a:r>
                    </a:p>
                  </a:txBody>
                  <a:tcPr/>
                </a:tc>
                <a:tc>
                  <a:txBody>
                    <a:bodyPr/>
                    <a:lstStyle/>
                    <a:p>
                      <a:r>
                        <a:rPr lang="en-US" dirty="0">
                          <a:latin typeface="Oxygen" charset="0"/>
                          <a:ea typeface="Oxygen" charset="0"/>
                          <a:cs typeface="Oxygen" charset="0"/>
                        </a:rPr>
                        <a:t>message</a:t>
                      </a:r>
                    </a:p>
                  </a:txBody>
                  <a:tcPr/>
                </a:tc>
                <a:extLst>
                  <a:ext uri="{0D108BD9-81ED-4DB2-BD59-A6C34878D82A}">
                    <a16:rowId xmlns:a16="http://schemas.microsoft.com/office/drawing/2014/main" val="10000"/>
                  </a:ext>
                </a:extLst>
              </a:tr>
              <a:tr h="370840">
                <a:tc>
                  <a:txBody>
                    <a:bodyPr/>
                    <a:lstStyle/>
                    <a:p>
                      <a:r>
                        <a:rPr lang="en-US" dirty="0">
                          <a:latin typeface="Oxygen" charset="0"/>
                          <a:ea typeface="Oxygen" charset="0"/>
                          <a:cs typeface="Oxygen" charset="0"/>
                        </a:rPr>
                        <a:t>2021-03-28-7:10:07</a:t>
                      </a:r>
                    </a:p>
                  </a:txBody>
                  <a:tcPr/>
                </a:tc>
                <a:tc>
                  <a:txBody>
                    <a:bodyPr/>
                    <a:lstStyle/>
                    <a:p>
                      <a:r>
                        <a:rPr lang="en-US" dirty="0">
                          <a:latin typeface="Oxygen" charset="0"/>
                          <a:ea typeface="Oxygen" charset="0"/>
                          <a:cs typeface="Oxygen" charset="0"/>
                        </a:rPr>
                        <a:t>user1.domain.com</a:t>
                      </a:r>
                    </a:p>
                  </a:txBody>
                  <a:tcPr/>
                </a:tc>
                <a:tc>
                  <a:txBody>
                    <a:bodyPr/>
                    <a:lstStyle/>
                    <a:p>
                      <a:r>
                        <a:rPr lang="en-US" dirty="0">
                          <a:latin typeface="Oxygen" charset="0"/>
                          <a:ea typeface="Oxygen" charset="0"/>
                          <a:cs typeface="Oxygen" charset="0"/>
                        </a:rPr>
                        <a:t>failed</a:t>
                      </a:r>
                      <a:r>
                        <a:rPr lang="en-US" baseline="0" dirty="0">
                          <a:latin typeface="Oxygen" charset="0"/>
                          <a:ea typeface="Oxygen" charset="0"/>
                          <a:cs typeface="Oxygen" charset="0"/>
                        </a:rPr>
                        <a:t> log on</a:t>
                      </a:r>
                      <a:endParaRPr lang="en-US" dirty="0">
                        <a:latin typeface="Oxygen" charset="0"/>
                        <a:ea typeface="Oxygen" charset="0"/>
                        <a:cs typeface="Oxygen" charset="0"/>
                      </a:endParaRPr>
                    </a:p>
                  </a:txBody>
                  <a:tcPr/>
                </a:tc>
                <a:extLst>
                  <a:ext uri="{0D108BD9-81ED-4DB2-BD59-A6C34878D82A}">
                    <a16:rowId xmlns:a16="http://schemas.microsoft.com/office/drawing/2014/main" val="10001"/>
                  </a:ext>
                </a:extLst>
              </a:tr>
              <a:tr h="496737">
                <a:tc>
                  <a:txBody>
                    <a:bodyPr/>
                    <a:lstStyle/>
                    <a:p>
                      <a:r>
                        <a:rPr lang="mr-IN" dirty="0">
                          <a:latin typeface="Oxygen" charset="0"/>
                          <a:ea typeface="Oxygen" charset="0"/>
                          <a:cs typeface="Oxygen" charset="0"/>
                        </a:rPr>
                        <a:t>20</a:t>
                      </a:r>
                      <a:r>
                        <a:rPr lang="en-US" dirty="0">
                          <a:latin typeface="Oxygen" charset="0"/>
                          <a:ea typeface="Oxygen" charset="0"/>
                          <a:cs typeface="Oxygen" charset="0"/>
                        </a:rPr>
                        <a:t>21</a:t>
                      </a:r>
                      <a:r>
                        <a:rPr lang="mr-IN" dirty="0">
                          <a:latin typeface="Oxygen" charset="0"/>
                          <a:ea typeface="Oxygen" charset="0"/>
                          <a:cs typeface="Oxygen" charset="0"/>
                        </a:rPr>
                        <a:t>-03-28-7:1</a:t>
                      </a:r>
                      <a:r>
                        <a:rPr lang="en-US" dirty="0">
                          <a:latin typeface="Oxygen" charset="0"/>
                          <a:ea typeface="Oxygen" charset="0"/>
                          <a:cs typeface="Oxygen" charset="0"/>
                        </a:rPr>
                        <a:t>7</a:t>
                      </a:r>
                      <a:r>
                        <a:rPr lang="mr-IN" dirty="0">
                          <a:latin typeface="Oxygen" charset="0"/>
                          <a:ea typeface="Oxygen" charset="0"/>
                          <a:cs typeface="Oxygen" charset="0"/>
                        </a:rPr>
                        <a:t>:0</a:t>
                      </a:r>
                      <a:r>
                        <a:rPr lang="en-US" dirty="0">
                          <a:latin typeface="Oxygen" charset="0"/>
                          <a:ea typeface="Oxygen" charset="0"/>
                          <a:cs typeface="Oxygen" charset="0"/>
                        </a:rPr>
                        <a:t>0</a:t>
                      </a:r>
                    </a:p>
                  </a:txBody>
                  <a:tcPr/>
                </a:tc>
                <a:tc>
                  <a:txBody>
                    <a:bodyPr/>
                    <a:lstStyle/>
                    <a:p>
                      <a:r>
                        <a:rPr lang="en-US" dirty="0">
                          <a:latin typeface="Oxygen" charset="0"/>
                          <a:ea typeface="Oxygen" charset="0"/>
                          <a:cs typeface="Oxygen" charset="0"/>
                        </a:rPr>
                        <a:t>user1.domain.com</a:t>
                      </a:r>
                    </a:p>
                  </a:txBody>
                  <a:tcPr/>
                </a:tc>
                <a:tc>
                  <a:txBody>
                    <a:bodyPr/>
                    <a:lstStyle/>
                    <a:p>
                      <a:r>
                        <a:rPr lang="en-US" dirty="0">
                          <a:latin typeface="Oxygen" charset="0"/>
                          <a:ea typeface="Oxygen" charset="0"/>
                          <a:cs typeface="Oxygen" charset="0"/>
                        </a:rPr>
                        <a:t>failed log 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a:latin typeface="Oxygen" charset="0"/>
                          <a:ea typeface="Oxygen" charset="0"/>
                          <a:cs typeface="Oxygen" charset="0"/>
                        </a:rPr>
                        <a:t>20</a:t>
                      </a:r>
                      <a:r>
                        <a:rPr lang="en-US" dirty="0">
                          <a:latin typeface="Oxygen" charset="0"/>
                          <a:ea typeface="Oxygen" charset="0"/>
                          <a:cs typeface="Oxygen" charset="0"/>
                        </a:rPr>
                        <a:t>21</a:t>
                      </a:r>
                      <a:r>
                        <a:rPr lang="mr-IN" dirty="0">
                          <a:latin typeface="Oxygen" charset="0"/>
                          <a:ea typeface="Oxygen" charset="0"/>
                          <a:cs typeface="Oxygen" charset="0"/>
                        </a:rPr>
                        <a:t>-03-28-7:1</a:t>
                      </a:r>
                      <a:r>
                        <a:rPr lang="en-US" dirty="0">
                          <a:latin typeface="Oxygen" charset="0"/>
                          <a:ea typeface="Oxygen" charset="0"/>
                          <a:cs typeface="Oxygen" charset="0"/>
                        </a:rPr>
                        <a:t>7</a:t>
                      </a:r>
                      <a:r>
                        <a:rPr lang="mr-IN" dirty="0">
                          <a:latin typeface="Oxygen" charset="0"/>
                          <a:ea typeface="Oxygen" charset="0"/>
                          <a:cs typeface="Oxygen" charset="0"/>
                        </a:rPr>
                        <a:t>:0</a:t>
                      </a:r>
                      <a:r>
                        <a:rPr lang="en-US" dirty="0">
                          <a:latin typeface="Oxygen" charset="0"/>
                          <a:ea typeface="Oxygen" charset="0"/>
                          <a:cs typeface="Oxygen" charset="0"/>
                        </a:rPr>
                        <a:t>0</a:t>
                      </a:r>
                    </a:p>
                  </a:txBody>
                  <a:tcPr/>
                </a:tc>
                <a:tc>
                  <a:txBody>
                    <a:bodyPr/>
                    <a:lstStyle/>
                    <a:p>
                      <a:r>
                        <a:rPr lang="en-US" dirty="0">
                          <a:latin typeface="Oxygen" charset="0"/>
                          <a:ea typeface="Oxygen" charset="0"/>
                          <a:cs typeface="Oxygen" charset="0"/>
                        </a:rPr>
                        <a:t>user1.domain.com</a:t>
                      </a:r>
                    </a:p>
                  </a:txBody>
                  <a:tcPr/>
                </a:tc>
                <a:tc>
                  <a:txBody>
                    <a:bodyPr/>
                    <a:lstStyle/>
                    <a:p>
                      <a:r>
                        <a:rPr lang="en-US" dirty="0">
                          <a:latin typeface="Oxygen" charset="0"/>
                          <a:ea typeface="Oxygen" charset="0"/>
                          <a:cs typeface="Oxygen" charset="0"/>
                        </a:rPr>
                        <a:t>locked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57557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A4970-2186-4D48-8D94-4C7BA5CB8810}"/>
              </a:ext>
            </a:extLst>
          </p:cNvPr>
          <p:cNvSpPr>
            <a:spLocks noGrp="1"/>
          </p:cNvSpPr>
          <p:nvPr>
            <p:ph type="ctrTitle"/>
          </p:nvPr>
        </p:nvSpPr>
        <p:spPr/>
        <p:txBody>
          <a:bodyPr/>
          <a:lstStyle/>
          <a:p>
            <a:r>
              <a:rPr lang="en-US" dirty="0"/>
              <a:t>Fields</a:t>
            </a:r>
          </a:p>
        </p:txBody>
      </p:sp>
    </p:spTree>
    <p:extLst>
      <p:ext uri="{BB962C8B-B14F-4D97-AF65-F5344CB8AC3E}">
        <p14:creationId xmlns:p14="http://schemas.microsoft.com/office/powerpoint/2010/main" val="1137106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908A98-501D-4147-9291-13C0FEA69F56}"/>
              </a:ext>
            </a:extLst>
          </p:cNvPr>
          <p:cNvSpPr>
            <a:spLocks noGrp="1"/>
          </p:cNvSpPr>
          <p:nvPr>
            <p:ph idx="1"/>
          </p:nvPr>
        </p:nvSpPr>
        <p:spPr/>
        <p:txBody>
          <a:bodyPr/>
          <a:lstStyle/>
          <a:p>
            <a:r>
              <a:rPr lang="en-US" dirty="0"/>
              <a:t>Searchable key – value pairs</a:t>
            </a:r>
          </a:p>
          <a:p>
            <a:r>
              <a:rPr lang="en-US" dirty="0"/>
              <a:t>Key = value</a:t>
            </a:r>
          </a:p>
          <a:p>
            <a:pPr lvl="1"/>
            <a:r>
              <a:rPr lang="en-US" dirty="0">
                <a:latin typeface="Courier New" panose="02070309020205020404" pitchFamily="49" charset="0"/>
                <a:cs typeface="Courier New" panose="02070309020205020404" pitchFamily="49" charset="0"/>
              </a:rPr>
              <a:t>user = user1</a:t>
            </a:r>
          </a:p>
          <a:p>
            <a:pPr lvl="1"/>
            <a:r>
              <a:rPr lang="en-US" dirty="0" err="1">
                <a:latin typeface="Courier New" panose="02070309020205020404" pitchFamily="49" charset="0"/>
                <a:cs typeface="Courier New" panose="02070309020205020404" pitchFamily="49" charset="0"/>
              </a:rPr>
              <a:t>ip_addr</a:t>
            </a:r>
            <a:r>
              <a:rPr lang="en-US" dirty="0">
                <a:latin typeface="Courier New" panose="02070309020205020404" pitchFamily="49" charset="0"/>
                <a:cs typeface="Courier New" panose="02070309020205020404" pitchFamily="49" charset="0"/>
              </a:rPr>
              <a:t> = 192.168.1.1</a:t>
            </a:r>
          </a:p>
          <a:p>
            <a:pPr lvl="1"/>
            <a:r>
              <a:rPr lang="en-US" dirty="0">
                <a:latin typeface="Courier New" panose="02070309020205020404" pitchFamily="49" charset="0"/>
                <a:cs typeface="Courier New" panose="02070309020205020404" pitchFamily="49" charset="0"/>
              </a:rPr>
              <a:t>message = error</a:t>
            </a:r>
          </a:p>
          <a:p>
            <a:pPr lvl="1"/>
            <a:r>
              <a:rPr lang="en-US" dirty="0">
                <a:latin typeface="Courier New" panose="02070309020205020404" pitchFamily="49" charset="0"/>
                <a:cs typeface="Courier New" panose="02070309020205020404" pitchFamily="49" charset="0"/>
              </a:rPr>
              <a:t>host = </a:t>
            </a:r>
            <a:r>
              <a:rPr lang="en-US" dirty="0" err="1">
                <a:latin typeface="Courier New" panose="02070309020205020404" pitchFamily="49" charset="0"/>
                <a:cs typeface="Courier New" panose="02070309020205020404" pitchFamily="49" charset="0"/>
              </a:rPr>
              <a:t>websvr.com</a:t>
            </a:r>
            <a:endParaRPr lang="en-US" dirty="0">
              <a:latin typeface="Courier New" panose="02070309020205020404" pitchFamily="49" charset="0"/>
              <a:cs typeface="Courier New" panose="02070309020205020404" pitchFamily="49" charset="0"/>
            </a:endParaRPr>
          </a:p>
          <a:p>
            <a:pPr lvl="1"/>
            <a:endParaRPr lang="en-US" dirty="0"/>
          </a:p>
        </p:txBody>
      </p:sp>
      <p:sp>
        <p:nvSpPr>
          <p:cNvPr id="4" name="Title 3">
            <a:extLst>
              <a:ext uri="{FF2B5EF4-FFF2-40B4-BE49-F238E27FC236}">
                <a16:creationId xmlns:a16="http://schemas.microsoft.com/office/drawing/2014/main" id="{0A70AC31-1522-1145-90D5-80A1C9B3C431}"/>
              </a:ext>
            </a:extLst>
          </p:cNvPr>
          <p:cNvSpPr>
            <a:spLocks noGrp="1"/>
          </p:cNvSpPr>
          <p:nvPr>
            <p:ph type="title"/>
          </p:nvPr>
        </p:nvSpPr>
        <p:spPr/>
        <p:txBody>
          <a:bodyPr/>
          <a:lstStyle/>
          <a:p>
            <a:r>
              <a:rPr lang="en-US" dirty="0"/>
              <a:t>Fields</a:t>
            </a:r>
          </a:p>
        </p:txBody>
      </p:sp>
      <p:pic>
        <p:nvPicPr>
          <p:cNvPr id="8" name="Picture Placeholder 7">
            <a:extLst>
              <a:ext uri="{FF2B5EF4-FFF2-40B4-BE49-F238E27FC236}">
                <a16:creationId xmlns:a16="http://schemas.microsoft.com/office/drawing/2014/main" id="{C422DA48-8783-E34B-9F24-8BAAF0DCC73A}"/>
              </a:ext>
            </a:extLst>
          </p:cNvPr>
          <p:cNvPicPr>
            <a:picLocks noGrp="1" noChangeAspect="1"/>
          </p:cNvPicPr>
          <p:nvPr>
            <p:ph type="pic" sz="quarter" idx="10"/>
          </p:nvPr>
        </p:nvPicPr>
        <p:blipFill rotWithShape="1">
          <a:blip r:embed="rId3"/>
          <a:srcRect l="20936" t="20276" r="19873" b="21341"/>
          <a:stretch/>
        </p:blipFill>
        <p:spPr>
          <a:xfrm>
            <a:off x="209405" y="2084832"/>
            <a:ext cx="3829184" cy="3776217"/>
          </a:xfrm>
        </p:spPr>
      </p:pic>
    </p:spTree>
    <p:extLst>
      <p:ext uri="{BB962C8B-B14F-4D97-AF65-F5344CB8AC3E}">
        <p14:creationId xmlns:p14="http://schemas.microsoft.com/office/powerpoint/2010/main" val="1177568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BC349F-514B-BF41-A78F-85D177BF6B2D}"/>
              </a:ext>
            </a:extLst>
          </p:cNvPr>
          <p:cNvSpPr>
            <a:spLocks noGrp="1"/>
          </p:cNvSpPr>
          <p:nvPr>
            <p:ph idx="1"/>
          </p:nvPr>
        </p:nvSpPr>
        <p:spPr/>
        <p:txBody>
          <a:bodyPr/>
          <a:lstStyle/>
          <a:p>
            <a:r>
              <a:rPr lang="en-US" dirty="0"/>
              <a:t>Splunk automatically discovers fields</a:t>
            </a:r>
          </a:p>
          <a:p>
            <a:pPr lvl="1"/>
            <a:r>
              <a:rPr lang="en-US" dirty="0"/>
              <a:t>Default fields</a:t>
            </a:r>
          </a:p>
          <a:p>
            <a:pPr lvl="2"/>
            <a:r>
              <a:rPr lang="en-US" dirty="0">
                <a:latin typeface="Courier New" panose="02070309020205020404" pitchFamily="49" charset="0"/>
                <a:cs typeface="Courier New" panose="02070309020205020404" pitchFamily="49" charset="0"/>
              </a:rPr>
              <a:t>host, source, </a:t>
            </a:r>
            <a:r>
              <a:rPr lang="en-US" dirty="0" err="1">
                <a:latin typeface="Courier New" panose="02070309020205020404" pitchFamily="49" charset="0"/>
                <a:cs typeface="Courier New" panose="02070309020205020404" pitchFamily="49" charset="0"/>
              </a:rPr>
              <a:t>sourcetype</a:t>
            </a:r>
            <a:r>
              <a:rPr lang="en-US" dirty="0">
                <a:latin typeface="Courier New" panose="02070309020205020404" pitchFamily="49" charset="0"/>
                <a:cs typeface="Courier New" panose="02070309020205020404" pitchFamily="49" charset="0"/>
              </a:rPr>
              <a:t>, _time, </a:t>
            </a:r>
            <a:r>
              <a:rPr lang="en-US" dirty="0"/>
              <a:t>etc.</a:t>
            </a:r>
          </a:p>
          <a:p>
            <a:pPr lvl="1"/>
            <a:r>
              <a:rPr lang="en-US" dirty="0"/>
              <a:t>Obvious key-value pairs</a:t>
            </a:r>
          </a:p>
          <a:p>
            <a:pPr lvl="1"/>
            <a:r>
              <a:rPr lang="en-US" dirty="0"/>
              <a:t>Field extractions</a:t>
            </a:r>
          </a:p>
          <a:p>
            <a:pPr lvl="1"/>
            <a:endParaRPr lang="en-US" dirty="0"/>
          </a:p>
        </p:txBody>
      </p:sp>
      <p:sp>
        <p:nvSpPr>
          <p:cNvPr id="3" name="Title 2">
            <a:extLst>
              <a:ext uri="{FF2B5EF4-FFF2-40B4-BE49-F238E27FC236}">
                <a16:creationId xmlns:a16="http://schemas.microsoft.com/office/drawing/2014/main" id="{02EC7950-3141-B346-9D27-6FC203B782D6}"/>
              </a:ext>
            </a:extLst>
          </p:cNvPr>
          <p:cNvSpPr>
            <a:spLocks noGrp="1"/>
          </p:cNvSpPr>
          <p:nvPr>
            <p:ph type="title"/>
          </p:nvPr>
        </p:nvSpPr>
        <p:spPr/>
        <p:txBody>
          <a:bodyPr/>
          <a:lstStyle/>
          <a:p>
            <a:r>
              <a:rPr lang="en-US" dirty="0"/>
              <a:t>Field Discovery</a:t>
            </a:r>
          </a:p>
        </p:txBody>
      </p:sp>
      <p:pic>
        <p:nvPicPr>
          <p:cNvPr id="6" name="Picture Placeholder 5">
            <a:extLst>
              <a:ext uri="{FF2B5EF4-FFF2-40B4-BE49-F238E27FC236}">
                <a16:creationId xmlns:a16="http://schemas.microsoft.com/office/drawing/2014/main" id="{E87572EF-9B34-C54B-9FEB-7F28972D5743}"/>
              </a:ext>
            </a:extLst>
          </p:cNvPr>
          <p:cNvPicPr>
            <a:picLocks noGrp="1" noChangeAspect="1"/>
          </p:cNvPicPr>
          <p:nvPr>
            <p:ph type="pic" sz="quarter" idx="12"/>
          </p:nvPr>
        </p:nvPicPr>
        <p:blipFill rotWithShape="1">
          <a:blip r:embed="rId3"/>
          <a:srcRect l="20371" t="19886" r="19577" b="20679"/>
          <a:stretch/>
        </p:blipFill>
        <p:spPr>
          <a:xfrm>
            <a:off x="838199" y="2190750"/>
            <a:ext cx="3705629" cy="3667122"/>
          </a:xfrm>
        </p:spPr>
      </p:pic>
    </p:spTree>
    <p:extLst>
      <p:ext uri="{BB962C8B-B14F-4D97-AF65-F5344CB8AC3E}">
        <p14:creationId xmlns:p14="http://schemas.microsoft.com/office/powerpoint/2010/main" val="643656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399768"/>
            <a:ext cx="3775393" cy="369332"/>
          </a:xfrm>
          <a:prstGeom prst="rect">
            <a:avLst/>
          </a:prstGeom>
          <a:noFill/>
        </p:spPr>
        <p:txBody>
          <a:bodyPr wrap="none" rtlCol="0">
            <a:spAutoFit/>
          </a:bodyPr>
          <a:lstStyle/>
          <a:p>
            <a:r>
              <a:rPr lang="de-DE" dirty="0">
                <a:latin typeface="Oxygen" panose="02000503000000000000" pitchFamily="2" charset="77"/>
                <a:ea typeface="Oxygen" charset="0"/>
                <a:cs typeface="Oxygen" charset="0"/>
              </a:rPr>
              <a:t>© Adam Frisbee, </a:t>
            </a:r>
            <a:r>
              <a:rPr lang="de-DE" dirty="0" err="1">
                <a:latin typeface="Oxygen" panose="02000503000000000000" pitchFamily="2" charset="77"/>
                <a:ea typeface="Oxygen" charset="0"/>
                <a:cs typeface="Oxygen" charset="0"/>
              </a:rPr>
              <a:t>adamfrisbee.com</a:t>
            </a:r>
            <a:endParaRPr lang="en-US" dirty="0">
              <a:latin typeface="Oxygen" panose="02000503000000000000" pitchFamily="2" charset="77"/>
              <a:ea typeface="Oxygen" charset="0"/>
              <a:cs typeface="Oxygen" charset="0"/>
            </a:endParaRPr>
          </a:p>
        </p:txBody>
      </p:sp>
      <p:sp>
        <p:nvSpPr>
          <p:cNvPr id="7" name="Freeform 6">
            <a:extLst>
              <a:ext uri="{FF2B5EF4-FFF2-40B4-BE49-F238E27FC236}">
                <a16:creationId xmlns:a16="http://schemas.microsoft.com/office/drawing/2014/main" id="{171711AA-A08C-8B45-BC83-4944FD9AB260}"/>
              </a:ext>
            </a:extLst>
          </p:cNvPr>
          <p:cNvSpPr/>
          <p:nvPr/>
        </p:nvSpPr>
        <p:spPr>
          <a:xfrm>
            <a:off x="1744579" y="949644"/>
            <a:ext cx="9227804" cy="1395412"/>
          </a:xfrm>
          <a:custGeom>
            <a:avLst/>
            <a:gdLst>
              <a:gd name="connsiteX0" fmla="*/ 0 w 4465319"/>
              <a:gd name="connsiteY0" fmla="*/ 0 h 1395412"/>
              <a:gd name="connsiteX1" fmla="*/ 4465319 w 4465319"/>
              <a:gd name="connsiteY1" fmla="*/ 0 h 1395412"/>
              <a:gd name="connsiteX2" fmla="*/ 4465319 w 4465319"/>
              <a:gd name="connsiteY2" fmla="*/ 1395412 h 1395412"/>
              <a:gd name="connsiteX3" fmla="*/ 0 w 4465319"/>
              <a:gd name="connsiteY3" fmla="*/ 1395412 h 1395412"/>
              <a:gd name="connsiteX4" fmla="*/ 0 w 4465319"/>
              <a:gd name="connsiteY4" fmla="*/ 0 h 139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5319" h="1395412">
                <a:moveTo>
                  <a:pt x="0" y="0"/>
                </a:moveTo>
                <a:lnTo>
                  <a:pt x="4465319" y="0"/>
                </a:lnTo>
                <a:lnTo>
                  <a:pt x="4465319" y="1395412"/>
                </a:lnTo>
                <a:lnTo>
                  <a:pt x="0" y="1395412"/>
                </a:lnTo>
                <a:lnTo>
                  <a:pt x="0" y="0"/>
                </a:lnTo>
                <a:close/>
              </a:path>
            </a:pathLst>
          </a:custGeom>
          <a:gradFill flip="none" rotWithShape="1">
            <a:gsLst>
              <a:gs pos="9000">
                <a:srgbClr val="C590BE"/>
              </a:gs>
              <a:gs pos="57000">
                <a:schemeClr val="bg1"/>
              </a:gs>
            </a:gsLst>
            <a:path path="circle">
              <a:fillToRect t="100000" r="100000"/>
            </a:path>
            <a:tileRect l="-100000" b="-100000"/>
          </a:gradFill>
          <a:ln>
            <a:noFill/>
          </a:ln>
        </p:spPr>
        <p:style>
          <a:lnRef idx="1">
            <a:schemeClr val="accent2">
              <a:hueOff val="0"/>
              <a:satOff val="0"/>
              <a:lumOff val="0"/>
              <a:alphaOff val="0"/>
            </a:schemeClr>
          </a:lnRef>
          <a:fillRef idx="1">
            <a:schemeClr val="accent2">
              <a:alpha val="40000"/>
              <a:tint val="40000"/>
              <a:hueOff val="0"/>
              <a:satOff val="0"/>
              <a:lumOff val="0"/>
              <a:alphaOff val="0"/>
            </a:schemeClr>
          </a:fillRef>
          <a:effectRef idx="0">
            <a:schemeClr val="accent2">
              <a:alpha val="40000"/>
              <a:tint val="40000"/>
              <a:hueOff val="0"/>
              <a:satOff val="0"/>
              <a:lumOff val="0"/>
              <a:alphaOff val="0"/>
            </a:schemeClr>
          </a:effectRef>
          <a:fontRef idx="minor">
            <a:schemeClr val="dk1">
              <a:hueOff val="0"/>
              <a:satOff val="0"/>
              <a:lumOff val="0"/>
              <a:alphaOff val="0"/>
            </a:schemeClr>
          </a:fontRef>
        </p:style>
        <p:txBody>
          <a:bodyPr spcFirstLastPara="0" vert="horz" wrap="square" lIns="945159"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latin typeface="Oxygen" panose="02000503000000000000" pitchFamily="2" charset="77"/>
              </a:rPr>
              <a:t>Fast</a:t>
            </a:r>
          </a:p>
        </p:txBody>
      </p:sp>
      <p:sp>
        <p:nvSpPr>
          <p:cNvPr id="12" name="Freeform 11">
            <a:extLst>
              <a:ext uri="{FF2B5EF4-FFF2-40B4-BE49-F238E27FC236}">
                <a16:creationId xmlns:a16="http://schemas.microsoft.com/office/drawing/2014/main" id="{C8853484-1A7D-3044-AFA1-669278AE14F6}"/>
              </a:ext>
            </a:extLst>
          </p:cNvPr>
          <p:cNvSpPr/>
          <p:nvPr/>
        </p:nvSpPr>
        <p:spPr>
          <a:xfrm>
            <a:off x="1775773" y="2760670"/>
            <a:ext cx="9227804" cy="1395412"/>
          </a:xfrm>
          <a:custGeom>
            <a:avLst/>
            <a:gdLst>
              <a:gd name="connsiteX0" fmla="*/ 0 w 4465319"/>
              <a:gd name="connsiteY0" fmla="*/ 0 h 1395412"/>
              <a:gd name="connsiteX1" fmla="*/ 4465319 w 4465319"/>
              <a:gd name="connsiteY1" fmla="*/ 0 h 1395412"/>
              <a:gd name="connsiteX2" fmla="*/ 4465319 w 4465319"/>
              <a:gd name="connsiteY2" fmla="*/ 1395412 h 1395412"/>
              <a:gd name="connsiteX3" fmla="*/ 0 w 4465319"/>
              <a:gd name="connsiteY3" fmla="*/ 1395412 h 1395412"/>
              <a:gd name="connsiteX4" fmla="*/ 0 w 4465319"/>
              <a:gd name="connsiteY4" fmla="*/ 0 h 139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5319" h="1395412">
                <a:moveTo>
                  <a:pt x="0" y="0"/>
                </a:moveTo>
                <a:lnTo>
                  <a:pt x="4465319" y="0"/>
                </a:lnTo>
                <a:lnTo>
                  <a:pt x="4465319" y="1395412"/>
                </a:lnTo>
                <a:lnTo>
                  <a:pt x="0" y="1395412"/>
                </a:lnTo>
                <a:lnTo>
                  <a:pt x="0" y="0"/>
                </a:lnTo>
                <a:close/>
              </a:path>
            </a:pathLst>
          </a:custGeom>
          <a:gradFill>
            <a:gsLst>
              <a:gs pos="9000">
                <a:srgbClr val="C590BE"/>
              </a:gs>
              <a:gs pos="57000">
                <a:schemeClr val="bg1"/>
              </a:gs>
            </a:gsLst>
            <a:path path="circle">
              <a:fillToRect t="100000" r="100000"/>
            </a:path>
          </a:gradFill>
          <a:ln>
            <a:noFill/>
          </a:ln>
        </p:spPr>
        <p:style>
          <a:lnRef idx="1">
            <a:schemeClr val="accent2">
              <a:hueOff val="0"/>
              <a:satOff val="0"/>
              <a:lumOff val="0"/>
              <a:alphaOff val="0"/>
            </a:schemeClr>
          </a:lnRef>
          <a:fillRef idx="1">
            <a:schemeClr val="accent2">
              <a:alpha val="40000"/>
              <a:tint val="40000"/>
              <a:hueOff val="0"/>
              <a:satOff val="0"/>
              <a:lumOff val="0"/>
              <a:alphaOff val="0"/>
            </a:schemeClr>
          </a:fillRef>
          <a:effectRef idx="0">
            <a:schemeClr val="accent2">
              <a:alpha val="40000"/>
              <a:tint val="40000"/>
              <a:hueOff val="0"/>
              <a:satOff val="0"/>
              <a:lumOff val="0"/>
              <a:alphaOff val="0"/>
            </a:schemeClr>
          </a:effectRef>
          <a:fontRef idx="minor">
            <a:schemeClr val="dk1">
              <a:hueOff val="0"/>
              <a:satOff val="0"/>
              <a:lumOff val="0"/>
              <a:alphaOff val="0"/>
            </a:schemeClr>
          </a:fontRef>
        </p:style>
        <p:txBody>
          <a:bodyPr spcFirstLastPara="0" vert="horz" wrap="square" lIns="945159"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latin typeface="Oxygen" panose="02000503000000000000" pitchFamily="2" charset="77"/>
              </a:rPr>
              <a:t>Smart</a:t>
            </a:r>
          </a:p>
        </p:txBody>
      </p:sp>
      <p:sp>
        <p:nvSpPr>
          <p:cNvPr id="15" name="Freeform 14">
            <a:extLst>
              <a:ext uri="{FF2B5EF4-FFF2-40B4-BE49-F238E27FC236}">
                <a16:creationId xmlns:a16="http://schemas.microsoft.com/office/drawing/2014/main" id="{5AEC0EC8-2DD5-7F4D-837C-5FA2901A9D1D}"/>
              </a:ext>
            </a:extLst>
          </p:cNvPr>
          <p:cNvSpPr/>
          <p:nvPr/>
        </p:nvSpPr>
        <p:spPr>
          <a:xfrm>
            <a:off x="1775773" y="4637248"/>
            <a:ext cx="9227804" cy="1395412"/>
          </a:xfrm>
          <a:custGeom>
            <a:avLst/>
            <a:gdLst>
              <a:gd name="connsiteX0" fmla="*/ 0 w 4465319"/>
              <a:gd name="connsiteY0" fmla="*/ 0 h 1395412"/>
              <a:gd name="connsiteX1" fmla="*/ 4465319 w 4465319"/>
              <a:gd name="connsiteY1" fmla="*/ 0 h 1395412"/>
              <a:gd name="connsiteX2" fmla="*/ 4465319 w 4465319"/>
              <a:gd name="connsiteY2" fmla="*/ 1395412 h 1395412"/>
              <a:gd name="connsiteX3" fmla="*/ 0 w 4465319"/>
              <a:gd name="connsiteY3" fmla="*/ 1395412 h 1395412"/>
              <a:gd name="connsiteX4" fmla="*/ 0 w 4465319"/>
              <a:gd name="connsiteY4" fmla="*/ 0 h 139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5319" h="1395412">
                <a:moveTo>
                  <a:pt x="0" y="0"/>
                </a:moveTo>
                <a:lnTo>
                  <a:pt x="4465319" y="0"/>
                </a:lnTo>
                <a:lnTo>
                  <a:pt x="4465319" y="1395412"/>
                </a:lnTo>
                <a:lnTo>
                  <a:pt x="0" y="1395412"/>
                </a:lnTo>
                <a:lnTo>
                  <a:pt x="0" y="0"/>
                </a:lnTo>
                <a:close/>
              </a:path>
            </a:pathLst>
          </a:custGeom>
          <a:gradFill>
            <a:gsLst>
              <a:gs pos="9000">
                <a:srgbClr val="C590BE"/>
              </a:gs>
              <a:gs pos="57000">
                <a:schemeClr val="bg1"/>
              </a:gs>
            </a:gsLst>
            <a:path path="circle">
              <a:fillToRect t="100000" r="100000"/>
            </a:path>
          </a:gradFill>
          <a:ln>
            <a:noFill/>
          </a:ln>
        </p:spPr>
        <p:style>
          <a:lnRef idx="1">
            <a:schemeClr val="accent2">
              <a:hueOff val="0"/>
              <a:satOff val="0"/>
              <a:lumOff val="0"/>
              <a:alphaOff val="0"/>
            </a:schemeClr>
          </a:lnRef>
          <a:fillRef idx="1">
            <a:schemeClr val="accent2">
              <a:alpha val="40000"/>
              <a:tint val="40000"/>
              <a:hueOff val="0"/>
              <a:satOff val="0"/>
              <a:lumOff val="0"/>
              <a:alphaOff val="0"/>
            </a:schemeClr>
          </a:fillRef>
          <a:effectRef idx="0">
            <a:schemeClr val="accent2">
              <a:alpha val="40000"/>
              <a:tint val="40000"/>
              <a:hueOff val="0"/>
              <a:satOff val="0"/>
              <a:lumOff val="0"/>
              <a:alphaOff val="0"/>
            </a:schemeClr>
          </a:effectRef>
          <a:fontRef idx="minor">
            <a:schemeClr val="dk1">
              <a:hueOff val="0"/>
              <a:satOff val="0"/>
              <a:lumOff val="0"/>
              <a:alphaOff val="0"/>
            </a:schemeClr>
          </a:fontRef>
        </p:style>
        <p:txBody>
          <a:bodyPr spcFirstLastPara="0" vert="horz" wrap="square" lIns="945159"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latin typeface="Oxygen" panose="02000503000000000000" pitchFamily="2" charset="77"/>
              </a:rPr>
              <a:t>Verbose</a:t>
            </a:r>
          </a:p>
        </p:txBody>
      </p:sp>
      <p:grpSp>
        <p:nvGrpSpPr>
          <p:cNvPr id="21" name="Group 20">
            <a:extLst>
              <a:ext uri="{FF2B5EF4-FFF2-40B4-BE49-F238E27FC236}">
                <a16:creationId xmlns:a16="http://schemas.microsoft.com/office/drawing/2014/main" id="{80B63C27-F248-8C44-B6D4-9468DE19611A}"/>
              </a:ext>
            </a:extLst>
          </p:cNvPr>
          <p:cNvGrpSpPr/>
          <p:nvPr/>
        </p:nvGrpSpPr>
        <p:grpSpPr>
          <a:xfrm>
            <a:off x="1219617" y="784140"/>
            <a:ext cx="976788" cy="1465183"/>
            <a:chOff x="1219617" y="784140"/>
            <a:chExt cx="976788" cy="1465183"/>
          </a:xfrm>
        </p:grpSpPr>
        <p:sp>
          <p:nvSpPr>
            <p:cNvPr id="10" name="Rectangle 9">
              <a:extLst>
                <a:ext uri="{FF2B5EF4-FFF2-40B4-BE49-F238E27FC236}">
                  <a16:creationId xmlns:a16="http://schemas.microsoft.com/office/drawing/2014/main" id="{431D5B2E-BAC9-1B42-A343-0D51F6A51482}"/>
                </a:ext>
              </a:extLst>
            </p:cNvPr>
            <p:cNvSpPr/>
            <p:nvPr/>
          </p:nvSpPr>
          <p:spPr>
            <a:xfrm>
              <a:off x="1219617" y="784140"/>
              <a:ext cx="976788" cy="1465183"/>
            </a:xfrm>
            <a:prstGeom prst="rect">
              <a:avLst/>
            </a:prstGeom>
            <a:solidFill>
              <a:schemeClr val="accent6"/>
            </a:solidFill>
            <a:ln>
              <a:solidFill>
                <a:schemeClr val="tx1"/>
              </a:solidFill>
            </a:ln>
          </p:spPr>
          <p:style>
            <a:lnRef idx="2">
              <a:schemeClr val="accent2">
                <a:shade val="80000"/>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lt1">
                <a:hueOff val="0"/>
                <a:satOff val="0"/>
                <a:lumOff val="0"/>
                <a:alphaOff val="0"/>
              </a:schemeClr>
            </a:fontRef>
          </p:style>
        </p:sp>
        <p:pic>
          <p:nvPicPr>
            <p:cNvPr id="3" name="Picture 2">
              <a:extLst>
                <a:ext uri="{FF2B5EF4-FFF2-40B4-BE49-F238E27FC236}">
                  <a16:creationId xmlns:a16="http://schemas.microsoft.com/office/drawing/2014/main" id="{8A6A6585-699B-6D4F-83B5-C1361FB19754}"/>
                </a:ext>
              </a:extLst>
            </p:cNvPr>
            <p:cNvPicPr>
              <a:picLocks noChangeAspect="1"/>
            </p:cNvPicPr>
            <p:nvPr/>
          </p:nvPicPr>
          <p:blipFill rotWithShape="1">
            <a:blip r:embed="rId3"/>
            <a:srcRect l="25486" t="16041" r="25555" b="16667"/>
            <a:stretch/>
          </p:blipFill>
          <p:spPr>
            <a:xfrm>
              <a:off x="1390369" y="1099626"/>
              <a:ext cx="635284" cy="873177"/>
            </a:xfrm>
            <a:prstGeom prst="rect">
              <a:avLst/>
            </a:prstGeom>
          </p:spPr>
        </p:pic>
      </p:grpSp>
      <p:grpSp>
        <p:nvGrpSpPr>
          <p:cNvPr id="20" name="Group 19">
            <a:extLst>
              <a:ext uri="{FF2B5EF4-FFF2-40B4-BE49-F238E27FC236}">
                <a16:creationId xmlns:a16="http://schemas.microsoft.com/office/drawing/2014/main" id="{5D51B590-14EB-0A45-AF5D-19F54A9B5C6D}"/>
              </a:ext>
            </a:extLst>
          </p:cNvPr>
          <p:cNvGrpSpPr/>
          <p:nvPr/>
        </p:nvGrpSpPr>
        <p:grpSpPr>
          <a:xfrm>
            <a:off x="1256185" y="2569459"/>
            <a:ext cx="976788" cy="1465183"/>
            <a:chOff x="1256185" y="2569459"/>
            <a:chExt cx="976788" cy="1465183"/>
          </a:xfrm>
        </p:grpSpPr>
        <p:sp>
          <p:nvSpPr>
            <p:cNvPr id="14" name="Rectangle 13">
              <a:extLst>
                <a:ext uri="{FF2B5EF4-FFF2-40B4-BE49-F238E27FC236}">
                  <a16:creationId xmlns:a16="http://schemas.microsoft.com/office/drawing/2014/main" id="{903EF3FE-7BCC-B646-983B-96A67346D9ED}"/>
                </a:ext>
              </a:extLst>
            </p:cNvPr>
            <p:cNvSpPr/>
            <p:nvPr/>
          </p:nvSpPr>
          <p:spPr>
            <a:xfrm>
              <a:off x="1256185" y="2569459"/>
              <a:ext cx="976788" cy="1465183"/>
            </a:xfrm>
            <a:prstGeom prst="rect">
              <a:avLst/>
            </a:prstGeom>
            <a:solidFill>
              <a:schemeClr val="accent6">
                <a:lumMod val="60000"/>
                <a:lumOff val="40000"/>
              </a:schemeClr>
            </a:solidFill>
            <a:ln>
              <a:solidFill>
                <a:schemeClr val="tx1"/>
              </a:solidFill>
            </a:ln>
          </p:spPr>
          <p:style>
            <a:lnRef idx="2">
              <a:schemeClr val="accent2">
                <a:shade val="80000"/>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lt1">
                <a:hueOff val="0"/>
                <a:satOff val="0"/>
                <a:lumOff val="0"/>
                <a:alphaOff val="0"/>
              </a:schemeClr>
            </a:fontRef>
          </p:style>
        </p:sp>
        <p:pic>
          <p:nvPicPr>
            <p:cNvPr id="8" name="Picture 7">
              <a:extLst>
                <a:ext uri="{FF2B5EF4-FFF2-40B4-BE49-F238E27FC236}">
                  <a16:creationId xmlns:a16="http://schemas.microsoft.com/office/drawing/2014/main" id="{8A4F9833-52E0-BF40-9698-22681E9ED519}"/>
                </a:ext>
              </a:extLst>
            </p:cNvPr>
            <p:cNvPicPr>
              <a:picLocks noChangeAspect="1"/>
            </p:cNvPicPr>
            <p:nvPr/>
          </p:nvPicPr>
          <p:blipFill rotWithShape="1">
            <a:blip r:embed="rId4"/>
            <a:srcRect l="18403" t="24167" r="17847" b="23958"/>
            <a:stretch/>
          </p:blipFill>
          <p:spPr>
            <a:xfrm>
              <a:off x="1304150" y="3004322"/>
              <a:ext cx="892255" cy="726051"/>
            </a:xfrm>
            <a:prstGeom prst="rect">
              <a:avLst/>
            </a:prstGeom>
          </p:spPr>
        </p:pic>
      </p:grpSp>
      <p:grpSp>
        <p:nvGrpSpPr>
          <p:cNvPr id="24" name="Group 23">
            <a:extLst>
              <a:ext uri="{FF2B5EF4-FFF2-40B4-BE49-F238E27FC236}">
                <a16:creationId xmlns:a16="http://schemas.microsoft.com/office/drawing/2014/main" id="{44EDC25E-A1B3-E041-BBC5-84F8AB37B8E6}"/>
              </a:ext>
            </a:extLst>
          </p:cNvPr>
          <p:cNvGrpSpPr/>
          <p:nvPr/>
        </p:nvGrpSpPr>
        <p:grpSpPr>
          <a:xfrm>
            <a:off x="1287379" y="4373794"/>
            <a:ext cx="976788" cy="1465183"/>
            <a:chOff x="1287379" y="4373794"/>
            <a:chExt cx="976788" cy="1465183"/>
          </a:xfrm>
        </p:grpSpPr>
        <p:sp>
          <p:nvSpPr>
            <p:cNvPr id="16" name="Rectangle 15">
              <a:extLst>
                <a:ext uri="{FF2B5EF4-FFF2-40B4-BE49-F238E27FC236}">
                  <a16:creationId xmlns:a16="http://schemas.microsoft.com/office/drawing/2014/main" id="{CA8C223A-5DE9-F54E-AB34-EC4251CF1B8C}"/>
                </a:ext>
              </a:extLst>
            </p:cNvPr>
            <p:cNvSpPr/>
            <p:nvPr/>
          </p:nvSpPr>
          <p:spPr>
            <a:xfrm>
              <a:off x="1287379" y="4373794"/>
              <a:ext cx="976788" cy="1465183"/>
            </a:xfrm>
            <a:prstGeom prst="rect">
              <a:avLst/>
            </a:prstGeom>
            <a:solidFill>
              <a:schemeClr val="accent6">
                <a:lumMod val="20000"/>
                <a:lumOff val="80000"/>
              </a:schemeClr>
            </a:solidFill>
            <a:ln>
              <a:solidFill>
                <a:schemeClr val="tx1"/>
              </a:solidFill>
            </a:ln>
          </p:spPr>
          <p:style>
            <a:lnRef idx="2">
              <a:schemeClr val="accent2">
                <a:shade val="80000"/>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lt1">
                <a:hueOff val="0"/>
                <a:satOff val="0"/>
                <a:lumOff val="0"/>
                <a:alphaOff val="0"/>
              </a:schemeClr>
            </a:fontRef>
          </p:style>
          <p:txBody>
            <a:bodyPr/>
            <a:lstStyle/>
            <a:p>
              <a:endParaRPr lang="en-US" dirty="0">
                <a:latin typeface="Oxygen" panose="02000503000000000000" pitchFamily="2" charset="77"/>
              </a:endParaRPr>
            </a:p>
          </p:txBody>
        </p:sp>
        <p:pic>
          <p:nvPicPr>
            <p:cNvPr id="23" name="Picture 22">
              <a:extLst>
                <a:ext uri="{FF2B5EF4-FFF2-40B4-BE49-F238E27FC236}">
                  <a16:creationId xmlns:a16="http://schemas.microsoft.com/office/drawing/2014/main" id="{09F2667B-E49E-F644-AF78-E2F26FC89899}"/>
                </a:ext>
              </a:extLst>
            </p:cNvPr>
            <p:cNvPicPr>
              <a:picLocks noChangeAspect="1"/>
            </p:cNvPicPr>
            <p:nvPr/>
          </p:nvPicPr>
          <p:blipFill rotWithShape="1">
            <a:blip r:embed="rId5"/>
            <a:srcRect l="19028" t="13847" r="13472" b="13848"/>
            <a:stretch/>
          </p:blipFill>
          <p:spPr>
            <a:xfrm>
              <a:off x="1390369" y="4703240"/>
              <a:ext cx="752703" cy="806290"/>
            </a:xfrm>
            <a:prstGeom prst="rect">
              <a:avLst/>
            </a:prstGeom>
          </p:spPr>
        </p:pic>
      </p:grpSp>
    </p:spTree>
    <p:extLst>
      <p:ext uri="{BB962C8B-B14F-4D97-AF65-F5344CB8AC3E}">
        <p14:creationId xmlns:p14="http://schemas.microsoft.com/office/powerpoint/2010/main" val="216846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5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100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831952-BE91-444C-8954-025C4475E672}"/>
              </a:ext>
            </a:extLst>
          </p:cNvPr>
          <p:cNvSpPr>
            <a:spLocks noGrp="1"/>
          </p:cNvSpPr>
          <p:nvPr>
            <p:ph idx="1"/>
          </p:nvPr>
        </p:nvSpPr>
        <p:spPr/>
        <p:txBody>
          <a:bodyPr/>
          <a:lstStyle/>
          <a:p>
            <a:r>
              <a:rPr lang="en-US" dirty="0"/>
              <a:t>Custom field extractions can be built using the Splunk field extractor</a:t>
            </a:r>
          </a:p>
          <a:p>
            <a:r>
              <a:rPr lang="en-US" dirty="0"/>
              <a:t>Uses regular expressions (regex) to extract fields based on patterns</a:t>
            </a:r>
          </a:p>
        </p:txBody>
      </p:sp>
      <p:pic>
        <p:nvPicPr>
          <p:cNvPr id="6" name="Picture Placeholder 5">
            <a:extLst>
              <a:ext uri="{FF2B5EF4-FFF2-40B4-BE49-F238E27FC236}">
                <a16:creationId xmlns:a16="http://schemas.microsoft.com/office/drawing/2014/main" id="{8EB2002E-A009-1C45-AD06-C1859E711152}"/>
              </a:ext>
            </a:extLst>
          </p:cNvPr>
          <p:cNvPicPr>
            <a:picLocks noGrp="1" noChangeAspect="1"/>
          </p:cNvPicPr>
          <p:nvPr>
            <p:ph type="pic" sz="quarter" idx="10"/>
          </p:nvPr>
        </p:nvPicPr>
        <p:blipFill rotWithShape="1">
          <a:blip r:embed="rId2"/>
          <a:srcRect l="11943" t="13071" r="12553" b="12460"/>
          <a:stretch/>
        </p:blipFill>
        <p:spPr>
          <a:xfrm>
            <a:off x="209405" y="2084832"/>
            <a:ext cx="3829184" cy="3776217"/>
          </a:xfrm>
        </p:spPr>
      </p:pic>
      <p:sp>
        <p:nvSpPr>
          <p:cNvPr id="4" name="Title 3">
            <a:extLst>
              <a:ext uri="{FF2B5EF4-FFF2-40B4-BE49-F238E27FC236}">
                <a16:creationId xmlns:a16="http://schemas.microsoft.com/office/drawing/2014/main" id="{7B078588-9719-9D4A-9498-E3E1A5B626A1}"/>
              </a:ext>
            </a:extLst>
          </p:cNvPr>
          <p:cNvSpPr>
            <a:spLocks noGrp="1"/>
          </p:cNvSpPr>
          <p:nvPr>
            <p:ph type="title"/>
          </p:nvPr>
        </p:nvSpPr>
        <p:spPr/>
        <p:txBody>
          <a:bodyPr/>
          <a:lstStyle/>
          <a:p>
            <a:r>
              <a:rPr lang="en-US" dirty="0"/>
              <a:t>Field Extractions</a:t>
            </a:r>
          </a:p>
        </p:txBody>
      </p:sp>
    </p:spTree>
    <p:extLst>
      <p:ext uri="{BB962C8B-B14F-4D97-AF65-F5344CB8AC3E}">
        <p14:creationId xmlns:p14="http://schemas.microsoft.com/office/powerpoint/2010/main" val="807324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823187-C79A-C347-84DF-840D1A713C86}"/>
              </a:ext>
            </a:extLst>
          </p:cNvPr>
          <p:cNvSpPr>
            <a:spLocks noGrp="1"/>
          </p:cNvSpPr>
          <p:nvPr>
            <p:ph type="body" sz="quarter" idx="10"/>
          </p:nvPr>
        </p:nvSpPr>
        <p:spPr/>
        <p:txBody>
          <a:bodyPr/>
          <a:lstStyle/>
          <a:p>
            <a:r>
              <a:rPr lang="en-US" dirty="0"/>
              <a:t>Tour of the Search and Reporting app</a:t>
            </a:r>
          </a:p>
          <a:p>
            <a:r>
              <a:rPr lang="en-US" dirty="0"/>
              <a:t>Broad search</a:t>
            </a:r>
          </a:p>
          <a:p>
            <a:r>
              <a:rPr lang="en-US" dirty="0"/>
              <a:t>Basic commands</a:t>
            </a:r>
          </a:p>
          <a:p>
            <a:r>
              <a:rPr lang="en-US" dirty="0"/>
              <a:t>Manipulating time</a:t>
            </a:r>
          </a:p>
          <a:p>
            <a:r>
              <a:rPr lang="en-US" dirty="0"/>
              <a:t>Extracting fields</a:t>
            </a:r>
          </a:p>
        </p:txBody>
      </p:sp>
    </p:spTree>
    <p:extLst>
      <p:ext uri="{BB962C8B-B14F-4D97-AF65-F5344CB8AC3E}">
        <p14:creationId xmlns:p14="http://schemas.microsoft.com/office/powerpoint/2010/main" val="2707562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A8A03-A9EB-7440-BE25-6B6AE46BF893}"/>
              </a:ext>
            </a:extLst>
          </p:cNvPr>
          <p:cNvSpPr>
            <a:spLocks noGrp="1"/>
          </p:cNvSpPr>
          <p:nvPr>
            <p:ph type="body" sz="quarter" idx="10"/>
          </p:nvPr>
        </p:nvSpPr>
        <p:spPr/>
        <p:txBody>
          <a:bodyPr/>
          <a:lstStyle/>
          <a:p>
            <a:r>
              <a:rPr lang="en-US" dirty="0"/>
              <a:t>What SPL is</a:t>
            </a:r>
          </a:p>
          <a:p>
            <a:r>
              <a:rPr lang="en-US" dirty="0"/>
              <a:t>The anatomy of a search</a:t>
            </a:r>
          </a:p>
          <a:p>
            <a:r>
              <a:rPr lang="en-US" dirty="0"/>
              <a:t>Timestamps and dealing with time</a:t>
            </a:r>
          </a:p>
          <a:p>
            <a:r>
              <a:rPr lang="en-US" dirty="0"/>
              <a:t>Fields</a:t>
            </a:r>
          </a:p>
        </p:txBody>
      </p:sp>
    </p:spTree>
    <p:extLst>
      <p:ext uri="{BB962C8B-B14F-4D97-AF65-F5344CB8AC3E}">
        <p14:creationId xmlns:p14="http://schemas.microsoft.com/office/powerpoint/2010/main" val="3452593918"/>
      </p:ext>
    </p:extLst>
  </p:cSld>
  <p:clrMapOvr>
    <a:masterClrMapping/>
  </p:clrMapOvr>
</p:sld>
</file>

<file path=ppt/theme/theme1.xml><?xml version="1.0" encoding="utf-8"?>
<a:theme xmlns:a="http://schemas.openxmlformats.org/drawingml/2006/main" name="Office Theme">
  <a:themeElements>
    <a:clrScheme name="SplunkCourses">
      <a:dk1>
        <a:srgbClr val="000000"/>
      </a:dk1>
      <a:lt1>
        <a:srgbClr val="FFFFFF"/>
      </a:lt1>
      <a:dk2>
        <a:srgbClr val="44546A"/>
      </a:dk2>
      <a:lt2>
        <a:srgbClr val="E7E6E6"/>
      </a:lt2>
      <a:accent1>
        <a:srgbClr val="2AB67B"/>
      </a:accent1>
      <a:accent2>
        <a:srgbClr val="11A7BB"/>
      </a:accent2>
      <a:accent3>
        <a:srgbClr val="10BC10"/>
      </a:accent3>
      <a:accent4>
        <a:srgbClr val="30ED30"/>
      </a:accent4>
      <a:accent5>
        <a:srgbClr val="47A024"/>
      </a:accent5>
      <a:accent6>
        <a:srgbClr val="FFD53C"/>
      </a:accent6>
      <a:hlink>
        <a:srgbClr val="57A392"/>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Template" id="{26A0C1B6-715F-AC44-BCED-62087F6A59BD}" vid="{34A612B6-9B41-6346-AAFA-9D125A4274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2151</TotalTime>
  <Words>2263</Words>
  <Application>Microsoft Office PowerPoint</Application>
  <PresentationFormat>Widescreen</PresentationFormat>
  <Paragraphs>292</Paragraphs>
  <Slides>32</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.Lucida Grande UI Regular</vt:lpstr>
      <vt:lpstr>Arial</vt:lpstr>
      <vt:lpstr>Calibri</vt:lpstr>
      <vt:lpstr>Courier</vt:lpstr>
      <vt:lpstr>Courier New</vt:lpstr>
      <vt:lpstr>Oxygen</vt:lpstr>
      <vt:lpstr>Oxygen Mono</vt:lpstr>
      <vt:lpstr>Stone Sans</vt:lpstr>
      <vt:lpstr>Stone Sans Semi Bold</vt:lpstr>
      <vt:lpstr>Office Theme</vt:lpstr>
      <vt:lpstr>Searching in Splunk</vt:lpstr>
      <vt:lpstr>What is Search Processing Language?</vt:lpstr>
      <vt:lpstr>PowerPoint Presentation</vt:lpstr>
      <vt:lpstr>What Does it Mean to Search in Splunk?</vt:lpstr>
      <vt:lpstr>Search and Reporting App</vt:lpstr>
      <vt:lpstr>The Anatomy of a Search</vt:lpstr>
      <vt:lpstr>PowerPoint Presentation</vt:lpstr>
      <vt:lpstr>PowerPoint Presentation</vt:lpstr>
      <vt:lpstr>Time</vt:lpstr>
      <vt:lpstr>Timestamps</vt:lpstr>
      <vt:lpstr>The _time Field</vt:lpstr>
      <vt:lpstr>PowerPoint Presentation</vt:lpstr>
      <vt:lpstr>The Time Range Picker</vt:lpstr>
      <vt:lpstr>Specify Absolute Time Ranges Using SPL</vt:lpstr>
      <vt:lpstr>Specify Absolute Time Ranges Using SPL</vt:lpstr>
      <vt:lpstr>Time Variables</vt:lpstr>
      <vt:lpstr>Time Variables</vt:lpstr>
      <vt:lpstr>Converting Time Using strftime</vt:lpstr>
      <vt:lpstr>POP QUIZ!</vt:lpstr>
      <vt:lpstr>Basic Searching</vt:lpstr>
      <vt:lpstr>Basic Searching</vt:lpstr>
      <vt:lpstr>Basic Searching</vt:lpstr>
      <vt:lpstr>Basic Searching</vt:lpstr>
      <vt:lpstr>Basic Searching</vt:lpstr>
      <vt:lpstr>Basic Searching </vt:lpstr>
      <vt:lpstr>Fields</vt:lpstr>
      <vt:lpstr>Fields</vt:lpstr>
      <vt:lpstr>Field Discovery</vt:lpstr>
      <vt:lpstr>PowerPoint Presentation</vt:lpstr>
      <vt:lpstr>Field Extractions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Splunk Search Masterclass</dc:title>
  <dc:creator>Adam Frisbee</dc:creator>
  <cp:lastModifiedBy>Adam Frisbee</cp:lastModifiedBy>
  <cp:revision>36</cp:revision>
  <dcterms:created xsi:type="dcterms:W3CDTF">2020-10-11T23:50:53Z</dcterms:created>
  <dcterms:modified xsi:type="dcterms:W3CDTF">2020-11-28T04:52:42Z</dcterms:modified>
</cp:coreProperties>
</file>